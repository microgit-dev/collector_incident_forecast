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62" r:id="rId2"/>
    <p:sldId id="263" r:id="rId3"/>
    <p:sldId id="264" r:id="rId4"/>
    <p:sldId id="265" r:id="rId5"/>
    <p:sldId id="266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17" r:id="rId14"/>
    <p:sldId id="300" r:id="rId15"/>
    <p:sldId id="301" r:id="rId16"/>
    <p:sldId id="302" r:id="rId17"/>
    <p:sldId id="303" r:id="rId18"/>
    <p:sldId id="304" r:id="rId19"/>
    <p:sldId id="305" r:id="rId20"/>
    <p:sldId id="318" r:id="rId21"/>
    <p:sldId id="307" r:id="rId22"/>
    <p:sldId id="308" r:id="rId23"/>
    <p:sldId id="309" r:id="rId24"/>
    <p:sldId id="310" r:id="rId25"/>
    <p:sldId id="319" r:id="rId26"/>
    <p:sldId id="311" r:id="rId27"/>
    <p:sldId id="312" r:id="rId28"/>
    <p:sldId id="314" r:id="rId29"/>
    <p:sldId id="320" r:id="rId30"/>
    <p:sldId id="315" r:id="rId31"/>
    <p:sldId id="316" r:id="rId32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0" d="100"/>
          <a:sy n="60" d="100"/>
        </p:scale>
        <p:origin x="78" y="1104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20.10.2026</a:t>
            </a:fld>
            <a:endParaRPr lang="ru-RU"/>
          </a:p>
        </p:txBody>
      </p:sp>
      <p:sp>
        <p:nvSpPr>
          <p:cNvPr id="1008376219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20.10.2026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20.10.2026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20.10.2026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20.10.2026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20.10.2026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20.10.2026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20.10.2026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20.10.2026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20.10.2026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20.10.2026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20.10.2026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20.10.2026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20.10.2026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20.10.2026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20.10.2026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20.10.2026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20.10.2026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20.10.2026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20.10.2026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20.10.2026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20.10.2026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lector-forecast.duckdns.org/" TargetMode="External"/><Relationship Id="rId2" Type="http://schemas.openxmlformats.org/officeDocument/2006/relationships/hyperlink" Target="https://github.com/Microgit-dev/collector_incident_forecast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isk.yandex.ru/d/WnnorHtzFE_ft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r>
              <a:rPr lang="en-US" dirty="0" err="1"/>
              <a:t>Microgit</a:t>
            </a:r>
            <a:r>
              <a:rPr lang="en-US" dirty="0"/>
              <a:t> MISIS HSE</a:t>
            </a:r>
            <a:endParaRPr dirty="0"/>
          </a:p>
        </p:txBody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r>
              <a:t>Задача 8 ДЖКХ: сервис прогнозирования инцидентов и управления ремонтными работами инженерных коллекторов Москвы</a:t>
            </a:r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1091804845" name="Picture 10918048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86" y="437801"/>
            <a:ext cx="2414069" cy="8665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pic>
        <p:nvPicPr>
          <p:cNvPr id="1609484257" name="Рисунок 1" descr="workspace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13177" b="13177"/>
          <a:stretch>
            <a:fillRect/>
          </a:stretch>
        </p:blipFill>
        <p:spPr>
          <a:xfrm>
            <a:off x="0" y="335267"/>
            <a:ext cx="6456363" cy="2971784"/>
          </a:xfrm>
        </p:spPr>
      </p:pic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• 47 тревог → 1 карточка с причиной</a:t>
            </a:r>
            <a:endParaRPr/>
          </a:p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• Прогноз аварий на сутки вперёд</a:t>
            </a:r>
            <a:endParaRPr/>
          </a:p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• No-code: датчик без программиста</a:t>
            </a:r>
            <a:endParaRPr/>
          </a:p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• Здание и этажи по снимку (ИИ)</a:t>
            </a:r>
            <a:endParaRPr/>
          </a:p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• Сигнал → решение → заявка → ТО</a:t>
            </a:r>
            <a:endParaRPr/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Капитан: Миронов Егор Андреевич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Кол-во участников: 5 человек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команда из профессионалов из НИТУ МИСИС, ВШЭ, Сколково. Многие участники имеют опыт работы в </a:t>
            </a:r>
            <a:r>
              <a:rPr lang="ru-RU" b="1" dirty="0" err="1">
                <a:solidFill>
                  <a:schemeClr val="tx1"/>
                </a:solidFill>
              </a:rPr>
              <a:t>биг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техе</a:t>
            </a:r>
            <a:r>
              <a:rPr lang="ru-RU" b="1" dirty="0">
                <a:solidFill>
                  <a:schemeClr val="tx1"/>
                </a:solidFill>
              </a:rPr>
              <a:t> (СБЕР и Яндекс)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Город: Москва</a:t>
            </a:r>
            <a:endParaRPr dirty="0"/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r>
              <a:rPr>
                <a:solidFill>
                  <a:srgbClr val="520978"/>
                </a:solidFill>
              </a:rPr>
              <a:t>Прогноз инцидентов коллекторов</a:t>
            </a: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Превращает поток тревог СМВУ в понятные риски: прогноз на сутки, причина, действие — и ведёт решение диспетчера до заявки бригаде и ТО.</a:t>
            </a:r>
            <a:endParaRPr/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545546" name="Скругленный прямоугольник 16"/>
          <p:cNvSpPr/>
          <p:nvPr/>
        </p:nvSpPr>
        <p:spPr bwMode="auto">
          <a:xfrm>
            <a:off x="310213" y="1339601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r>
              <a:t>КОМАНДА</a:t>
            </a: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 err="1">
                <a:solidFill>
                  <a:schemeClr val="tx1"/>
                </a:solidFill>
              </a:rPr>
              <a:t>Fullstack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разработчик</a:t>
            </a:r>
            <a:endParaRPr dirty="0"/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@voultem</a:t>
            </a:r>
            <a:endParaRPr dirty="0"/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+79625001073</a:t>
            </a:r>
            <a:endParaRPr dirty="0"/>
          </a:p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НИТУ МИСИС</a:t>
            </a:r>
            <a:endParaRPr dirty="0"/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Егор</a:t>
            </a:r>
            <a:br>
              <a:rPr lang="ru-RU" sz="1600" b="1" dirty="0">
                <a:solidFill>
                  <a:schemeClr val="accent5"/>
                </a:solidFill>
              </a:rPr>
            </a:br>
            <a:r>
              <a:rPr lang="ru-RU" sz="1600" b="1" dirty="0">
                <a:solidFill>
                  <a:schemeClr val="accent5"/>
                </a:solidFill>
              </a:rPr>
              <a:t>Миронов</a:t>
            </a:r>
            <a:endParaRPr dirty="0"/>
          </a:p>
        </p:txBody>
      </p:sp>
      <p:sp>
        <p:nvSpPr>
          <p:cNvPr id="10" name="Скругленный прямоугольник 16">
            <a:extLst>
              <a:ext uri="{FF2B5EF4-FFF2-40B4-BE49-F238E27FC236}">
                <a16:creationId xmlns:a16="http://schemas.microsoft.com/office/drawing/2014/main" id="{6EF024DE-929E-40A2-87A2-C2DFC333D501}"/>
              </a:ext>
            </a:extLst>
          </p:cNvPr>
          <p:cNvSpPr/>
          <p:nvPr/>
        </p:nvSpPr>
        <p:spPr bwMode="auto">
          <a:xfrm>
            <a:off x="2721789" y="1339597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BDC2EC1-0EE0-45CF-9C72-20F7167A99F6}"/>
              </a:ext>
            </a:extLst>
          </p:cNvPr>
          <p:cNvSpPr txBox="1">
            <a:spLocks/>
          </p:cNvSpPr>
          <p:nvPr/>
        </p:nvSpPr>
        <p:spPr bwMode="auto">
          <a:xfrm>
            <a:off x="2946394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1200" dirty="0" err="1">
                <a:solidFill>
                  <a:schemeClr val="tx1"/>
                </a:solidFill>
              </a:rPr>
              <a:t>Fullstack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разработчик</a:t>
            </a:r>
            <a:endParaRPr lang="ru-RU" sz="1200" dirty="0"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@JorniCklenderlyn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+79940667610</a:t>
            </a:r>
            <a:endParaRPr lang="ru-RU" dirty="0"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НИТУ МИСИС</a:t>
            </a:r>
            <a:endParaRPr lang="ru-RU" dirty="0"/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95302332-D602-4763-B1AD-4ABE5D57DF1D}"/>
              </a:ext>
            </a:extLst>
          </p:cNvPr>
          <p:cNvSpPr txBox="1"/>
          <p:nvPr/>
        </p:nvSpPr>
        <p:spPr bwMode="auto">
          <a:xfrm>
            <a:off x="2963444" y="3574370"/>
            <a:ext cx="1335287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Дмитрий Кайков</a:t>
            </a:r>
            <a:endParaRPr dirty="0"/>
          </a:p>
        </p:txBody>
      </p:sp>
      <p:sp>
        <p:nvSpPr>
          <p:cNvPr id="13" name="Скругленный прямоугольник 16">
            <a:extLst>
              <a:ext uri="{FF2B5EF4-FFF2-40B4-BE49-F238E27FC236}">
                <a16:creationId xmlns:a16="http://schemas.microsoft.com/office/drawing/2014/main" id="{474B4A16-D1AA-48D0-9558-4A070F05FB54}"/>
              </a:ext>
            </a:extLst>
          </p:cNvPr>
          <p:cNvSpPr/>
          <p:nvPr/>
        </p:nvSpPr>
        <p:spPr bwMode="auto">
          <a:xfrm>
            <a:off x="5102897" y="1339598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5DD60BEE-6661-486A-8D8F-4E4BFB20B0F9}"/>
              </a:ext>
            </a:extLst>
          </p:cNvPr>
          <p:cNvSpPr txBox="1">
            <a:spLocks/>
          </p:cNvSpPr>
          <p:nvPr/>
        </p:nvSpPr>
        <p:spPr bwMode="auto">
          <a:xfrm>
            <a:off x="5291849" y="4259750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Project Manager</a:t>
            </a:r>
            <a:endParaRPr lang="ru-RU" dirty="0"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@firgel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+79243088125</a:t>
            </a:r>
            <a:endParaRPr lang="ru-RU" dirty="0"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ВШЭ/СКОЛКОВО</a:t>
            </a:r>
            <a:endParaRPr lang="ru-RU" dirty="0"/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69BBED7C-6DE9-4CB9-8BC2-653411B0BAED}"/>
              </a:ext>
            </a:extLst>
          </p:cNvPr>
          <p:cNvSpPr txBox="1"/>
          <p:nvPr/>
        </p:nvSpPr>
        <p:spPr bwMode="auto">
          <a:xfrm>
            <a:off x="5377743" y="3574370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Артем</a:t>
            </a:r>
            <a:br>
              <a:rPr lang="ru-RU" sz="1600" b="1" dirty="0">
                <a:solidFill>
                  <a:schemeClr val="accent5"/>
                </a:solidFill>
              </a:rPr>
            </a:br>
            <a:r>
              <a:rPr lang="ru-RU" sz="1600" b="1" dirty="0">
                <a:solidFill>
                  <a:schemeClr val="accent5"/>
                </a:solidFill>
              </a:rPr>
              <a:t>Соколов</a:t>
            </a:r>
            <a:endParaRPr dirty="0"/>
          </a:p>
        </p:txBody>
      </p:sp>
      <p:sp>
        <p:nvSpPr>
          <p:cNvPr id="16" name="Скругленный прямоугольник 16">
            <a:extLst>
              <a:ext uri="{FF2B5EF4-FFF2-40B4-BE49-F238E27FC236}">
                <a16:creationId xmlns:a16="http://schemas.microsoft.com/office/drawing/2014/main" id="{B740F327-A72F-4D47-B275-ADF22E910E1B}"/>
              </a:ext>
            </a:extLst>
          </p:cNvPr>
          <p:cNvSpPr/>
          <p:nvPr/>
        </p:nvSpPr>
        <p:spPr bwMode="auto">
          <a:xfrm>
            <a:off x="7494227" y="1339598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" name="Текст 8">
            <a:extLst>
              <a:ext uri="{FF2B5EF4-FFF2-40B4-BE49-F238E27FC236}">
                <a16:creationId xmlns:a16="http://schemas.microsoft.com/office/drawing/2014/main" id="{29E9BDF6-A181-4491-A971-E0874CD9C701}"/>
              </a:ext>
            </a:extLst>
          </p:cNvPr>
          <p:cNvSpPr txBox="1">
            <a:spLocks/>
          </p:cNvSpPr>
          <p:nvPr/>
        </p:nvSpPr>
        <p:spPr bwMode="auto">
          <a:xfrm>
            <a:off x="7739424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DevOps</a:t>
            </a:r>
            <a:endParaRPr lang="ru-RU" dirty="0"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@simple_test_name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+79144148441</a:t>
            </a:r>
            <a:endParaRPr lang="ru-RU" dirty="0"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ВШЭ</a:t>
            </a:r>
            <a:endParaRPr lang="ru-RU" dirty="0"/>
          </a:p>
        </p:txBody>
      </p:sp>
      <p:sp>
        <p:nvSpPr>
          <p:cNvPr id="18" name="Текст 8">
            <a:extLst>
              <a:ext uri="{FF2B5EF4-FFF2-40B4-BE49-F238E27FC236}">
                <a16:creationId xmlns:a16="http://schemas.microsoft.com/office/drawing/2014/main" id="{5BE51F40-074C-4CE9-9FEE-BE5F86BCAD0C}"/>
              </a:ext>
            </a:extLst>
          </p:cNvPr>
          <p:cNvSpPr txBox="1"/>
          <p:nvPr/>
        </p:nvSpPr>
        <p:spPr bwMode="auto">
          <a:xfrm>
            <a:off x="7741063" y="3574747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Владислав</a:t>
            </a:r>
            <a:br>
              <a:rPr lang="ru-RU" sz="1600" b="1" dirty="0">
                <a:solidFill>
                  <a:schemeClr val="accent5"/>
                </a:solidFill>
              </a:rPr>
            </a:br>
            <a:r>
              <a:rPr lang="ru-RU" sz="1600" b="1" dirty="0">
                <a:solidFill>
                  <a:schemeClr val="accent5"/>
                </a:solidFill>
              </a:rPr>
              <a:t>Елисеев</a:t>
            </a:r>
            <a:endParaRPr dirty="0"/>
          </a:p>
        </p:txBody>
      </p:sp>
      <p:sp>
        <p:nvSpPr>
          <p:cNvPr id="19" name="Скругленный прямоугольник 16">
            <a:extLst>
              <a:ext uri="{FF2B5EF4-FFF2-40B4-BE49-F238E27FC236}">
                <a16:creationId xmlns:a16="http://schemas.microsoft.com/office/drawing/2014/main" id="{238A8FC1-A66A-4091-9A02-640AE237AC82}"/>
              </a:ext>
            </a:extLst>
          </p:cNvPr>
          <p:cNvSpPr/>
          <p:nvPr/>
        </p:nvSpPr>
        <p:spPr bwMode="auto">
          <a:xfrm>
            <a:off x="9885557" y="1339597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" name="Текст 8">
            <a:extLst>
              <a:ext uri="{FF2B5EF4-FFF2-40B4-BE49-F238E27FC236}">
                <a16:creationId xmlns:a16="http://schemas.microsoft.com/office/drawing/2014/main" id="{81906C0F-F16C-4C5E-BC42-B2786DE291B6}"/>
              </a:ext>
            </a:extLst>
          </p:cNvPr>
          <p:cNvSpPr txBox="1">
            <a:spLocks/>
          </p:cNvSpPr>
          <p:nvPr/>
        </p:nvSpPr>
        <p:spPr bwMode="auto">
          <a:xfrm>
            <a:off x="10078272" y="4202280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ML &amp; DL</a:t>
            </a:r>
            <a:endParaRPr lang="ru-RU" dirty="0"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@ntsupkov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+79264054592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НИТУ МИСИС/СБЕР</a:t>
            </a:r>
            <a:endParaRPr lang="ru-RU" dirty="0"/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endParaRPr lang="ru-RU" dirty="0"/>
          </a:p>
        </p:txBody>
      </p:sp>
      <p:sp>
        <p:nvSpPr>
          <p:cNvPr id="21" name="Текст 8">
            <a:extLst>
              <a:ext uri="{FF2B5EF4-FFF2-40B4-BE49-F238E27FC236}">
                <a16:creationId xmlns:a16="http://schemas.microsoft.com/office/drawing/2014/main" id="{907C864F-9747-4DBA-9FE8-91963D33A5AF}"/>
              </a:ext>
            </a:extLst>
          </p:cNvPr>
          <p:cNvSpPr txBox="1"/>
          <p:nvPr/>
        </p:nvSpPr>
        <p:spPr bwMode="auto">
          <a:xfrm>
            <a:off x="10121613" y="3574370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Николай Цупков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64C3F4-5734-4350-BDF2-E928C9A8F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394" y="1549576"/>
            <a:ext cx="1714739" cy="1848108"/>
          </a:xfrm>
          <a:prstGeom prst="round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87968C5-182A-47C6-B032-C7A72B03B56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960" y="1549576"/>
            <a:ext cx="1848108" cy="1848108"/>
          </a:xfrm>
          <a:prstGeom prst="round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0B58822-B51A-4C1E-A231-EFDDD3B77FC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3399" t="9975" r="5207" b="30981"/>
          <a:stretch/>
        </p:blipFill>
        <p:spPr>
          <a:xfrm>
            <a:off x="5291849" y="1599330"/>
            <a:ext cx="1820970" cy="1761292"/>
          </a:xfrm>
          <a:prstGeom prst="round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9743049-5AE2-4C0E-B9D1-22BF7EEA01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9485" y="1486857"/>
            <a:ext cx="1993879" cy="1873765"/>
          </a:xfrm>
          <a:prstGeom prst="round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44071860-AE40-4424-B288-F915B0C00E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2704" y="1482837"/>
            <a:ext cx="1965490" cy="1873765"/>
          </a:xfrm>
          <a:prstGeom prst="round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r>
              <a:t>О КОМАНДЕ И ЗАДАЧЕ</a:t>
            </a: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Команда выступает на </a:t>
            </a:r>
            <a:r>
              <a:rPr lang="ru-RU" dirty="0" err="1">
                <a:solidFill>
                  <a:schemeClr val="tx1"/>
                </a:solidFill>
              </a:rPr>
              <a:t>хакатонах</a:t>
            </a:r>
            <a:r>
              <a:rPr lang="ru-RU" dirty="0">
                <a:solidFill>
                  <a:schemeClr val="tx1"/>
                </a:solidFill>
              </a:rPr>
              <a:t> с 2020 года, имеет большой опыт в промышленной разработке, полученный в стажировках в крупных российских компаниях</a:t>
            </a:r>
            <a:endParaRPr lang="ru-RU" dirty="0"/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Данные без меток и почти без реальных пожаров: метки вывели из журналов, для пожара и НСД — правила с вероятностью. Каскады по сотне каналов — склейка в эпизоды.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В данной задаче можно отработать наработки команды в создании платформ для работы с помещениями и промышленными объектами. </a:t>
            </a:r>
            <a:endParaRPr dirty="0"/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Модульная платформа: независимые модули и сменные адаптеры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No-code: датчики, зоны, регламенты — без программиста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Поток СМВУ (Kafka) → TimescaleDB → LightGBM на 24 ч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Склейка тревог в эпизоды ×42, причина и приоритет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Django, React, Celery, Grafana; AD, 8 ролей, TLS</a:t>
            </a:r>
            <a:endParaRPr/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Диспетчерам: меньше ложных выездов, очередь по опасности</a:t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Эксплуатации: ТО по состоянию, графики в формах заказчика</a:t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Внедрению: одна команда, закрытый контур</a:t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Тиражированию: новый район и датчики без кода</a:t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Эффект: ≈ 9,6 млн ₽ в год на район</a:t>
            </a:r>
            <a:br>
              <a:rPr lang="ru-RU" sz="1400">
                <a:solidFill>
                  <a:schemeClr val="tx1"/>
                </a:solidFill>
              </a:rPr>
            </a:br>
            <a:endParaRPr/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31464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ПРОБЛЕМА И ДАННЫЕ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52000"/>
            <a:ext cx="3671999" cy="259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3999" y="1278000"/>
            <a:ext cx="338399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Поток тревог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710000"/>
            <a:ext cx="3383999" cy="19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90 250 сигналов за 30 суток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Каскад — сотня тревог за секунду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48000" y="1152000"/>
            <a:ext cx="3671999" cy="259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92000" y="1278000"/>
            <a:ext cx="338399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Ложные выезды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92000" y="1710000"/>
            <a:ext cx="3383999" cy="19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Тревоги в основном ложные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Выезды «на всякий случай»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6000" y="1152000"/>
            <a:ext cx="3671999" cy="259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80000" y="1278000"/>
            <a:ext cx="338399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ТО по календарю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0000" y="1710000"/>
            <a:ext cx="3383999" cy="196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Без учёта состояния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Графики вручную в XLSX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000" y="3960000"/>
            <a:ext cx="11448000" cy="2376000"/>
          </a:xfrm>
          <a:prstGeom prst="roundRect">
            <a:avLst>
              <a:gd name="adj" fmla="val 5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00" y="4104000"/>
            <a:ext cx="11016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ontserrat"/>
              </a:rPr>
              <a:t>Данные заказчика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4536000"/>
            <a:ext cx="2088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0053"/>
                </a:solidFill>
                <a:latin typeface="Montserrat"/>
              </a:rPr>
              <a:t>14 ГБ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00" y="5184000"/>
            <a:ext cx="2088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журналов СМВУ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за 8 лет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8000" y="4536000"/>
            <a:ext cx="2088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0053"/>
                </a:solidFill>
                <a:latin typeface="Montserrat"/>
              </a:rPr>
              <a:t>11 485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8000" y="5184000"/>
            <a:ext cx="2088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каналов,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19 типов датчиков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0000" y="4536000"/>
            <a:ext cx="2088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0053"/>
                </a:solidFill>
                <a:latin typeface="Montserrat"/>
              </a:rPr>
              <a:t>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0000" y="5184000"/>
            <a:ext cx="2088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объектов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района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2000" y="4536000"/>
            <a:ext cx="2088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0053"/>
                </a:solidFill>
                <a:latin typeface="Montserrat"/>
              </a:rPr>
              <a:t>1 008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2000" y="5184000"/>
            <a:ext cx="2088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датчиков метана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в ППР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4000" y="4536000"/>
            <a:ext cx="2088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0053"/>
                </a:solidFill>
                <a:latin typeface="Montserrat"/>
              </a:rPr>
              <a:t>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4000" y="5184000"/>
            <a:ext cx="2088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объекта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в графике ТО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40536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РЕШЕНИЕ: ЗАМКНУТЫЙ ЦИКЛ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512000"/>
            <a:ext cx="1475999" cy="792000"/>
          </a:xfrm>
          <a:prstGeom prst="roundRect">
            <a:avLst>
              <a:gd name="adj" fmla="val 1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Предсказать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2520000"/>
            <a:ext cx="1475999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0000" y="2628000"/>
            <a:ext cx="1296000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риск на 24 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5999" y="1512000"/>
            <a:ext cx="1475999" cy="79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Объединить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5999" y="2520000"/>
            <a:ext cx="1475999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06000" y="2628000"/>
            <a:ext cx="1296000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сотня тревог → 1 эпизод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71999" y="1512000"/>
            <a:ext cx="1475999" cy="79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Расставить приоритет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71999" y="2520000"/>
            <a:ext cx="1475999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61999" y="2628000"/>
            <a:ext cx="1296000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очередь по опасности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8000" y="1512000"/>
            <a:ext cx="1475999" cy="79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Объяснить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28000" y="2520000"/>
            <a:ext cx="1475999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18000" y="2628000"/>
            <a:ext cx="1296000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причина и факторы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83999" y="1512000"/>
            <a:ext cx="1475999" cy="79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Предложить действие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83999" y="2520000"/>
            <a:ext cx="1475999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73999" y="2628000"/>
            <a:ext cx="1296000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чек-лист, заявка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0000" y="1512000"/>
            <a:ext cx="1475999" cy="79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Получить результат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0000" y="2520000"/>
            <a:ext cx="1475999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30000" y="2628000"/>
            <a:ext cx="1296000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решение, отчёт бригады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96000" y="1512000"/>
            <a:ext cx="1475999" cy="792000"/>
          </a:xfrm>
          <a:prstGeom prst="roundRect">
            <a:avLst>
              <a:gd name="adj" fmla="val 1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Улучшить модель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96000" y="2520000"/>
            <a:ext cx="1475999" cy="12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386000" y="2628000"/>
            <a:ext cx="1296000" cy="108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обучение на решениях</a:t>
            </a:r>
          </a:p>
        </p:txBody>
      </p:sp>
      <p:cxnSp>
        <p:nvCxnSpPr>
          <p:cNvPr id="24" name="Connector 23"/>
          <p:cNvCxnSpPr>
            <a:stCxn id="3" idx="3"/>
            <a:endCxn id="6" idx="1"/>
          </p:cNvCxnSpPr>
          <p:nvPr/>
        </p:nvCxnSpPr>
        <p:spPr>
          <a:xfrm flipV="1">
            <a:off x="1835999" y="1908000"/>
            <a:ext cx="180000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6" idx="3"/>
            <a:endCxn id="9" idx="1"/>
          </p:cNvCxnSpPr>
          <p:nvPr/>
        </p:nvCxnSpPr>
        <p:spPr>
          <a:xfrm flipV="1">
            <a:off x="3491998" y="1908000"/>
            <a:ext cx="180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9" idx="3"/>
            <a:endCxn id="12" idx="1"/>
          </p:cNvCxnSpPr>
          <p:nvPr/>
        </p:nvCxnSpPr>
        <p:spPr>
          <a:xfrm flipV="1">
            <a:off x="5147998" y="1908000"/>
            <a:ext cx="180002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2" idx="3"/>
            <a:endCxn id="15" idx="1"/>
          </p:cNvCxnSpPr>
          <p:nvPr/>
        </p:nvCxnSpPr>
        <p:spPr>
          <a:xfrm flipV="1">
            <a:off x="6803999" y="1908000"/>
            <a:ext cx="180000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5" idx="3"/>
            <a:endCxn id="18" idx="1"/>
          </p:cNvCxnSpPr>
          <p:nvPr/>
        </p:nvCxnSpPr>
        <p:spPr>
          <a:xfrm flipV="1">
            <a:off x="8459998" y="1908000"/>
            <a:ext cx="180002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8" idx="3"/>
            <a:endCxn id="21" idx="1"/>
          </p:cNvCxnSpPr>
          <p:nvPr/>
        </p:nvCxnSpPr>
        <p:spPr>
          <a:xfrm flipV="1">
            <a:off x="10115999" y="1908000"/>
            <a:ext cx="180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60000" y="4031999"/>
            <a:ext cx="11448000" cy="43200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FF0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Montserrat"/>
              </a:rPr>
              <a:t>↻ решение человека возвращается в систему как обратная связь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0000" y="4824000"/>
            <a:ext cx="2015999" cy="1512000"/>
          </a:xfrm>
          <a:prstGeom prst="roundRect">
            <a:avLst>
              <a:gd name="adj" fmla="val 8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3200" b="1">
                <a:solidFill>
                  <a:srgbClr val="FF0053"/>
                </a:solidFill>
                <a:latin typeface="Montserrat"/>
              </a:rPr>
              <a:t>47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ontserrat"/>
              </a:rPr>
              <a:t>тревог на объекте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82000" y="4824000"/>
            <a:ext cx="2015999" cy="1512000"/>
          </a:xfrm>
          <a:prstGeom prst="roundRect">
            <a:avLst>
              <a:gd name="adj" fmla="val 8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3200" b="1">
                <a:solidFill>
                  <a:srgbClr val="FF0053"/>
                </a:solidFill>
                <a:latin typeface="Montserrat"/>
              </a:rPr>
              <a:t>1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ontserrat"/>
              </a:rPr>
              <a:t>карточка</a:t>
            </a:r>
          </a:p>
        </p:txBody>
      </p:sp>
      <p:cxnSp>
        <p:nvCxnSpPr>
          <p:cNvPr id="33" name="Connector 32"/>
          <p:cNvCxnSpPr>
            <a:stCxn id="31" idx="3"/>
            <a:endCxn id="32" idx="1"/>
          </p:cNvCxnSpPr>
          <p:nvPr/>
        </p:nvCxnSpPr>
        <p:spPr>
          <a:xfrm flipV="1">
            <a:off x="2375999" y="5580000"/>
            <a:ext cx="306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004000" y="4824000"/>
            <a:ext cx="2015999" cy="1512000"/>
          </a:xfrm>
          <a:prstGeom prst="roundRect">
            <a:avLst>
              <a:gd name="adj" fmla="val 8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3200" b="1">
                <a:solidFill>
                  <a:srgbClr val="FF0053"/>
                </a:solidFill>
                <a:latin typeface="Montserrat"/>
              </a:rPr>
              <a:t>3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ontserrat"/>
              </a:rPr>
              <a:t>гипотезы причины</a:t>
            </a:r>
          </a:p>
        </p:txBody>
      </p:sp>
      <p:cxnSp>
        <p:nvCxnSpPr>
          <p:cNvPr id="35" name="Connector 34"/>
          <p:cNvCxnSpPr>
            <a:stCxn id="32" idx="3"/>
            <a:endCxn id="34" idx="1"/>
          </p:cNvCxnSpPr>
          <p:nvPr/>
        </p:nvCxnSpPr>
        <p:spPr>
          <a:xfrm flipV="1">
            <a:off x="4697999" y="5580000"/>
            <a:ext cx="306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26000" y="4824000"/>
            <a:ext cx="2015999" cy="1512000"/>
          </a:xfrm>
          <a:prstGeom prst="roundRect">
            <a:avLst>
              <a:gd name="adj" fmla="val 8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3200" b="1">
                <a:solidFill>
                  <a:srgbClr val="FF0053"/>
                </a:solidFill>
                <a:latin typeface="Montserrat"/>
              </a:rPr>
              <a:t>1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ontserrat"/>
              </a:rPr>
              <a:t>действие</a:t>
            </a:r>
          </a:p>
        </p:txBody>
      </p:sp>
      <p:cxnSp>
        <p:nvCxnSpPr>
          <p:cNvPr id="37" name="Connector 36"/>
          <p:cNvCxnSpPr>
            <a:stCxn id="34" idx="3"/>
            <a:endCxn id="36" idx="1"/>
          </p:cNvCxnSpPr>
          <p:nvPr/>
        </p:nvCxnSpPr>
        <p:spPr>
          <a:xfrm flipV="1">
            <a:off x="7019999" y="5580000"/>
            <a:ext cx="306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648000" y="4824000"/>
            <a:ext cx="2015999" cy="1512000"/>
          </a:xfrm>
          <a:prstGeom prst="roundRect">
            <a:avLst>
              <a:gd name="adj" fmla="val 8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3200" b="1">
                <a:solidFill>
                  <a:srgbClr val="FF0053"/>
                </a:solidFill>
                <a:latin typeface="Montserrat"/>
              </a:rPr>
              <a:t>1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ontserrat"/>
              </a:rPr>
              <a:t>заявка</a:t>
            </a:r>
          </a:p>
        </p:txBody>
      </p:sp>
      <p:cxnSp>
        <p:nvCxnSpPr>
          <p:cNvPr id="39" name="Connector 38"/>
          <p:cNvCxnSpPr>
            <a:stCxn id="36" idx="3"/>
            <a:endCxn id="38" idx="1"/>
          </p:cNvCxnSpPr>
          <p:nvPr/>
        </p:nvCxnSpPr>
        <p:spPr>
          <a:xfrm flipV="1">
            <a:off x="9341999" y="5580000"/>
            <a:ext cx="306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16344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ФУНКЦИИ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52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3999" y="1350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2000" y="1260000"/>
            <a:ext cx="230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20978"/>
                </a:solidFill>
                <a:latin typeface="Montserrat"/>
              </a:rPr>
              <a:t>Мониторинг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3999" y="1764000"/>
            <a:ext cx="2448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карта зоны, 5 режимов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0" y="1152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384000" y="1350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81999" y="1260000"/>
            <a:ext cx="230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20978"/>
                </a:solidFill>
                <a:latin typeface="Montserrat"/>
              </a:rPr>
              <a:t>Эпизоды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4000" y="1764000"/>
            <a:ext cx="2448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сигналы → карточка ×42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0000" y="1152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63999" y="1350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2000" y="1260000"/>
            <a:ext cx="230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20978"/>
                </a:solidFill>
                <a:latin typeface="Montserrat"/>
              </a:rPr>
              <a:t>Прогноз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999" y="1764000"/>
            <a:ext cx="2448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отказ, метан, вода на 24 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0" y="1152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0" y="1350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42000" y="1260000"/>
            <a:ext cx="230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20978"/>
                </a:solidFill>
                <a:latin typeface="Montserrat"/>
              </a:rPr>
              <a:t>Пожар и НСД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764000"/>
            <a:ext cx="2448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вероятность по истории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" y="2916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03999" y="3114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2000" y="3024000"/>
            <a:ext cx="230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20978"/>
                </a:solidFill>
                <a:latin typeface="Montserrat"/>
              </a:rPr>
              <a:t>Здание по снимку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999" y="3528000"/>
            <a:ext cx="2448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ИИ, планы этажей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0000" y="2916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384000" y="3114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81999" y="3024000"/>
            <a:ext cx="230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20978"/>
                </a:solidFill>
                <a:latin typeface="Montserrat"/>
              </a:rPr>
              <a:t>Заявки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4000" y="3528000"/>
            <a:ext cx="2448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от черновика до отчёта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0000" y="2916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263999" y="3114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62000" y="3024000"/>
            <a:ext cx="230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20978"/>
                </a:solidFill>
                <a:latin typeface="Montserrat"/>
              </a:rPr>
              <a:t>Инженер ТО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999" y="3528000"/>
            <a:ext cx="2448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план по состоянию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0000" y="2916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144000" y="3114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42000" y="3024000"/>
            <a:ext cx="230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20978"/>
                </a:solidFill>
                <a:latin typeface="Montserrat"/>
              </a:rPr>
              <a:t>Графики ТО и ППР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528000"/>
            <a:ext cx="2448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в формах заказчика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0000" y="4680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03999" y="4878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2000" y="4788000"/>
            <a:ext cx="230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20978"/>
                </a:solidFill>
                <a:latin typeface="Montserrat"/>
              </a:rPr>
              <a:t>Конструктор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3999" y="5292000"/>
            <a:ext cx="2448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датчик без программиста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40000" y="4680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384000" y="4878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581999" y="4788000"/>
            <a:ext cx="230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20978"/>
                </a:solidFill>
                <a:latin typeface="Montserrat"/>
              </a:rPr>
              <a:t>Обучение моделей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4000" y="5292000"/>
            <a:ext cx="2448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на решениях диспетчеров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0000" y="4680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263999" y="4878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62000" y="4788000"/>
            <a:ext cx="230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20978"/>
                </a:solidFill>
                <a:latin typeface="Montserrat"/>
              </a:rPr>
              <a:t>Аналитика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999" y="5292000"/>
            <a:ext cx="2448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смена, прогнозы, отчёты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00000" y="4680000"/>
            <a:ext cx="2736000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144000" y="4878000"/>
            <a:ext cx="125999" cy="125999"/>
          </a:xfrm>
          <a:prstGeom prst="ellipse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342000" y="4788000"/>
            <a:ext cx="230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20978"/>
                </a:solidFill>
                <a:latin typeface="Montserrat"/>
              </a:rPr>
              <a:t>Учения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5292000"/>
            <a:ext cx="2448000" cy="86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полигон и симулятор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42048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8 РОЛЕЙ — 8 РАБОЧИХ МЕСТ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52000"/>
            <a:ext cx="4176000" cy="55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3999" y="1195200"/>
            <a:ext cx="39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20978"/>
                </a:solidFill>
                <a:latin typeface="Montserrat"/>
              </a:rPr>
              <a:t>Диспетчер ОДС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432800"/>
            <a:ext cx="39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7B"/>
                </a:solidFill>
                <a:latin typeface="Montserrat"/>
              </a:rPr>
              <a:t>весь район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800000"/>
            <a:ext cx="4176000" cy="55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3999" y="1843200"/>
            <a:ext cx="39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20978"/>
                </a:solidFill>
                <a:latin typeface="Montserrat"/>
              </a:rPr>
              <a:t>Диспетчер подразделения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2080800"/>
            <a:ext cx="39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7B"/>
                </a:solidFill>
                <a:latin typeface="Montserrat"/>
              </a:rPr>
              <a:t>своя зона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2448000"/>
            <a:ext cx="4176000" cy="55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3999" y="2491200"/>
            <a:ext cx="39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20978"/>
                </a:solidFill>
                <a:latin typeface="Montserrat"/>
              </a:rPr>
              <a:t>Руководитель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999" y="2728800"/>
            <a:ext cx="39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7B"/>
                </a:solidFill>
                <a:latin typeface="Montserrat"/>
              </a:rPr>
              <a:t>эскалации, утверждение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000" y="3096000"/>
            <a:ext cx="4176000" cy="55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3999" y="3139200"/>
            <a:ext cx="39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20978"/>
                </a:solidFill>
                <a:latin typeface="Montserrat"/>
              </a:rPr>
              <a:t>Аналитик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999" y="3376800"/>
            <a:ext cx="39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7B"/>
                </a:solidFill>
                <a:latin typeface="Montserrat"/>
              </a:rPr>
              <a:t>модели и данные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3744000"/>
            <a:ext cx="4176000" cy="55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3999" y="3787200"/>
            <a:ext cx="39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20978"/>
                </a:solidFill>
                <a:latin typeface="Montserrat"/>
              </a:rPr>
              <a:t>Инженер ТО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999" y="4024800"/>
            <a:ext cx="39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7B"/>
                </a:solidFill>
                <a:latin typeface="Montserrat"/>
              </a:rPr>
              <a:t>план и графики ТО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000" y="4392000"/>
            <a:ext cx="4176000" cy="55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3999" y="4435199"/>
            <a:ext cx="39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20978"/>
                </a:solidFill>
                <a:latin typeface="Montserrat"/>
              </a:rPr>
              <a:t>Ремонтная бригада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99" y="4672799"/>
            <a:ext cx="39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7B"/>
                </a:solidFill>
                <a:latin typeface="Montserrat"/>
              </a:rPr>
              <a:t>заявки с телефона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0000" y="5040000"/>
            <a:ext cx="4176000" cy="55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3999" y="5083200"/>
            <a:ext cx="39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20978"/>
                </a:solidFill>
                <a:latin typeface="Montserrat"/>
              </a:rPr>
              <a:t>Наблюдатель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999" y="5320800"/>
            <a:ext cx="39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7B"/>
                </a:solidFill>
                <a:latin typeface="Montserrat"/>
              </a:rPr>
              <a:t>только просмотр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0000" y="5688000"/>
            <a:ext cx="4176000" cy="55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3999" y="5731200"/>
            <a:ext cx="39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20978"/>
                </a:solidFill>
                <a:latin typeface="Montserrat"/>
              </a:rPr>
              <a:t>Администратор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999" y="5968800"/>
            <a:ext cx="3960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7B"/>
                </a:solidFill>
                <a:latin typeface="Montserrat"/>
              </a:rPr>
              <a:t>роли и интеграции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2000" y="1134000"/>
            <a:ext cx="6876000" cy="4338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pic>
        <p:nvPicPr>
          <p:cNvPr id="27" name="Picture 26" descr="engineer_1_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000" y="1188000"/>
            <a:ext cx="6768000" cy="42300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4896000" y="5760000"/>
            <a:ext cx="1548000" cy="57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50" b="1">
                <a:solidFill>
                  <a:srgbClr val="520978"/>
                </a:solidFill>
                <a:latin typeface="Montserrat"/>
              </a:rPr>
              <a:t>Бригада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42000" y="5760000"/>
            <a:ext cx="1548000" cy="57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50" b="1">
                <a:solidFill>
                  <a:srgbClr val="520978"/>
                </a:solidFill>
                <a:latin typeface="Montserrat"/>
              </a:rPr>
              <a:t>Диспетчерская объекта</a:t>
            </a:r>
          </a:p>
        </p:txBody>
      </p:sp>
      <p:cxnSp>
        <p:nvCxnSpPr>
          <p:cNvPr id="31" name="Connector 30"/>
          <p:cNvCxnSpPr>
            <a:stCxn id="29" idx="3"/>
            <a:endCxn id="30" idx="1"/>
          </p:cNvCxnSpPr>
          <p:nvPr/>
        </p:nvCxnSpPr>
        <p:spPr>
          <a:xfrm flipV="1">
            <a:off x="6444000" y="6048000"/>
            <a:ext cx="198000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387999" y="5760000"/>
            <a:ext cx="1548000" cy="576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50" b="1">
                <a:solidFill>
                  <a:srgbClr val="520978"/>
                </a:solidFill>
                <a:latin typeface="Montserrat"/>
              </a:rPr>
              <a:t>ОДС</a:t>
            </a:r>
          </a:p>
        </p:txBody>
      </p:sp>
      <p:cxnSp>
        <p:nvCxnSpPr>
          <p:cNvPr id="33" name="Connector 32"/>
          <p:cNvCxnSpPr>
            <a:stCxn id="30" idx="3"/>
            <a:endCxn id="32" idx="1"/>
          </p:cNvCxnSpPr>
          <p:nvPr/>
        </p:nvCxnSpPr>
        <p:spPr>
          <a:xfrm flipV="1">
            <a:off x="8190000" y="6048000"/>
            <a:ext cx="197999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134000" y="5760000"/>
            <a:ext cx="1548000" cy="576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Руководство</a:t>
            </a:r>
          </a:p>
        </p:txBody>
      </p:sp>
      <p:cxnSp>
        <p:nvCxnSpPr>
          <p:cNvPr id="35" name="Connector 34"/>
          <p:cNvCxnSpPr>
            <a:stCxn id="32" idx="3"/>
            <a:endCxn id="34" idx="1"/>
          </p:cNvCxnSpPr>
          <p:nvPr/>
        </p:nvCxnSpPr>
        <p:spPr>
          <a:xfrm flipV="1">
            <a:off x="9935999" y="6048000"/>
            <a:ext cx="19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896000" y="6372000"/>
            <a:ext cx="684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Montserrat"/>
              </a:rPr>
              <a:t>карточка без реакции в норматив поднимается выше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46584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BPMN: ОТ СИГНАЛА ДО РЕШЕНИЯ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044000"/>
            <a:ext cx="11448000" cy="549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0000" y="1044000"/>
            <a:ext cx="1152000" cy="1098000"/>
          </a:xfrm>
          <a:prstGeom prst="rect">
            <a:avLst/>
          </a:prstGeom>
          <a:solidFill>
            <a:srgbClr val="F3F0FA"/>
          </a:solidFill>
          <a:ln w="63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1">
                <a:solidFill>
                  <a:srgbClr val="520978"/>
                </a:solidFill>
                <a:latin typeface="Montserrat"/>
              </a:rPr>
              <a:t>СМВУ и система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2141999"/>
            <a:ext cx="1152000" cy="1098000"/>
          </a:xfrm>
          <a:prstGeom prst="rect">
            <a:avLst/>
          </a:prstGeom>
          <a:solidFill>
            <a:srgbClr val="FFFFFF"/>
          </a:solidFill>
          <a:ln w="63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1">
                <a:solidFill>
                  <a:srgbClr val="520978"/>
                </a:solidFill>
                <a:latin typeface="Montserrat"/>
              </a:rPr>
              <a:t>Диспетчер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2141999"/>
            <a:ext cx="11447999" cy="0"/>
          </a:xfrm>
          <a:prstGeom prst="line">
            <a:avLst/>
          </a:prstGeom>
          <a:ln w="635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60000" y="3240000"/>
            <a:ext cx="1152000" cy="1098000"/>
          </a:xfrm>
          <a:prstGeom prst="rect">
            <a:avLst/>
          </a:prstGeom>
          <a:solidFill>
            <a:srgbClr val="F3F0FA"/>
          </a:solidFill>
          <a:ln w="63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1">
                <a:solidFill>
                  <a:srgbClr val="520978"/>
                </a:solidFill>
                <a:latin typeface="Montserrat"/>
              </a:rPr>
              <a:t>Руководитель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240000"/>
            <a:ext cx="11447999" cy="0"/>
          </a:xfrm>
          <a:prstGeom prst="line">
            <a:avLst/>
          </a:prstGeom>
          <a:ln w="635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0000" y="4338000"/>
            <a:ext cx="1152000" cy="1098000"/>
          </a:xfrm>
          <a:prstGeom prst="rect">
            <a:avLst/>
          </a:prstGeom>
          <a:solidFill>
            <a:srgbClr val="FFFFFF"/>
          </a:solidFill>
          <a:ln w="63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1">
                <a:solidFill>
                  <a:srgbClr val="520978"/>
                </a:solidFill>
                <a:latin typeface="Montserrat"/>
              </a:rPr>
              <a:t>Бригада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0000" y="4338000"/>
            <a:ext cx="11447999" cy="0"/>
          </a:xfrm>
          <a:prstGeom prst="line">
            <a:avLst/>
          </a:prstGeom>
          <a:ln w="635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60000" y="5436000"/>
            <a:ext cx="1152000" cy="1098000"/>
          </a:xfrm>
          <a:prstGeom prst="rect">
            <a:avLst/>
          </a:prstGeom>
          <a:solidFill>
            <a:srgbClr val="F3F0FA"/>
          </a:solidFill>
          <a:ln w="63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1">
                <a:solidFill>
                  <a:srgbClr val="520978"/>
                </a:solidFill>
                <a:latin typeface="Montserrat"/>
              </a:rPr>
              <a:t>Аналитик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000" y="5436000"/>
            <a:ext cx="11447999" cy="0"/>
          </a:xfrm>
          <a:prstGeom prst="line">
            <a:avLst/>
          </a:prstGeom>
          <a:ln w="635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655999" y="1430999"/>
            <a:ext cx="324000" cy="324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95999" y="1773000"/>
            <a:ext cx="1044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6B7B"/>
                </a:solidFill>
                <a:latin typeface="Montserrat"/>
              </a:rPr>
              <a:t>сигнал датчика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32000" y="1323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Нормализация, эпизод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71999" y="1323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Карточка: причина, приоритет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12000" y="1323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Уведомление зоне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12000" y="2421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Принять («кто первый»)</a:t>
            </a:r>
          </a:p>
        </p:txBody>
      </p:sp>
      <p:sp>
        <p:nvSpPr>
          <p:cNvPr id="19" name="Diamond 18"/>
          <p:cNvSpPr/>
          <p:nvPr/>
        </p:nvSpPr>
        <p:spPr>
          <a:xfrm>
            <a:off x="6623999" y="2474999"/>
            <a:ext cx="432000" cy="4320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999" y="2204999"/>
            <a:ext cx="1224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6B7B"/>
                </a:solidFill>
                <a:latin typeface="Montserrat"/>
              </a:rPr>
              <a:t>в норматив?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80000" y="3519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Эскалация, перехват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43999" y="2421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Проверка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84000" y="2421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Решение</a:t>
            </a:r>
          </a:p>
        </p:txBody>
      </p:sp>
      <p:sp>
        <p:nvSpPr>
          <p:cNvPr id="24" name="Diamond 23"/>
          <p:cNvSpPr/>
          <p:nvPr/>
        </p:nvSpPr>
        <p:spPr>
          <a:xfrm>
            <a:off x="10296000" y="2474999"/>
            <a:ext cx="432000" cy="4320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0000" y="2204999"/>
            <a:ext cx="1224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6B7B"/>
                </a:solidFill>
                <a:latin typeface="Montserrat"/>
              </a:rPr>
              <a:t>нужна работа?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52000" y="3519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Утвердить заявку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52000" y="4617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Работа и отчёт</a:t>
            </a:r>
          </a:p>
        </p:txBody>
      </p:sp>
      <p:sp>
        <p:nvSpPr>
          <p:cNvPr id="28" name="Oval 27"/>
          <p:cNvSpPr/>
          <p:nvPr/>
        </p:nvSpPr>
        <p:spPr>
          <a:xfrm>
            <a:off x="11268000" y="2529000"/>
            <a:ext cx="324000" cy="324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10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343999" y="5715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Метка обучения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84000" y="5715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Переобучение</a:t>
            </a:r>
          </a:p>
        </p:txBody>
      </p:sp>
      <p:cxnSp>
        <p:nvCxnSpPr>
          <p:cNvPr id="31" name="Connector 30"/>
          <p:cNvCxnSpPr>
            <a:stCxn id="13" idx="3"/>
            <a:endCxn id="15" idx="1"/>
          </p:cNvCxnSpPr>
          <p:nvPr/>
        </p:nvCxnSpPr>
        <p:spPr>
          <a:xfrm>
            <a:off x="1979999" y="1592999"/>
            <a:ext cx="252001" cy="1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15" idx="3"/>
            <a:endCxn id="16" idx="1"/>
          </p:cNvCxnSpPr>
          <p:nvPr/>
        </p:nvCxnSpPr>
        <p:spPr>
          <a:xfrm flipV="1">
            <a:off x="3456000" y="1593000"/>
            <a:ext cx="215999" cy="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16" idx="3"/>
            <a:endCxn id="17" idx="1"/>
          </p:cNvCxnSpPr>
          <p:nvPr/>
        </p:nvCxnSpPr>
        <p:spPr>
          <a:xfrm flipV="1">
            <a:off x="4895999" y="1593000"/>
            <a:ext cx="216001" cy="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17" idx="2"/>
            <a:endCxn id="18" idx="0"/>
          </p:cNvCxnSpPr>
          <p:nvPr/>
        </p:nvCxnSpPr>
        <p:spPr>
          <a:xfrm flipH="1">
            <a:off x="5724000" y="1863000"/>
            <a:ext cx="0" cy="558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18" idx="3"/>
            <a:endCxn id="19" idx="1"/>
          </p:cNvCxnSpPr>
          <p:nvPr/>
        </p:nvCxnSpPr>
        <p:spPr>
          <a:xfrm flipV="1">
            <a:off x="6336000" y="2690999"/>
            <a:ext cx="287999" cy="1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19" idx="3"/>
            <a:endCxn id="22" idx="1"/>
          </p:cNvCxnSpPr>
          <p:nvPr/>
        </p:nvCxnSpPr>
        <p:spPr>
          <a:xfrm>
            <a:off x="7055999" y="2690999"/>
            <a:ext cx="288000" cy="1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cxnSpLocks/>
            <a:stCxn id="19" idx="2"/>
          </p:cNvCxnSpPr>
          <p:nvPr/>
        </p:nvCxnSpPr>
        <p:spPr>
          <a:xfrm rot="16200000" flipH="1">
            <a:off x="6641999" y="3104999"/>
            <a:ext cx="612001" cy="216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cxnSpLocks/>
            <a:stCxn id="21" idx="3"/>
          </p:cNvCxnSpPr>
          <p:nvPr/>
        </p:nvCxnSpPr>
        <p:spPr>
          <a:xfrm flipV="1">
            <a:off x="7704000" y="2961000"/>
            <a:ext cx="251999" cy="828000"/>
          </a:xfrm>
          <a:prstGeom prst="bentConnector2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stCxn id="22" idx="3"/>
            <a:endCxn id="23" idx="1"/>
          </p:cNvCxnSpPr>
          <p:nvPr/>
        </p:nvCxnSpPr>
        <p:spPr>
          <a:xfrm flipV="1">
            <a:off x="8567999" y="2691000"/>
            <a:ext cx="216001" cy="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stCxn id="23" idx="3"/>
            <a:endCxn id="24" idx="1"/>
          </p:cNvCxnSpPr>
          <p:nvPr/>
        </p:nvCxnSpPr>
        <p:spPr>
          <a:xfrm flipV="1">
            <a:off x="10008000" y="2690999"/>
            <a:ext cx="288000" cy="1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>
            <a:cxnSpLocks/>
            <a:stCxn id="24" idx="2"/>
            <a:endCxn id="26" idx="0"/>
          </p:cNvCxnSpPr>
          <p:nvPr/>
        </p:nvCxnSpPr>
        <p:spPr>
          <a:xfrm rot="16200000" flipH="1">
            <a:off x="10332000" y="3086999"/>
            <a:ext cx="612001" cy="252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>
            <a:stCxn id="26" idx="2"/>
            <a:endCxn id="27" idx="0"/>
          </p:cNvCxnSpPr>
          <p:nvPr/>
        </p:nvCxnSpPr>
        <p:spPr>
          <a:xfrm flipH="1">
            <a:off x="10764000" y="4059000"/>
            <a:ext cx="0" cy="558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stCxn id="24" idx="3"/>
            <a:endCxn id="28" idx="1"/>
          </p:cNvCxnSpPr>
          <p:nvPr/>
        </p:nvCxnSpPr>
        <p:spPr>
          <a:xfrm>
            <a:off x="10728000" y="2690999"/>
            <a:ext cx="540000" cy="1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>
            <a:cxnSpLocks/>
            <a:stCxn id="23" idx="2"/>
          </p:cNvCxnSpPr>
          <p:nvPr/>
        </p:nvCxnSpPr>
        <p:spPr>
          <a:xfrm rot="5400000">
            <a:off x="7299000" y="3618000"/>
            <a:ext cx="2754000" cy="1440001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>
            <a:stCxn id="29" idx="3"/>
            <a:endCxn id="30" idx="1"/>
          </p:cNvCxnSpPr>
          <p:nvPr/>
        </p:nvCxnSpPr>
        <p:spPr>
          <a:xfrm flipV="1">
            <a:off x="8567999" y="5985000"/>
            <a:ext cx="216001" cy="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29952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BPMN: ПРОЦЕСС ТО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080000"/>
            <a:ext cx="11448000" cy="5184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0000" y="1080000"/>
            <a:ext cx="1152000" cy="1296000"/>
          </a:xfrm>
          <a:prstGeom prst="rect">
            <a:avLst/>
          </a:prstGeom>
          <a:solidFill>
            <a:srgbClr val="F3F0FA"/>
          </a:solidFill>
          <a:ln w="63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1">
                <a:solidFill>
                  <a:srgbClr val="520978"/>
                </a:solidFill>
                <a:latin typeface="Montserrat"/>
              </a:rPr>
              <a:t>Система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2376000"/>
            <a:ext cx="1152000" cy="1296000"/>
          </a:xfrm>
          <a:prstGeom prst="rect">
            <a:avLst/>
          </a:prstGeom>
          <a:solidFill>
            <a:srgbClr val="FFFFFF"/>
          </a:solidFill>
          <a:ln w="63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1">
                <a:solidFill>
                  <a:srgbClr val="520978"/>
                </a:solidFill>
                <a:latin typeface="Montserrat"/>
              </a:rPr>
              <a:t>Инженер ТО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2376000"/>
            <a:ext cx="11447999" cy="0"/>
          </a:xfrm>
          <a:prstGeom prst="line">
            <a:avLst/>
          </a:prstGeom>
          <a:ln w="635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60000" y="3671999"/>
            <a:ext cx="1152000" cy="1296000"/>
          </a:xfrm>
          <a:prstGeom prst="rect">
            <a:avLst/>
          </a:prstGeom>
          <a:solidFill>
            <a:srgbClr val="F3F0FA"/>
          </a:solidFill>
          <a:ln w="63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1">
                <a:solidFill>
                  <a:srgbClr val="520978"/>
                </a:solidFill>
                <a:latin typeface="Montserrat"/>
              </a:rPr>
              <a:t>Руководитель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671999"/>
            <a:ext cx="11447999" cy="0"/>
          </a:xfrm>
          <a:prstGeom prst="line">
            <a:avLst/>
          </a:prstGeom>
          <a:ln w="635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0000" y="4968000"/>
            <a:ext cx="1152000" cy="1296000"/>
          </a:xfrm>
          <a:prstGeom prst="rect">
            <a:avLst/>
          </a:prstGeom>
          <a:solidFill>
            <a:srgbClr val="FFFFFF"/>
          </a:solidFill>
          <a:ln w="63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1">
                <a:solidFill>
                  <a:srgbClr val="520978"/>
                </a:solidFill>
                <a:latin typeface="Montserrat"/>
              </a:rPr>
              <a:t>Бригада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0000" y="4968000"/>
            <a:ext cx="11447999" cy="0"/>
          </a:xfrm>
          <a:prstGeom prst="line">
            <a:avLst/>
          </a:prstGeom>
          <a:ln w="6350">
            <a:solidFill>
              <a:srgbClr val="8A83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655999" y="1565999"/>
            <a:ext cx="324000" cy="324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95999" y="1908000"/>
            <a:ext cx="1044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6B7B"/>
                </a:solidFill>
                <a:latin typeface="Montserrat"/>
              </a:rPr>
              <a:t>начало года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32000" y="145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Реестр и регламент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71999" y="145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График ТО и ППР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71999" y="2754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Сверка, правки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2000" y="4050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Утвердить график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2000" y="145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Работы месяца и рекомендации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2000" y="2754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В план → заявка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2000" y="4050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Утвердить заявку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2000" y="5346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Выполнить, отчёт</a:t>
            </a:r>
          </a:p>
        </p:txBody>
      </p:sp>
      <p:sp>
        <p:nvSpPr>
          <p:cNvPr id="21" name="Diamond 20"/>
          <p:cNvSpPr/>
          <p:nvPr/>
        </p:nvSpPr>
        <p:spPr>
          <a:xfrm>
            <a:off x="9576000" y="5400000"/>
            <a:ext cx="432000" cy="4320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000" y="5130000"/>
            <a:ext cx="1224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B6B7B"/>
                </a:solidFill>
                <a:latin typeface="Montserrat"/>
              </a:rPr>
              <a:t>требует ремонта?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32000" y="1458000"/>
            <a:ext cx="1224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Рекомендация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40000" y="2754000"/>
            <a:ext cx="1152000" cy="540000"/>
          </a:xfrm>
          <a:prstGeom prst="roundRect">
            <a:avLst>
              <a:gd name="adj" fmla="val 18000"/>
            </a:avLst>
          </a:prstGeom>
          <a:solidFill>
            <a:srgbClr val="FFD6E4"/>
          </a:solidFill>
          <a:ln w="12700">
            <a:solidFill>
              <a:srgbClr val="520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000" b="0">
                <a:solidFill>
                  <a:srgbClr val="1C1D22"/>
                </a:solidFill>
                <a:latin typeface="Montserrat"/>
              </a:rPr>
              <a:t>Состояние в реестр</a:t>
            </a:r>
          </a:p>
        </p:txBody>
      </p:sp>
      <p:sp>
        <p:nvSpPr>
          <p:cNvPr id="25" name="Oval 24"/>
          <p:cNvSpPr/>
          <p:nvPr/>
        </p:nvSpPr>
        <p:spPr>
          <a:xfrm>
            <a:off x="11304000" y="5454000"/>
            <a:ext cx="324000" cy="324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10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>
            <a:stCxn id="11" idx="3"/>
            <a:endCxn id="13" idx="1"/>
          </p:cNvCxnSpPr>
          <p:nvPr/>
        </p:nvCxnSpPr>
        <p:spPr>
          <a:xfrm>
            <a:off x="1979999" y="1727999"/>
            <a:ext cx="252001" cy="1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3" idx="3"/>
            <a:endCxn id="14" idx="1"/>
          </p:cNvCxnSpPr>
          <p:nvPr/>
        </p:nvCxnSpPr>
        <p:spPr>
          <a:xfrm flipV="1">
            <a:off x="3456000" y="1728000"/>
            <a:ext cx="215999" cy="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4" idx="2"/>
            <a:endCxn id="15" idx="0"/>
          </p:cNvCxnSpPr>
          <p:nvPr/>
        </p:nvCxnSpPr>
        <p:spPr>
          <a:xfrm flipH="1">
            <a:off x="4283999" y="1998000"/>
            <a:ext cx="0" cy="756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5" idx="3"/>
            <a:endCxn id="16" idx="1"/>
          </p:cNvCxnSpPr>
          <p:nvPr/>
        </p:nvCxnSpPr>
        <p:spPr>
          <a:xfrm>
            <a:off x="4895999" y="3024000"/>
            <a:ext cx="216001" cy="1296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cxnSpLocks/>
            <a:stCxn id="16" idx="3"/>
            <a:endCxn id="17" idx="1"/>
          </p:cNvCxnSpPr>
          <p:nvPr/>
        </p:nvCxnSpPr>
        <p:spPr>
          <a:xfrm flipV="1">
            <a:off x="6336000" y="1728000"/>
            <a:ext cx="216000" cy="2592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17" idx="2"/>
            <a:endCxn id="18" idx="0"/>
          </p:cNvCxnSpPr>
          <p:nvPr/>
        </p:nvCxnSpPr>
        <p:spPr>
          <a:xfrm flipH="1">
            <a:off x="7164000" y="1998000"/>
            <a:ext cx="0" cy="756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18" idx="3"/>
            <a:endCxn id="19" idx="1"/>
          </p:cNvCxnSpPr>
          <p:nvPr/>
        </p:nvCxnSpPr>
        <p:spPr>
          <a:xfrm>
            <a:off x="7776000" y="3024000"/>
            <a:ext cx="216000" cy="1296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19" idx="2"/>
            <a:endCxn id="20" idx="0"/>
          </p:cNvCxnSpPr>
          <p:nvPr/>
        </p:nvCxnSpPr>
        <p:spPr>
          <a:xfrm flipH="1">
            <a:off x="8604000" y="4590000"/>
            <a:ext cx="0" cy="756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20" idx="3"/>
            <a:endCxn id="21" idx="1"/>
          </p:cNvCxnSpPr>
          <p:nvPr/>
        </p:nvCxnSpPr>
        <p:spPr>
          <a:xfrm flipV="1">
            <a:off x="9216000" y="5616000"/>
            <a:ext cx="360000" cy="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cxnSpLocks/>
            <a:stCxn id="21" idx="0"/>
          </p:cNvCxnSpPr>
          <p:nvPr/>
        </p:nvCxnSpPr>
        <p:spPr>
          <a:xfrm rot="5400000" flipH="1" flipV="1">
            <a:off x="8244000" y="3600000"/>
            <a:ext cx="3348000" cy="252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21" idx="3"/>
            <a:endCxn id="25" idx="1"/>
          </p:cNvCxnSpPr>
          <p:nvPr/>
        </p:nvCxnSpPr>
        <p:spPr>
          <a:xfrm flipV="1">
            <a:off x="10008000" y="5616000"/>
            <a:ext cx="1296000" cy="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cxnSpLocks/>
            <a:stCxn id="20" idx="0"/>
            <a:endCxn id="24" idx="2"/>
          </p:cNvCxnSpPr>
          <p:nvPr/>
        </p:nvCxnSpPr>
        <p:spPr>
          <a:xfrm rot="5400000" flipH="1" flipV="1">
            <a:off x="8784000" y="3114000"/>
            <a:ext cx="2052000" cy="2412000"/>
          </a:xfrm>
          <a:prstGeom prst="bentConnector3">
            <a:avLst>
              <a:gd name="adj1" fmla="val 22914"/>
            </a:avLst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cxnSpLocks/>
            <a:stCxn id="23" idx="1"/>
          </p:cNvCxnSpPr>
          <p:nvPr/>
        </p:nvCxnSpPr>
        <p:spPr>
          <a:xfrm rot="10800000" flipV="1">
            <a:off x="7776000" y="1728000"/>
            <a:ext cx="1656000" cy="1242000"/>
          </a:xfrm>
          <a:prstGeom prst="bentConnector3">
            <a:avLst/>
          </a:prstGeom>
          <a:ln w="15875">
            <a:solidFill>
              <a:srgbClr val="5209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22392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ML-КОНВЕЙЕР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>
                <a:solidFill>
                  <a:srgbClr val="520978"/>
                </a:solidFill>
                <a:latin typeface="Montserrat"/>
              </a:rPr>
              <a:t>Журналы СМВУ</a:t>
            </a:r>
          </a:p>
          <a:p>
            <a:pPr algn="ctr"/>
            <a:r>
              <a:rPr sz="1200" b="0">
                <a:solidFill>
                  <a:srgbClr val="1C1D22"/>
                </a:solidFill>
                <a:latin typeface="Montserrat"/>
              </a:rPr>
              <a:t>2019–2026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4000" y="1188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>
                <a:solidFill>
                  <a:srgbClr val="520978"/>
                </a:solidFill>
                <a:latin typeface="Montserrat"/>
              </a:rPr>
              <a:t>Нормализация</a:t>
            </a:r>
          </a:p>
          <a:p>
            <a:pPr algn="ctr"/>
            <a:r>
              <a:rPr sz="1200" b="0">
                <a:solidFill>
                  <a:srgbClr val="1C1D22"/>
                </a:solidFill>
                <a:latin typeface="Montserrat"/>
              </a:rPr>
              <a:t>профили датчиков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68000" y="1188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>
                <a:solidFill>
                  <a:srgbClr val="520978"/>
                </a:solidFill>
                <a:latin typeface="Montserrat"/>
              </a:rPr>
              <a:t>Витрины</a:t>
            </a:r>
          </a:p>
          <a:p>
            <a:pPr algn="ctr"/>
            <a:r>
              <a:rPr sz="1200" b="0">
                <a:solidFill>
                  <a:srgbClr val="1C1D22"/>
                </a:solidFill>
                <a:latin typeface="Montserrat"/>
              </a:rPr>
              <a:t>сутки × канал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72000" y="1188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>
                <a:solidFill>
                  <a:srgbClr val="520978"/>
                </a:solidFill>
                <a:latin typeface="Montserrat"/>
              </a:rPr>
              <a:t>Признаки</a:t>
            </a:r>
          </a:p>
          <a:p>
            <a:pPr algn="ctr"/>
            <a:r>
              <a:rPr sz="1200" b="0">
                <a:solidFill>
                  <a:srgbClr val="1C1D22"/>
                </a:solidFill>
                <a:latin typeface="Montserrat"/>
              </a:rPr>
              <a:t>окна 1–90 суток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76000" y="1188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>
                <a:solidFill>
                  <a:srgbClr val="520978"/>
                </a:solidFill>
                <a:latin typeface="Montserrat"/>
              </a:rPr>
              <a:t>LightGBM</a:t>
            </a:r>
          </a:p>
          <a:p>
            <a:pPr algn="ctr"/>
            <a:r>
              <a:rPr sz="1200" b="0">
                <a:solidFill>
                  <a:srgbClr val="1C1D22"/>
                </a:solidFill>
                <a:latin typeface="Montserrat"/>
              </a:rPr>
              <a:t>обучение до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2916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>
                <a:solidFill>
                  <a:srgbClr val="520978"/>
                </a:solidFill>
                <a:latin typeface="Montserrat"/>
              </a:rPr>
              <a:t>Переобучение</a:t>
            </a:r>
          </a:p>
          <a:p>
            <a:pPr algn="ctr"/>
            <a:r>
              <a:rPr sz="1200" b="0">
                <a:solidFill>
                  <a:srgbClr val="1C1D22"/>
                </a:solidFill>
                <a:latin typeface="Montserrat"/>
              </a:rPr>
              <a:t>раз в неделю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4000" y="2916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>
                <a:solidFill>
                  <a:srgbClr val="520978"/>
                </a:solidFill>
                <a:latin typeface="Montserrat"/>
              </a:rPr>
              <a:t>Метки из решений</a:t>
            </a:r>
          </a:p>
          <a:p>
            <a:pPr algn="ctr"/>
            <a:r>
              <a:rPr sz="1200" b="0">
                <a:solidFill>
                  <a:srgbClr val="1C1D22"/>
                </a:solidFill>
                <a:latin typeface="Montserrat"/>
              </a:rPr>
              <a:t>проверяет аналитик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68000" y="2916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>
                <a:solidFill>
                  <a:srgbClr val="520978"/>
                </a:solidFill>
                <a:latin typeface="Montserrat"/>
              </a:rPr>
              <a:t>Журнал и исходы</a:t>
            </a:r>
          </a:p>
          <a:p>
            <a:pPr algn="ctr"/>
            <a:r>
              <a:rPr sz="1200" b="0">
                <a:solidFill>
                  <a:srgbClr val="1C1D22"/>
                </a:solidFill>
                <a:latin typeface="Montserrat"/>
              </a:rPr>
              <a:t>что сбылось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72000" y="2916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>
                <a:solidFill>
                  <a:srgbClr val="520978"/>
                </a:solidFill>
                <a:latin typeface="Montserrat"/>
              </a:rPr>
              <a:t>Уровни риска</a:t>
            </a:r>
          </a:p>
          <a:p>
            <a:pPr algn="ctr"/>
            <a:r>
              <a:rPr sz="1200" b="0">
                <a:solidFill>
                  <a:srgbClr val="1C1D22"/>
                </a:solidFill>
                <a:latin typeface="Montserrat"/>
              </a:rPr>
              <a:t>пороги по точности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76000" y="2916000"/>
            <a:ext cx="2015999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>
                <a:solidFill>
                  <a:srgbClr val="520978"/>
                </a:solidFill>
                <a:latin typeface="Montserrat"/>
              </a:rPr>
              <a:t>Тест 2026</a:t>
            </a:r>
          </a:p>
          <a:p>
            <a:pPr algn="ctr"/>
            <a:r>
              <a:rPr sz="1200" b="0">
                <a:solidFill>
                  <a:srgbClr val="1C1D22"/>
                </a:solidFill>
                <a:latin typeface="Montserrat"/>
              </a:rPr>
              <a:t>отложенный год</a:t>
            </a:r>
          </a:p>
        </p:txBody>
      </p:sp>
      <p:cxnSp>
        <p:nvCxnSpPr>
          <p:cNvPr id="13" name="Connector 12"/>
          <p:cNvCxnSpPr>
            <a:stCxn id="3" idx="3"/>
            <a:endCxn id="4" idx="1"/>
          </p:cNvCxnSpPr>
          <p:nvPr/>
        </p:nvCxnSpPr>
        <p:spPr>
          <a:xfrm flipV="1">
            <a:off x="2375999" y="1728000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4" idx="3"/>
            <a:endCxn id="5" idx="1"/>
          </p:cNvCxnSpPr>
          <p:nvPr/>
        </p:nvCxnSpPr>
        <p:spPr>
          <a:xfrm flipV="1">
            <a:off x="4679999" y="1728000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5" idx="3"/>
            <a:endCxn id="6" idx="1"/>
          </p:cNvCxnSpPr>
          <p:nvPr/>
        </p:nvCxnSpPr>
        <p:spPr>
          <a:xfrm flipV="1">
            <a:off x="6983999" y="1728000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6" idx="3"/>
            <a:endCxn id="7" idx="1"/>
          </p:cNvCxnSpPr>
          <p:nvPr/>
        </p:nvCxnSpPr>
        <p:spPr>
          <a:xfrm flipV="1">
            <a:off x="9287999" y="1728000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7" idx="2"/>
            <a:endCxn id="12" idx="0"/>
          </p:cNvCxnSpPr>
          <p:nvPr/>
        </p:nvCxnSpPr>
        <p:spPr>
          <a:xfrm flipH="1">
            <a:off x="10583999" y="2268000"/>
            <a:ext cx="0" cy="64800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12" idx="1"/>
            <a:endCxn id="11" idx="3"/>
          </p:cNvCxnSpPr>
          <p:nvPr/>
        </p:nvCxnSpPr>
        <p:spPr>
          <a:xfrm flipH="1" flipV="1">
            <a:off x="9287999" y="3456000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11" idx="1"/>
            <a:endCxn id="10" idx="3"/>
          </p:cNvCxnSpPr>
          <p:nvPr/>
        </p:nvCxnSpPr>
        <p:spPr>
          <a:xfrm flipH="1" flipV="1">
            <a:off x="6983999" y="3456000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0" idx="1"/>
            <a:endCxn id="9" idx="3"/>
          </p:cNvCxnSpPr>
          <p:nvPr/>
        </p:nvCxnSpPr>
        <p:spPr>
          <a:xfrm flipH="1" flipV="1">
            <a:off x="4679999" y="3456000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9" idx="1"/>
            <a:endCxn id="8" idx="3"/>
          </p:cNvCxnSpPr>
          <p:nvPr/>
        </p:nvCxnSpPr>
        <p:spPr>
          <a:xfrm flipH="1" flipV="1">
            <a:off x="2375999" y="3456000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8" idx="0"/>
            <a:endCxn id="3" idx="2"/>
          </p:cNvCxnSpPr>
          <p:nvPr/>
        </p:nvCxnSpPr>
        <p:spPr>
          <a:xfrm flipH="1" flipV="1">
            <a:off x="1367999" y="2268000"/>
            <a:ext cx="0" cy="648000"/>
          </a:xfrm>
          <a:prstGeom prst="line">
            <a:avLst/>
          </a:prstGeom>
          <a:ln w="25400">
            <a:solidFill>
              <a:srgbClr val="FF005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0000" y="4320000"/>
            <a:ext cx="5616000" cy="20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3999" y="4446000"/>
            <a:ext cx="5328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Принципы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4878000"/>
            <a:ext cx="5328000" cy="145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Прогноз начала события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Одни признаки в обучении и в работе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Сравнение с простым правилом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2000" y="4320000"/>
            <a:ext cx="5616000" cy="20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35999" y="4446000"/>
            <a:ext cx="5328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Пожар и НСД — без модели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5999" y="4878000"/>
            <a:ext cx="5328000" cy="145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Подтверждённых событий в данных нет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Правила + вероятность по архиву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Пожар: Brier 0,249 против 0,296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45072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РЕЗУЛЬТАТЫ: ТЕСТ 2026 ГОДА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990000"/>
            <a:ext cx="1144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Montserrat"/>
              </a:rPr>
              <a:t>Учили на 2019–2024, пороги — на 2025, проверяли на январе–июне 2026: этих данных модель не видела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404000"/>
            <a:ext cx="3708000" cy="4031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2000" y="1494000"/>
            <a:ext cx="338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0978"/>
                </a:solidFill>
                <a:latin typeface="Montserrat"/>
              </a:rPr>
              <a:t>Отказ датчика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" y="1800000"/>
            <a:ext cx="3384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B7B"/>
                </a:solidFill>
                <a:latin typeface="Montserrat"/>
              </a:rPr>
              <a:t>за сутки вперёд, 10,5 тыс. каналов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2000" y="2070000"/>
            <a:ext cx="3384000" cy="27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C1D22"/>
                </a:solidFill>
                <a:latin typeface="Montserrat"/>
              </a:rPr>
              <a:t>Сбылось из 100 предупреждений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000" y="2322000"/>
            <a:ext cx="792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модель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14000" y="2376000"/>
            <a:ext cx="2016000" cy="162000"/>
          </a:xfrm>
          <a:prstGeom prst="roundRect">
            <a:avLst>
              <a:gd name="adj" fmla="val 50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314000" y="2376000"/>
            <a:ext cx="806400" cy="16200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56400" y="2311200"/>
            <a:ext cx="576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1D22"/>
                </a:solidFill>
                <a:latin typeface="Montserrat"/>
              </a:rPr>
              <a:t>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000" y="2581200"/>
            <a:ext cx="792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правило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14000" y="2635200"/>
            <a:ext cx="2016000" cy="162000"/>
          </a:xfrm>
          <a:prstGeom prst="roundRect">
            <a:avLst>
              <a:gd name="adj" fmla="val 50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314000" y="2635200"/>
            <a:ext cx="201600" cy="162000"/>
          </a:xfrm>
          <a:prstGeom prst="roundRect">
            <a:avLst>
              <a:gd name="adj" fmla="val 50000"/>
            </a:avLst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51600" y="2570400"/>
            <a:ext cx="576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1D22"/>
                </a:solidFill>
                <a:latin typeface="Montserrat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000" y="2898000"/>
            <a:ext cx="3384000" cy="27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C1D22"/>
                </a:solidFill>
                <a:latin typeface="Montserrat"/>
              </a:rPr>
              <a:t>Предупредили о событиях из 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000" y="3150000"/>
            <a:ext cx="792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модель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000" y="3204000"/>
            <a:ext cx="2016000" cy="162000"/>
          </a:xfrm>
          <a:prstGeom prst="roundRect">
            <a:avLst>
              <a:gd name="adj" fmla="val 50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314000" y="3204000"/>
            <a:ext cx="90000" cy="16200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40000" y="3139200"/>
            <a:ext cx="576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1D22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000" y="3409200"/>
            <a:ext cx="792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правило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14000" y="3463200"/>
            <a:ext cx="2016000" cy="162000"/>
          </a:xfrm>
          <a:prstGeom prst="roundRect">
            <a:avLst>
              <a:gd name="adj" fmla="val 50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314000" y="3463200"/>
            <a:ext cx="907200" cy="162000"/>
          </a:xfrm>
          <a:prstGeom prst="roundRect">
            <a:avLst>
              <a:gd name="adj" fmla="val 50000"/>
            </a:avLst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57200" y="3398400"/>
            <a:ext cx="576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1D22"/>
                </a:solidFill>
                <a:latin typeface="Montserrat"/>
              </a:rPr>
              <a:t>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000" y="3726000"/>
            <a:ext cx="3384000" cy="27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C1D22"/>
                </a:solidFill>
                <a:latin typeface="Montserrat"/>
              </a:rPr>
              <a:t>Предупреждений в сутки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000" y="3977999"/>
            <a:ext cx="792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модель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14000" y="4031999"/>
            <a:ext cx="2016000" cy="162000"/>
          </a:xfrm>
          <a:prstGeom prst="roundRect">
            <a:avLst>
              <a:gd name="adj" fmla="val 50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314000" y="4031999"/>
            <a:ext cx="90000" cy="16200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440000" y="3967200"/>
            <a:ext cx="576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1D22"/>
                </a:solidFill>
                <a:latin typeface="Montserrat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2000" y="4237200"/>
            <a:ext cx="792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правило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14000" y="4291200"/>
            <a:ext cx="2016000" cy="162000"/>
          </a:xfrm>
          <a:prstGeom prst="roundRect">
            <a:avLst>
              <a:gd name="adj" fmla="val 50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314000" y="4291200"/>
            <a:ext cx="2016000" cy="162000"/>
          </a:xfrm>
          <a:prstGeom prst="roundRect">
            <a:avLst>
              <a:gd name="adj" fmla="val 50000"/>
            </a:avLst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66000" y="4226400"/>
            <a:ext cx="576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1D22"/>
                </a:solidFill>
                <a:latin typeface="Montserrat"/>
              </a:rPr>
              <a:t>325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2000" y="4590000"/>
            <a:ext cx="3384000" cy="792000"/>
          </a:xfrm>
          <a:prstGeom prst="roundRect">
            <a:avLst>
              <a:gd name="adj" fmla="val 8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2000" y="4608000"/>
            <a:ext cx="3204000" cy="75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1C1D22"/>
                </a:solidFill>
                <a:latin typeface="Montserrat"/>
              </a:rPr>
              <a:t>5 </a:t>
            </a:r>
            <a:r>
              <a:rPr sz="1300" b="0" dirty="0" err="1">
                <a:solidFill>
                  <a:srgbClr val="1C1D22"/>
                </a:solidFill>
                <a:latin typeface="Montserrat"/>
              </a:rPr>
              <a:t>каналов</a:t>
            </a:r>
            <a:r>
              <a:rPr sz="1300" b="0" dirty="0">
                <a:solidFill>
                  <a:srgbClr val="1C1D22"/>
                </a:solidFill>
                <a:latin typeface="Montserrat"/>
              </a:rPr>
              <a:t> в </a:t>
            </a:r>
            <a:r>
              <a:rPr sz="1300" b="0" dirty="0" err="1">
                <a:solidFill>
                  <a:srgbClr val="1C1D22"/>
                </a:solidFill>
                <a:latin typeface="Montserrat"/>
              </a:rPr>
              <a:t>сутки</a:t>
            </a:r>
            <a:r>
              <a:rPr sz="1300" b="0" dirty="0">
                <a:solidFill>
                  <a:srgbClr val="1C1D22"/>
                </a:solidFill>
                <a:latin typeface="Montserrat"/>
              </a:rPr>
              <a:t> — 2 </a:t>
            </a:r>
            <a:r>
              <a:rPr sz="1300" b="0" dirty="0" err="1">
                <a:solidFill>
                  <a:srgbClr val="1C1D22"/>
                </a:solidFill>
                <a:latin typeface="Montserrat"/>
              </a:rPr>
              <a:t>откажут</a:t>
            </a:r>
            <a:r>
              <a:rPr sz="1300" b="0" dirty="0">
                <a:solidFill>
                  <a:srgbClr val="1C1D22"/>
                </a:solidFill>
                <a:latin typeface="Montserrat"/>
              </a:rPr>
              <a:t>, в </a:t>
            </a:r>
            <a:r>
              <a:rPr sz="1300" b="0" dirty="0" err="1">
                <a:solidFill>
                  <a:srgbClr val="1C1D22"/>
                </a:solidFill>
                <a:latin typeface="Montserrat"/>
              </a:rPr>
              <a:t>среднем</a:t>
            </a:r>
            <a:r>
              <a:rPr sz="13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300" b="0" dirty="0" err="1">
                <a:solidFill>
                  <a:srgbClr val="1C1D22"/>
                </a:solidFill>
                <a:latin typeface="Montserrat"/>
              </a:rPr>
              <a:t>через</a:t>
            </a:r>
            <a:r>
              <a:rPr sz="1300" b="0" dirty="0">
                <a:solidFill>
                  <a:srgbClr val="1C1D22"/>
                </a:solidFill>
                <a:latin typeface="Montserrat"/>
              </a:rPr>
              <a:t> 11 ч. У </a:t>
            </a:r>
            <a:r>
              <a:rPr sz="1300" b="0" dirty="0" err="1">
                <a:solidFill>
                  <a:srgbClr val="1C1D22"/>
                </a:solidFill>
                <a:latin typeface="Montserrat"/>
              </a:rPr>
              <a:t>правила</a:t>
            </a:r>
            <a:r>
              <a:rPr sz="1300" b="0" dirty="0">
                <a:solidFill>
                  <a:srgbClr val="1C1D22"/>
                </a:solidFill>
                <a:latin typeface="Montserrat"/>
              </a:rPr>
              <a:t> 325: </a:t>
            </a:r>
            <a:r>
              <a:rPr sz="1300" b="0" dirty="0" err="1">
                <a:solidFill>
                  <a:srgbClr val="1C1D22"/>
                </a:solidFill>
                <a:latin typeface="Montserrat"/>
              </a:rPr>
              <a:t>смена</a:t>
            </a:r>
            <a:r>
              <a:rPr sz="13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300" b="0" dirty="0" err="1">
                <a:solidFill>
                  <a:srgbClr val="1C1D22"/>
                </a:solidFill>
                <a:latin typeface="Montserrat"/>
              </a:rPr>
              <a:t>их</a:t>
            </a:r>
            <a:r>
              <a:rPr sz="13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300" b="0" dirty="0" err="1">
                <a:solidFill>
                  <a:srgbClr val="1C1D22"/>
                </a:solidFill>
                <a:latin typeface="Montserrat"/>
              </a:rPr>
              <a:t>не</a:t>
            </a:r>
            <a:r>
              <a:rPr sz="13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300" b="0" dirty="0" err="1">
                <a:solidFill>
                  <a:srgbClr val="1C1D22"/>
                </a:solidFill>
                <a:latin typeface="Montserrat"/>
              </a:rPr>
              <a:t>проверит</a:t>
            </a:r>
            <a:endParaRPr sz="1300" b="0" dirty="0">
              <a:solidFill>
                <a:srgbClr val="1C1D22"/>
              </a:solidFill>
              <a:latin typeface="Montserrat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230000" y="1404000"/>
            <a:ext cx="3708000" cy="4031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92000" y="1494000"/>
            <a:ext cx="338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0978"/>
                </a:solidFill>
                <a:latin typeface="Montserrat"/>
              </a:rPr>
              <a:t>Метан ≥ 1 %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92000" y="1800000"/>
            <a:ext cx="3384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B7B"/>
                </a:solidFill>
                <a:latin typeface="Montserrat"/>
              </a:rPr>
              <a:t>за сутки вперёд, газовые датчики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92000" y="2070000"/>
            <a:ext cx="3384000" cy="27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C1D22"/>
                </a:solidFill>
                <a:latin typeface="Montserrat"/>
              </a:rPr>
              <a:t>Сбылось из 100 предупреждений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92000" y="2322000"/>
            <a:ext cx="792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модель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83999" y="2376000"/>
            <a:ext cx="2016000" cy="162000"/>
          </a:xfrm>
          <a:prstGeom prst="roundRect">
            <a:avLst>
              <a:gd name="adj" fmla="val 50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183999" y="2376000"/>
            <a:ext cx="161280" cy="16200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81280" y="2311200"/>
            <a:ext cx="576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1D22"/>
                </a:solidFill>
                <a:latin typeface="Montserrat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92000" y="2581200"/>
            <a:ext cx="792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правило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83999" y="2635200"/>
            <a:ext cx="2016000" cy="162000"/>
          </a:xfrm>
          <a:prstGeom prst="roundRect">
            <a:avLst>
              <a:gd name="adj" fmla="val 50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183999" y="2635200"/>
            <a:ext cx="141120" cy="162000"/>
          </a:xfrm>
          <a:prstGeom prst="roundRect">
            <a:avLst>
              <a:gd name="adj" fmla="val 50000"/>
            </a:avLst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361120" y="2570400"/>
            <a:ext cx="576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1D22"/>
                </a:solidFill>
                <a:latin typeface="Montserrat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92000" y="2898000"/>
            <a:ext cx="3384000" cy="27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C1D22"/>
                </a:solidFill>
                <a:latin typeface="Montserrat"/>
              </a:rPr>
              <a:t>Предупредили о событиях из 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92000" y="3150000"/>
            <a:ext cx="792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модель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83999" y="3204000"/>
            <a:ext cx="2016000" cy="162000"/>
          </a:xfrm>
          <a:prstGeom prst="roundRect">
            <a:avLst>
              <a:gd name="adj" fmla="val 50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5183999" y="3204000"/>
            <a:ext cx="1471680" cy="16200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91680" y="3139200"/>
            <a:ext cx="576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1D22"/>
                </a:solidFill>
                <a:latin typeface="Montserrat"/>
              </a:rPr>
              <a:t>73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92000" y="3409200"/>
            <a:ext cx="792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правило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183999" y="3463200"/>
            <a:ext cx="2016000" cy="162000"/>
          </a:xfrm>
          <a:prstGeom prst="roundRect">
            <a:avLst>
              <a:gd name="adj" fmla="val 50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5183999" y="3463200"/>
            <a:ext cx="786240" cy="162000"/>
          </a:xfrm>
          <a:prstGeom prst="roundRect">
            <a:avLst>
              <a:gd name="adj" fmla="val 50000"/>
            </a:avLst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006240" y="3398400"/>
            <a:ext cx="576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1D22"/>
                </a:solidFill>
                <a:latin typeface="Montserrat"/>
              </a:rPr>
              <a:t>39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92000" y="3726000"/>
            <a:ext cx="3384000" cy="27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C1D22"/>
                </a:solidFill>
                <a:latin typeface="Montserrat"/>
              </a:rPr>
              <a:t>Предупреждений в сутки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92000" y="3977999"/>
            <a:ext cx="792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модель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183999" y="4031999"/>
            <a:ext cx="2016000" cy="162000"/>
          </a:xfrm>
          <a:prstGeom prst="roundRect">
            <a:avLst>
              <a:gd name="adj" fmla="val 50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83999" y="4031999"/>
            <a:ext cx="2016000" cy="16200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236000" y="3967200"/>
            <a:ext cx="576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1D22"/>
                </a:solidFill>
                <a:latin typeface="Montserrat"/>
              </a:rPr>
              <a:t>18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92000" y="4237200"/>
            <a:ext cx="792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правило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183999" y="4291200"/>
            <a:ext cx="2016000" cy="162000"/>
          </a:xfrm>
          <a:prstGeom prst="roundRect">
            <a:avLst>
              <a:gd name="adj" fmla="val 50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5183999" y="4291200"/>
            <a:ext cx="1344000" cy="162000"/>
          </a:xfrm>
          <a:prstGeom prst="roundRect">
            <a:avLst>
              <a:gd name="adj" fmla="val 50000"/>
            </a:avLst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564000" y="4226400"/>
            <a:ext cx="576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1D22"/>
                </a:solidFill>
                <a:latin typeface="Montserrat"/>
              </a:rPr>
              <a:t>12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92000" y="4590000"/>
            <a:ext cx="3384000" cy="792000"/>
          </a:xfrm>
          <a:prstGeom prst="roundRect">
            <a:avLst>
              <a:gd name="adj" fmla="val 8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482000" y="4608000"/>
            <a:ext cx="3204000" cy="75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О 73 превышениях из 100 смена знает за сутки — почти вдвое больше, чем по правилу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100000" y="1404000"/>
            <a:ext cx="3708000" cy="4031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262000" y="1494000"/>
            <a:ext cx="3384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0978"/>
                </a:solidFill>
                <a:latin typeface="Montserrat"/>
              </a:rPr>
              <a:t>Подтопление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62000" y="1800000"/>
            <a:ext cx="3384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B7B"/>
                </a:solidFill>
                <a:latin typeface="Montserrat"/>
              </a:rPr>
              <a:t>за сутки вперёд, датчики и насосы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62000" y="2070000"/>
            <a:ext cx="3384000" cy="27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C1D22"/>
                </a:solidFill>
                <a:latin typeface="Montserrat"/>
              </a:rPr>
              <a:t>Сбылось из 100 предупреждений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62000" y="2322000"/>
            <a:ext cx="792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модель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054000" y="2376000"/>
            <a:ext cx="2016000" cy="162000"/>
          </a:xfrm>
          <a:prstGeom prst="roundRect">
            <a:avLst>
              <a:gd name="adj" fmla="val 50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9054000" y="2376000"/>
            <a:ext cx="383040" cy="16200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473040" y="2311200"/>
            <a:ext cx="576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1D22"/>
                </a:solidFill>
                <a:latin typeface="Montserrat"/>
              </a:rPr>
              <a:t>19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62000" y="2581200"/>
            <a:ext cx="792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правило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054000" y="2635200"/>
            <a:ext cx="2016000" cy="162000"/>
          </a:xfrm>
          <a:prstGeom prst="roundRect">
            <a:avLst>
              <a:gd name="adj" fmla="val 50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9054000" y="2635200"/>
            <a:ext cx="241920" cy="162000"/>
          </a:xfrm>
          <a:prstGeom prst="roundRect">
            <a:avLst>
              <a:gd name="adj" fmla="val 50000"/>
            </a:avLst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331920" y="2570400"/>
            <a:ext cx="576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1D22"/>
                </a:solidFill>
                <a:latin typeface="Montserrat"/>
              </a:rPr>
              <a:t>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62000" y="2898000"/>
            <a:ext cx="3384000" cy="27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C1D22"/>
                </a:solidFill>
                <a:latin typeface="Montserrat"/>
              </a:rPr>
              <a:t>Предупредили о событиях из 100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62000" y="3150000"/>
            <a:ext cx="792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модель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054000" y="3204000"/>
            <a:ext cx="2016000" cy="162000"/>
          </a:xfrm>
          <a:prstGeom prst="roundRect">
            <a:avLst>
              <a:gd name="adj" fmla="val 50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9054000" y="3204000"/>
            <a:ext cx="604800" cy="16200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694800" y="3139200"/>
            <a:ext cx="576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1D22"/>
                </a:solidFill>
                <a:latin typeface="Montserrat"/>
              </a:rPr>
              <a:t>30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62000" y="3409200"/>
            <a:ext cx="792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правило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054000" y="3463200"/>
            <a:ext cx="2016000" cy="162000"/>
          </a:xfrm>
          <a:prstGeom prst="roundRect">
            <a:avLst>
              <a:gd name="adj" fmla="val 50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9054000" y="3463200"/>
            <a:ext cx="1068480" cy="162000"/>
          </a:xfrm>
          <a:prstGeom prst="roundRect">
            <a:avLst>
              <a:gd name="adj" fmla="val 50000"/>
            </a:avLst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0158480" y="3398400"/>
            <a:ext cx="576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1D22"/>
                </a:solidFill>
                <a:latin typeface="Montserrat"/>
              </a:rPr>
              <a:t>53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62000" y="3726000"/>
            <a:ext cx="3384000" cy="27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C1D22"/>
                </a:solidFill>
                <a:latin typeface="Montserrat"/>
              </a:rPr>
              <a:t>Предупреждений в сутки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62000" y="3977999"/>
            <a:ext cx="792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модель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054000" y="4031999"/>
            <a:ext cx="2016000" cy="162000"/>
          </a:xfrm>
          <a:prstGeom prst="roundRect">
            <a:avLst>
              <a:gd name="adj" fmla="val 50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9054000" y="4031999"/>
            <a:ext cx="693000" cy="162000"/>
          </a:xfrm>
          <a:prstGeom prst="roundRect">
            <a:avLst>
              <a:gd name="adj" fmla="val 5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783000" y="3967200"/>
            <a:ext cx="576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1D22"/>
                </a:solidFill>
                <a:latin typeface="Montserrat"/>
              </a:rPr>
              <a:t>11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62000" y="4237200"/>
            <a:ext cx="792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правило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054000" y="4291200"/>
            <a:ext cx="2016000" cy="162000"/>
          </a:xfrm>
          <a:prstGeom prst="roundRect">
            <a:avLst>
              <a:gd name="adj" fmla="val 50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9054000" y="4291200"/>
            <a:ext cx="2016000" cy="162000"/>
          </a:xfrm>
          <a:prstGeom prst="roundRect">
            <a:avLst>
              <a:gd name="adj" fmla="val 50000"/>
            </a:avLst>
          </a:prstGeom>
          <a:solidFill>
            <a:srgbClr val="8A83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1106000" y="4226400"/>
            <a:ext cx="576000" cy="251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1D22"/>
                </a:solidFill>
                <a:latin typeface="Montserrat"/>
              </a:rPr>
              <a:t>32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262000" y="4590000"/>
            <a:ext cx="3384000" cy="792000"/>
          </a:xfrm>
          <a:prstGeom prst="roundRect">
            <a:avLst>
              <a:gd name="adj" fmla="val 8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2000" y="4608000"/>
            <a:ext cx="3204000" cy="75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11 предупреждений в сутки вместо 32: сбывается каждое 5-е, у правила — каждое 9-е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60000" y="5580000"/>
            <a:ext cx="11448000" cy="972000"/>
          </a:xfrm>
          <a:prstGeom prst="roundRect">
            <a:avLst>
              <a:gd name="adj" fmla="val 6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540000" y="5634000"/>
            <a:ext cx="11088000" cy="236406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dirty="0">
                <a:solidFill>
                  <a:srgbClr val="FFFFFF"/>
                </a:solidFill>
                <a:latin typeface="Montserrat"/>
              </a:rPr>
              <a:t>«</a:t>
            </a:r>
            <a:r>
              <a:rPr sz="1300" b="0" dirty="0" err="1">
                <a:solidFill>
                  <a:srgbClr val="FFFFFF"/>
                </a:solidFill>
                <a:latin typeface="Montserrat"/>
              </a:rPr>
              <a:t>Правило</a:t>
            </a:r>
            <a:r>
              <a:rPr sz="1300" b="0" dirty="0">
                <a:solidFill>
                  <a:srgbClr val="FFFFFF"/>
                </a:solidFill>
                <a:latin typeface="Montserrat"/>
              </a:rPr>
              <a:t>» — </a:t>
            </a:r>
            <a:r>
              <a:rPr sz="1300" b="0" dirty="0" err="1">
                <a:solidFill>
                  <a:srgbClr val="FFFFFF"/>
                </a:solidFill>
                <a:latin typeface="Montserrat"/>
              </a:rPr>
              <a:t>как</a:t>
            </a:r>
            <a:r>
              <a:rPr sz="13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Montserrat"/>
              </a:rPr>
              <a:t>проверяют</a:t>
            </a:r>
            <a:r>
              <a:rPr sz="13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Montserrat"/>
              </a:rPr>
              <a:t>сейчас</a:t>
            </a:r>
            <a:r>
              <a:rPr sz="1300" b="0" dirty="0">
                <a:solidFill>
                  <a:srgbClr val="FFFFFF"/>
                </a:solidFill>
                <a:latin typeface="Montserrat"/>
              </a:rPr>
              <a:t>: «</a:t>
            </a:r>
            <a:r>
              <a:rPr sz="1300" b="0" dirty="0" err="1">
                <a:solidFill>
                  <a:srgbClr val="FFFFFF"/>
                </a:solidFill>
                <a:latin typeface="Montserrat"/>
              </a:rPr>
              <a:t>был</a:t>
            </a:r>
            <a:r>
              <a:rPr sz="13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Montserrat"/>
              </a:rPr>
              <a:t>сбой</a:t>
            </a:r>
            <a:r>
              <a:rPr sz="1300" b="0" dirty="0">
                <a:solidFill>
                  <a:srgbClr val="FFFFFF"/>
                </a:solidFill>
                <a:latin typeface="Montserrat"/>
              </a:rPr>
              <a:t>, </a:t>
            </a:r>
            <a:r>
              <a:rPr sz="1300" b="0" dirty="0" err="1">
                <a:solidFill>
                  <a:srgbClr val="FFFFFF"/>
                </a:solidFill>
                <a:latin typeface="Montserrat"/>
              </a:rPr>
              <a:t>тревога</a:t>
            </a:r>
            <a:r>
              <a:rPr sz="13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Montserrat"/>
              </a:rPr>
              <a:t>или</a:t>
            </a:r>
            <a:r>
              <a:rPr sz="13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Montserrat"/>
              </a:rPr>
              <a:t>метан</a:t>
            </a:r>
            <a:r>
              <a:rPr sz="1300" b="0" dirty="0">
                <a:solidFill>
                  <a:srgbClr val="FFFFFF"/>
                </a:solidFill>
                <a:latin typeface="Montserrat"/>
              </a:rPr>
              <a:t> ≥ 0,5 % </a:t>
            </a:r>
            <a:r>
              <a:rPr sz="1300" b="0" dirty="0" err="1">
                <a:solidFill>
                  <a:srgbClr val="FFFFFF"/>
                </a:solidFill>
                <a:latin typeface="Montserrat"/>
              </a:rPr>
              <a:t>за</a:t>
            </a:r>
            <a:r>
              <a:rPr sz="13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Montserrat"/>
              </a:rPr>
              <a:t>неделю</a:t>
            </a:r>
            <a:r>
              <a:rPr sz="1300" b="0" dirty="0">
                <a:solidFill>
                  <a:srgbClr val="FFFFFF"/>
                </a:solidFill>
                <a:latin typeface="Montserrat"/>
              </a:rPr>
              <a:t> — </a:t>
            </a:r>
            <a:r>
              <a:rPr sz="1300" b="0" dirty="0" err="1">
                <a:solidFill>
                  <a:srgbClr val="FFFFFF"/>
                </a:solidFill>
                <a:latin typeface="Montserrat"/>
              </a:rPr>
              <a:t>проверить</a:t>
            </a:r>
            <a:r>
              <a:rPr sz="1300" b="0" dirty="0">
                <a:solidFill>
                  <a:srgbClr val="FFFFFF"/>
                </a:solidFill>
                <a:latin typeface="Montserrat"/>
              </a:rPr>
              <a:t>».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45072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РЕЗУЛЬТАТЫ: ТЕСТ 2026 ГОДА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0000" y="1188000"/>
          <a:ext cx="11447999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Задача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ROC-AUC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PR-AUC (случайная)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Высокий: точность / полнота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Правило: точность / полнота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Отказ датчика, 24 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0,112 (0,006)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0,21 / 0,09 · 32 в сутки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0,10 / 0,45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Метан ≥ 1 %, 24 ч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0,94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0,188 (0,004)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0,08 / 0,74 · 20 в сутки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0,07 / 0,39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Подтопление, 24 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0,179 (0,040)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0,15 / 0,46 · 21 в сутки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1D22"/>
                          </a:solidFill>
                          <a:latin typeface="Montserrat"/>
                        </a:rPr>
                        <a:t>0,13 / 0,54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60000" y="3348000"/>
            <a:ext cx="2736000" cy="15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3999" y="3456000"/>
            <a:ext cx="2448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0053"/>
                </a:solidFill>
                <a:latin typeface="Montserrat"/>
              </a:rPr>
              <a:t>×33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3999" y="4031999"/>
            <a:ext cx="2448000" cy="79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точнее случайного выбора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0" y="3348000"/>
            <a:ext cx="2736000" cy="15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4000" y="3456000"/>
            <a:ext cx="2448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0053"/>
                </a:solidFill>
                <a:latin typeface="Montserrat"/>
              </a:rPr>
              <a:t>74 %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4000" y="4031999"/>
            <a:ext cx="2448000" cy="79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превышений метана ловит модель (правило — 39 %)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0000" y="3348000"/>
            <a:ext cx="2736000" cy="15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999" y="3456000"/>
            <a:ext cx="2448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0053"/>
                </a:solidFill>
                <a:latin typeface="Montserrat"/>
              </a:rPr>
              <a:t>12 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999" y="4031999"/>
            <a:ext cx="2448000" cy="79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упреждение прогноза отказа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0" y="3348000"/>
            <a:ext cx="2736000" cy="15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0" y="3456000"/>
            <a:ext cx="2448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0053"/>
                </a:solidFill>
                <a:latin typeface="Montserrat"/>
              </a:rPr>
              <a:t>×42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031999"/>
            <a:ext cx="2448000" cy="79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сжатие потока тревог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5112000"/>
            <a:ext cx="11448000" cy="1080000"/>
          </a:xfrm>
          <a:prstGeom prst="roundRect">
            <a:avLst>
              <a:gd name="adj" fmla="val 6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0000" y="5220000"/>
            <a:ext cx="11088000" cy="9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0053"/>
                </a:solidFill>
                <a:latin typeface="Montserrat"/>
              </a:rPr>
              <a:t>Уровни риска выбраны по точности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«Критический» — немедленная реакция, «высокий» — плановая проверка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31464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КАРТА МОНИТОРИНГА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8000" y="1170000"/>
            <a:ext cx="6948000" cy="4383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pic>
        <p:nvPicPr>
          <p:cNvPr id="3" name="Picture 2" descr="monitoring_distr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224000"/>
            <a:ext cx="6840000" cy="4275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60000" y="1152000"/>
            <a:ext cx="4248000" cy="30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03999" y="1278000"/>
            <a:ext cx="3960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Главный экран каждой роли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3999" y="1710000"/>
            <a:ext cx="3960000" cy="239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Своя зона в цвете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Карточки и заявки на объектах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5 режимов окраски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60000" y="4392000"/>
            <a:ext cx="4248000" cy="201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03999" y="4518000"/>
            <a:ext cx="3960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Подложки и этажи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3999" y="4949999"/>
            <a:ext cx="3960000" cy="138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Карта или спутник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Планы этажей объекта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52632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ЗДАНИЕ ПО СНИМКУ И ПЛАНЫ ЭТАЖЕЙ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8000" y="1170000"/>
            <a:ext cx="6948000" cy="4383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2000" y="5616000"/>
            <a:ext cx="6840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План этажа на снимке по 5 контрольным точкам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06000" y="1170000"/>
            <a:ext cx="4356000" cy="313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60000" y="4392000"/>
            <a:ext cx="4248000" cy="413999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ИИ: контур здания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60000" y="4913999"/>
            <a:ext cx="4248000" cy="41399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План на снимок</a:t>
            </a:r>
          </a:p>
        </p:txBody>
      </p:sp>
      <p:cxnSp>
        <p:nvCxnSpPr>
          <p:cNvPr id="10" name="Connector 9"/>
          <p:cNvCxnSpPr>
            <a:stCxn id="8" idx="2"/>
            <a:endCxn id="9" idx="0"/>
          </p:cNvCxnSpPr>
          <p:nvPr/>
        </p:nvCxnSpPr>
        <p:spPr>
          <a:xfrm flipH="1">
            <a:off x="9684000" y="4805999"/>
            <a:ext cx="0" cy="10800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560000" y="5436000"/>
            <a:ext cx="4248000" cy="41399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Этажи</a:t>
            </a:r>
          </a:p>
        </p:txBody>
      </p:sp>
      <p:cxnSp>
        <p:nvCxnSpPr>
          <p:cNvPr id="12" name="Connector 11"/>
          <p:cNvCxnSpPr>
            <a:stCxn id="9" idx="2"/>
            <a:endCxn id="11" idx="0"/>
          </p:cNvCxnSpPr>
          <p:nvPr/>
        </p:nvCxnSpPr>
        <p:spPr>
          <a:xfrm flipH="1">
            <a:off x="9684000" y="5327998"/>
            <a:ext cx="0" cy="108002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560000" y="5957999"/>
            <a:ext cx="4248000" cy="41399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Датчики на этаж</a:t>
            </a:r>
          </a:p>
        </p:txBody>
      </p:sp>
      <p:cxnSp>
        <p:nvCxnSpPr>
          <p:cNvPr id="14" name="Connector 13"/>
          <p:cNvCxnSpPr>
            <a:stCxn id="11" idx="2"/>
            <a:endCxn id="13" idx="0"/>
          </p:cNvCxnSpPr>
          <p:nvPr/>
        </p:nvCxnSpPr>
        <p:spPr>
          <a:xfrm flipH="1">
            <a:off x="9684000" y="5849999"/>
            <a:ext cx="0" cy="10800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071BED9-BDB9-44B1-8683-ABAF2416A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00" y="1413000"/>
            <a:ext cx="6848295" cy="3500999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ED5C3B2-6131-43D7-8CEB-4D379C4A3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0" y="1640594"/>
            <a:ext cx="4221320" cy="21908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45072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ЭПИЗОД ВМЕСТО СОТНИ ТРЕВОГ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8000" y="1170000"/>
            <a:ext cx="6731999" cy="470799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pic>
        <p:nvPicPr>
          <p:cNvPr id="3" name="Picture 2" descr="incident_came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224000"/>
            <a:ext cx="6623999" cy="45999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43999" y="1152000"/>
            <a:ext cx="4464000" cy="52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87999" y="1278000"/>
            <a:ext cx="4176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Что видит диспетчер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87999" y="1710000"/>
            <a:ext cx="4176000" cy="462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Сколько сигналов склеено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Вероятные причины с весами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Приоритет 0–100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Чек-лист «что делать»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Заявка одной кнопкой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34488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ПОЖАР И НСД, КАМЕРЫ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8000" y="1170000"/>
            <a:ext cx="6084000" cy="4673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pic>
        <p:nvPicPr>
          <p:cNvPr id="3" name="Picture 2" descr="fire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224000"/>
            <a:ext cx="5976000" cy="4565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96000" y="1152000"/>
            <a:ext cx="5112000" cy="25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40000" y="1278000"/>
            <a:ext cx="482399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Вероятность по истории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0" y="1710000"/>
            <a:ext cx="4823999" cy="189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Пожар: 7 % → 42 % → 63 % по индексу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В карточке — число похожих случаев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НСД: главное — проверка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96000" y="3888000"/>
            <a:ext cx="5112000" cy="25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40000" y="4014000"/>
            <a:ext cx="482399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Проверка по камерам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0" y="4446000"/>
            <a:ext cx="4823999" cy="189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Ближайшие камеры к тревоге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Кадр на момент тревоги и сейчас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Просмотр — в хронологии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46584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АВАРИИ И МАРШРУТ НАРУШИТЕЛЯ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8000" y="1170000"/>
            <a:ext cx="4356830" cy="529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pic>
        <p:nvPicPr>
          <p:cNvPr id="3" name="Picture 2" descr="intrusion_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224000"/>
            <a:ext cx="4248830" cy="5184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842000" y="1170000"/>
            <a:ext cx="4212000" cy="30294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pic>
        <p:nvPicPr>
          <p:cNvPr id="5" name="Picture 4" descr="monitoring_flo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000" y="1224000"/>
            <a:ext cx="4104000" cy="29214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96000" y="4320000"/>
            <a:ext cx="4104000" cy="20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40000" y="4446000"/>
            <a:ext cx="3816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Маршрут нарушителя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0" y="4878000"/>
            <a:ext cx="3816000" cy="145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Люк → двери → движение, по шагам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• Где сейчас и куда идёт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16000" y="1152000"/>
            <a:ext cx="2592000" cy="52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60000" y="1278000"/>
            <a:ext cx="2304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5 групп аварий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60000" y="1800000"/>
            <a:ext cx="2304000" cy="612000"/>
          </a:xfrm>
          <a:prstGeom prst="roundRect">
            <a:avLst>
              <a:gd name="adj" fmla="val 3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50" b="1">
                <a:solidFill>
                  <a:srgbClr val="520978"/>
                </a:solidFill>
                <a:latin typeface="Montserrat"/>
              </a:rPr>
              <a:t>Пожар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60000" y="2556000"/>
            <a:ext cx="2304000" cy="612000"/>
          </a:xfrm>
          <a:prstGeom prst="roundRect">
            <a:avLst>
              <a:gd name="adj" fmla="val 3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50" b="1">
                <a:solidFill>
                  <a:srgbClr val="520978"/>
                </a:solidFill>
                <a:latin typeface="Montserrat"/>
              </a:rPr>
              <a:t>Наводнение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60000" y="3311999"/>
            <a:ext cx="2304000" cy="612000"/>
          </a:xfrm>
          <a:prstGeom prst="roundRect">
            <a:avLst>
              <a:gd name="adj" fmla="val 3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50" b="1">
                <a:solidFill>
                  <a:srgbClr val="520978"/>
                </a:solidFill>
                <a:latin typeface="Montserrat"/>
              </a:rPr>
              <a:t>Газ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60000" y="4068000"/>
            <a:ext cx="2304000" cy="612000"/>
          </a:xfrm>
          <a:prstGeom prst="roundRect">
            <a:avLst>
              <a:gd name="adj" fmla="val 3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50" b="1">
                <a:solidFill>
                  <a:srgbClr val="520978"/>
                </a:solidFill>
                <a:latin typeface="Montserrat"/>
              </a:rPr>
              <a:t>Проникновение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60000" y="4824000"/>
            <a:ext cx="2304000" cy="612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ontserrat"/>
              </a:rPr>
              <a:t>Температура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0000" y="5616000"/>
            <a:ext cx="2304000" cy="72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6B7B"/>
                </a:solidFill>
                <a:latin typeface="Montserrat"/>
              </a:rPr>
              <a:t>Потеря связи или питания — инцидент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23112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Montserrat"/>
              </a:rPr>
              <a:t>ГРАФИКИ ТО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990000"/>
            <a:ext cx="1144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dirty="0" err="1">
                <a:solidFill>
                  <a:srgbClr val="FFFFFF"/>
                </a:solidFill>
                <a:latin typeface="Montserrat"/>
              </a:rPr>
              <a:t>Система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построила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график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ТО и ТР 2026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года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на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том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же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оборудовании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,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что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 у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заказчика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: 24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объекта</a:t>
            </a:r>
            <a:r>
              <a:rPr sz="1400" b="0" dirty="0">
                <a:solidFill>
                  <a:srgbClr val="FFFFFF"/>
                </a:solidFill>
                <a:latin typeface="Montserrat"/>
              </a:rPr>
              <a:t>, 140 </a:t>
            </a:r>
            <a:r>
              <a:rPr sz="1400" b="0" dirty="0" err="1">
                <a:solidFill>
                  <a:srgbClr val="FFFFFF"/>
                </a:solidFill>
                <a:latin typeface="Montserrat"/>
              </a:rPr>
              <a:t>строк</a:t>
            </a:r>
            <a:endParaRPr sz="14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60000" y="1404000"/>
            <a:ext cx="7200000" cy="295199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6000" y="1638000"/>
            <a:ext cx="180000" cy="180000"/>
          </a:xfrm>
          <a:prstGeom prst="roundRect">
            <a:avLst>
              <a:gd name="adj" fmla="val 15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0000" y="1565999"/>
            <a:ext cx="2340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1D22"/>
                </a:solidFill>
                <a:latin typeface="Montserrat"/>
              </a:rPr>
              <a:t>График заказчика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1999" y="1638000"/>
            <a:ext cx="180000" cy="180000"/>
          </a:xfrm>
          <a:prstGeom prst="roundRect">
            <a:avLst>
              <a:gd name="adj" fmla="val 1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46000" y="1565999"/>
            <a:ext cx="2340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1D22"/>
                </a:solidFill>
                <a:latin typeface="Montserrat"/>
              </a:rPr>
              <a:t>График системы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3680" y="2319096"/>
            <a:ext cx="203039" cy="1532903"/>
          </a:xfrm>
          <a:prstGeom prst="roundRect">
            <a:avLst>
              <a:gd name="adj" fmla="val 12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320" y="2569935"/>
            <a:ext cx="203039" cy="1282064"/>
          </a:xfrm>
          <a:prstGeom prst="roundRect">
            <a:avLst>
              <a:gd name="adj" fmla="val 1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00" y="3887999"/>
            <a:ext cx="564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янв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7680" y="2709290"/>
            <a:ext cx="203039" cy="1142709"/>
          </a:xfrm>
          <a:prstGeom prst="roundRect">
            <a:avLst>
              <a:gd name="adj" fmla="val 12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432320" y="2542064"/>
            <a:ext cx="203039" cy="1309935"/>
          </a:xfrm>
          <a:prstGeom prst="roundRect">
            <a:avLst>
              <a:gd name="adj" fmla="val 1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0000" y="3887999"/>
            <a:ext cx="564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фев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71680" y="2876516"/>
            <a:ext cx="203039" cy="975483"/>
          </a:xfrm>
          <a:prstGeom prst="roundRect">
            <a:avLst>
              <a:gd name="adj" fmla="val 12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996319" y="2597806"/>
            <a:ext cx="203039" cy="1254193"/>
          </a:xfrm>
          <a:prstGeom prst="roundRect">
            <a:avLst>
              <a:gd name="adj" fmla="val 1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04000" y="3887999"/>
            <a:ext cx="564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мар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5680" y="2124000"/>
            <a:ext cx="203039" cy="1727999"/>
          </a:xfrm>
          <a:prstGeom prst="roundRect">
            <a:avLst>
              <a:gd name="adj" fmla="val 12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55680" y="1854000"/>
            <a:ext cx="56304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C1D22"/>
                </a:solidFill>
                <a:latin typeface="Montserrat"/>
              </a:rPr>
              <a:t>62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2569935"/>
            <a:ext cx="203039" cy="1282064"/>
          </a:xfrm>
          <a:prstGeom prst="roundRect">
            <a:avLst>
              <a:gd name="adj" fmla="val 1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68000" y="3887999"/>
            <a:ext cx="564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апр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99680" y="2542064"/>
            <a:ext cx="203039" cy="1309935"/>
          </a:xfrm>
          <a:prstGeom prst="roundRect">
            <a:avLst>
              <a:gd name="adj" fmla="val 12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124320" y="2542064"/>
            <a:ext cx="203039" cy="1309935"/>
          </a:xfrm>
          <a:prstGeom prst="roundRect">
            <a:avLst>
              <a:gd name="adj" fmla="val 1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32000" y="3887999"/>
            <a:ext cx="564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май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63680" y="2932258"/>
            <a:ext cx="203039" cy="919741"/>
          </a:xfrm>
          <a:prstGeom prst="roundRect">
            <a:avLst>
              <a:gd name="adj" fmla="val 12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88320" y="2625677"/>
            <a:ext cx="203039" cy="1226322"/>
          </a:xfrm>
          <a:prstGeom prst="roundRect">
            <a:avLst>
              <a:gd name="adj" fmla="val 1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96000" y="3887999"/>
            <a:ext cx="564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июн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7680" y="2319096"/>
            <a:ext cx="203039" cy="1532903"/>
          </a:xfrm>
          <a:prstGeom prst="roundRect">
            <a:avLst>
              <a:gd name="adj" fmla="val 12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252320" y="2569935"/>
            <a:ext cx="203039" cy="1282064"/>
          </a:xfrm>
          <a:prstGeom prst="roundRect">
            <a:avLst>
              <a:gd name="adj" fmla="val 1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60000" y="3887999"/>
            <a:ext cx="564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июл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91680" y="2681419"/>
            <a:ext cx="203039" cy="1170580"/>
          </a:xfrm>
          <a:prstGeom prst="roundRect">
            <a:avLst>
              <a:gd name="adj" fmla="val 12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816320" y="2542064"/>
            <a:ext cx="203039" cy="1309935"/>
          </a:xfrm>
          <a:prstGeom prst="roundRect">
            <a:avLst>
              <a:gd name="adj" fmla="val 1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4000" y="3887999"/>
            <a:ext cx="564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авг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55680" y="2848645"/>
            <a:ext cx="203039" cy="1003354"/>
          </a:xfrm>
          <a:prstGeom prst="roundRect">
            <a:avLst>
              <a:gd name="adj" fmla="val 12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380320" y="2597806"/>
            <a:ext cx="203039" cy="1254193"/>
          </a:xfrm>
          <a:prstGeom prst="roundRect">
            <a:avLst>
              <a:gd name="adj" fmla="val 1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88000" y="3887999"/>
            <a:ext cx="564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сен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19680" y="2124000"/>
            <a:ext cx="203039" cy="1727999"/>
          </a:xfrm>
          <a:prstGeom prst="roundRect">
            <a:avLst>
              <a:gd name="adj" fmla="val 12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539680" y="1854000"/>
            <a:ext cx="56304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C1D22"/>
                </a:solidFill>
                <a:latin typeface="Montserrat"/>
              </a:rPr>
              <a:t>62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4320" y="2569935"/>
            <a:ext cx="203039" cy="1282064"/>
          </a:xfrm>
          <a:prstGeom prst="roundRect">
            <a:avLst>
              <a:gd name="adj" fmla="val 1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52000" y="3887999"/>
            <a:ext cx="564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окт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83679" y="2542064"/>
            <a:ext cx="203039" cy="1309935"/>
          </a:xfrm>
          <a:prstGeom prst="roundRect">
            <a:avLst>
              <a:gd name="adj" fmla="val 12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508319" y="2542064"/>
            <a:ext cx="203039" cy="1309935"/>
          </a:xfrm>
          <a:prstGeom prst="roundRect">
            <a:avLst>
              <a:gd name="adj" fmla="val 1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6000" y="3887999"/>
            <a:ext cx="564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ноя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47680" y="2932258"/>
            <a:ext cx="203039" cy="919741"/>
          </a:xfrm>
          <a:prstGeom prst="roundRect">
            <a:avLst>
              <a:gd name="adj" fmla="val 12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7072320" y="2625677"/>
            <a:ext cx="203039" cy="1226322"/>
          </a:xfrm>
          <a:prstGeom prst="roundRect">
            <a:avLst>
              <a:gd name="adj" fmla="val 1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80000" y="3887999"/>
            <a:ext cx="564000" cy="25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дек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76000" y="3851999"/>
            <a:ext cx="6768000" cy="0"/>
          </a:xfrm>
          <a:prstGeom prst="line">
            <a:avLst/>
          </a:prstGeom>
          <a:ln w="9525">
            <a:solidFill>
              <a:srgbClr val="6B6B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76000" y="4050000"/>
            <a:ext cx="684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B7B"/>
                </a:solidFill>
                <a:latin typeface="Montserrat"/>
              </a:rPr>
              <a:t>Работ в месяц: у заказчика пики в апреле и октябре, у системы 44–47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6000" y="1404000"/>
            <a:ext cx="4031999" cy="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20000" y="1475999"/>
            <a:ext cx="3744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0053"/>
                </a:solidFill>
                <a:latin typeface="Montserrat"/>
              </a:rPr>
              <a:t>127 из 140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20000" y="1854000"/>
            <a:ext cx="3744000" cy="436461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dirty="0" err="1">
                <a:solidFill>
                  <a:srgbClr val="1C1D22"/>
                </a:solidFill>
                <a:latin typeface="Montserrat"/>
              </a:rPr>
              <a:t>строк</a:t>
            </a:r>
            <a:r>
              <a:rPr sz="1300" b="0" dirty="0">
                <a:solidFill>
                  <a:srgbClr val="1C1D22"/>
                </a:solidFill>
                <a:latin typeface="Montserrat"/>
              </a:rPr>
              <a:t>: </a:t>
            </a:r>
            <a:r>
              <a:rPr sz="1300" b="0" dirty="0" err="1">
                <a:solidFill>
                  <a:srgbClr val="1C1D22"/>
                </a:solidFill>
                <a:latin typeface="Montserrat"/>
              </a:rPr>
              <a:t>столько</a:t>
            </a:r>
            <a:r>
              <a:rPr sz="1300" b="0" dirty="0">
                <a:solidFill>
                  <a:srgbClr val="1C1D22"/>
                </a:solidFill>
                <a:latin typeface="Montserrat"/>
              </a:rPr>
              <a:t> </a:t>
            </a:r>
            <a:r>
              <a:rPr sz="1300" b="0" dirty="0" err="1">
                <a:solidFill>
                  <a:srgbClr val="1C1D22"/>
                </a:solidFill>
                <a:latin typeface="Montserrat"/>
              </a:rPr>
              <a:t>же</a:t>
            </a:r>
            <a:r>
              <a:rPr sz="1300" b="0" dirty="0">
                <a:solidFill>
                  <a:srgbClr val="1C1D22"/>
                </a:solidFill>
                <a:latin typeface="Montserrat"/>
              </a:rPr>
              <a:t> ТО в </a:t>
            </a:r>
            <a:r>
              <a:rPr sz="1300" b="0" dirty="0" err="1">
                <a:solidFill>
                  <a:srgbClr val="1C1D22"/>
                </a:solidFill>
                <a:latin typeface="Montserrat"/>
              </a:rPr>
              <a:t>год</a:t>
            </a:r>
            <a:r>
              <a:rPr sz="1300" b="0" dirty="0">
                <a:solidFill>
                  <a:srgbClr val="1C1D22"/>
                </a:solidFill>
                <a:latin typeface="Montserrat"/>
              </a:rPr>
              <a:t>, </a:t>
            </a:r>
            <a:r>
              <a:rPr sz="1300" b="0" dirty="0" err="1">
                <a:solidFill>
                  <a:srgbClr val="1C1D22"/>
                </a:solidFill>
                <a:latin typeface="Montserrat"/>
              </a:rPr>
              <a:t>сколько</a:t>
            </a:r>
            <a:r>
              <a:rPr sz="1300" b="0" dirty="0">
                <a:solidFill>
                  <a:srgbClr val="1C1D22"/>
                </a:solidFill>
                <a:latin typeface="Montserrat"/>
              </a:rPr>
              <a:t> у </a:t>
            </a:r>
            <a:r>
              <a:rPr sz="1300" b="0" dirty="0" err="1">
                <a:solidFill>
                  <a:srgbClr val="1C1D22"/>
                </a:solidFill>
                <a:latin typeface="Montserrat"/>
              </a:rPr>
              <a:t>заказчика</a:t>
            </a:r>
            <a:r>
              <a:rPr sz="1300" b="0" dirty="0">
                <a:solidFill>
                  <a:srgbClr val="1C1D22"/>
                </a:solidFill>
                <a:latin typeface="Montserrat"/>
              </a:rPr>
              <a:t> — 91 %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6000" y="2411999"/>
            <a:ext cx="4031999" cy="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920000" y="2484000"/>
            <a:ext cx="3744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0053"/>
                </a:solidFill>
                <a:latin typeface="Montserrat"/>
              </a:rPr>
              <a:t>548 → 550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20000" y="2861999"/>
            <a:ext cx="3744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работ за год: заказчик → система, объём тот же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6000" y="3420000"/>
            <a:ext cx="4031999" cy="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20000" y="3491999"/>
            <a:ext cx="3744000" cy="3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0053"/>
                </a:solidFill>
                <a:latin typeface="Montserrat"/>
              </a:rPr>
              <a:t>62 → 47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20000" y="3870000"/>
            <a:ext cx="3744000" cy="43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1D22"/>
                </a:solidFill>
                <a:latin typeface="Montserrat"/>
              </a:rPr>
              <a:t>работ в самый загруженный месяц: бригады без авралов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0000" y="4536000"/>
            <a:ext cx="11448000" cy="201599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0000" y="4608000"/>
            <a:ext cx="11160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20978"/>
                </a:solidFill>
                <a:latin typeface="Montserrat"/>
              </a:rPr>
              <a:t>Как сравнивали: одна строка графика — 12 месяцев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0000" y="4896000"/>
            <a:ext cx="54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C1D22"/>
                </a:solidFill>
                <a:latin typeface="Montserrat"/>
              </a:rPr>
              <a:t>Объект 1 · МОД, 55 шт.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48000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00000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2000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04000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56000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08000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60000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11999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64000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С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16000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О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68000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20000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0000" y="5310000"/>
            <a:ext cx="1080000" cy="223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20978"/>
                </a:solidFill>
                <a:latin typeface="Montserrat"/>
              </a:rPr>
              <a:t>Заказчик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620000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1872000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2124000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2376000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2628000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2880000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3131999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3383999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3636000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3888000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4140000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4392000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40000" y="5580000"/>
            <a:ext cx="1080000" cy="223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20978"/>
                </a:solidFill>
                <a:latin typeface="Montserrat"/>
              </a:rPr>
              <a:t>Система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620000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1872000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2124000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2376000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2628000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2880000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3131999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3383999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3636000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3888000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4140000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4392000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40000" y="5850000"/>
            <a:ext cx="54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B7B"/>
                </a:solidFill>
                <a:latin typeface="Montserrat"/>
              </a:rPr>
              <a:t>4 ТО в те же месяцы — полное совпадение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63999" y="4896000"/>
            <a:ext cx="54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C1D22"/>
                </a:solidFill>
                <a:latin typeface="Montserrat"/>
              </a:rPr>
              <a:t>Объект 2 · газоанализаторы, 56 шт.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272000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Я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523999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Ф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75999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М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028000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80000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М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532000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И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84000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И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036000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А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288000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С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540000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О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792000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Н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044000" y="5094000"/>
            <a:ext cx="367200" cy="19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6B7B"/>
                </a:solidFill>
                <a:latin typeface="Montserrat"/>
              </a:rPr>
              <a:t>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63999" y="5310000"/>
            <a:ext cx="1080000" cy="223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20978"/>
                </a:solidFill>
                <a:latin typeface="Montserrat"/>
              </a:rPr>
              <a:t>Заказчик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343999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7595999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7847999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17" name="Rounded Rectangle 116"/>
          <p:cNvSpPr/>
          <p:nvPr/>
        </p:nvSpPr>
        <p:spPr>
          <a:xfrm>
            <a:off x="8100000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8352000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8604000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8856000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21" name="Rounded Rectangle 120"/>
          <p:cNvSpPr/>
          <p:nvPr/>
        </p:nvSpPr>
        <p:spPr>
          <a:xfrm>
            <a:off x="9107999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22" name="Rounded Rectangle 121"/>
          <p:cNvSpPr/>
          <p:nvPr/>
        </p:nvSpPr>
        <p:spPr>
          <a:xfrm>
            <a:off x="9360000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23" name="Rounded Rectangle 122"/>
          <p:cNvSpPr/>
          <p:nvPr/>
        </p:nvSpPr>
        <p:spPr>
          <a:xfrm>
            <a:off x="9612000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24" name="Rounded Rectangle 123"/>
          <p:cNvSpPr/>
          <p:nvPr/>
        </p:nvSpPr>
        <p:spPr>
          <a:xfrm>
            <a:off x="9864000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B4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25" name="Rounded Rectangle 124"/>
          <p:cNvSpPr/>
          <p:nvPr/>
        </p:nvSpPr>
        <p:spPr>
          <a:xfrm>
            <a:off x="10116000" y="531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6263999" y="5580000"/>
            <a:ext cx="1080000" cy="223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20978"/>
                </a:solidFill>
                <a:latin typeface="Montserrat"/>
              </a:rPr>
              <a:t>Система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7343999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7595999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29" name="Rounded Rectangle 128"/>
          <p:cNvSpPr/>
          <p:nvPr/>
        </p:nvSpPr>
        <p:spPr>
          <a:xfrm>
            <a:off x="7847999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30" name="Rounded Rectangle 129"/>
          <p:cNvSpPr/>
          <p:nvPr/>
        </p:nvSpPr>
        <p:spPr>
          <a:xfrm>
            <a:off x="8100000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31" name="Rounded Rectangle 130"/>
          <p:cNvSpPr/>
          <p:nvPr/>
        </p:nvSpPr>
        <p:spPr>
          <a:xfrm>
            <a:off x="8352000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32" name="Rounded Rectangle 131"/>
          <p:cNvSpPr/>
          <p:nvPr/>
        </p:nvSpPr>
        <p:spPr>
          <a:xfrm>
            <a:off x="8604000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8856000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34" name="Rounded Rectangle 133"/>
          <p:cNvSpPr/>
          <p:nvPr/>
        </p:nvSpPr>
        <p:spPr>
          <a:xfrm>
            <a:off x="9107999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9360000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36" name="Rounded Rectangle 135"/>
          <p:cNvSpPr/>
          <p:nvPr/>
        </p:nvSpPr>
        <p:spPr>
          <a:xfrm>
            <a:off x="9612000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37" name="Rounded Rectangle 136"/>
          <p:cNvSpPr/>
          <p:nvPr/>
        </p:nvSpPr>
        <p:spPr>
          <a:xfrm>
            <a:off x="9864000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38" name="Rounded Rectangle 137"/>
          <p:cNvSpPr/>
          <p:nvPr/>
        </p:nvSpPr>
        <p:spPr>
          <a:xfrm>
            <a:off x="10116000" y="5580000"/>
            <a:ext cx="223200" cy="223200"/>
          </a:xfrm>
          <a:prstGeom prst="roundRect">
            <a:avLst>
              <a:gd name="adj" fmla="val 1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6263999" y="5850000"/>
            <a:ext cx="54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B7B"/>
                </a:solidFill>
                <a:latin typeface="Montserrat"/>
              </a:rPr>
              <a:t>6 ТО — совпало; месяцы сдвинуты, чтобы срезать пик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40000" y="6192000"/>
            <a:ext cx="1116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B7B"/>
                </a:solidFill>
                <a:latin typeface="Montserrat"/>
              </a:rPr>
              <a:t>Не совпало 13 строк: блоки питания и газоанализаторы — у заказчика на разных объектах 4 или 6 ТО в год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49608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КОНСТРУКТОР ДАТЧИКОВ: NO-CODE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2015999" cy="1007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300" b="1">
                <a:solidFill>
                  <a:srgbClr val="520978"/>
                </a:solidFill>
                <a:latin typeface="Montserrat"/>
              </a:rPr>
              <a:t>Сообщение</a:t>
            </a:r>
          </a:p>
          <a:p>
            <a:pPr algn="ctr"/>
            <a:r>
              <a:rPr sz="1100" b="0">
                <a:solidFill>
                  <a:srgbClr val="1C1D22"/>
                </a:solidFill>
                <a:latin typeface="Montserrat"/>
              </a:rPr>
              <a:t>JSON, CSV, строка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4000" y="1188000"/>
            <a:ext cx="2015999" cy="1007999"/>
          </a:xfrm>
          <a:prstGeom prst="roundRect">
            <a:avLst>
              <a:gd name="adj" fmla="val 1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Шаблон формата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ontserrat"/>
              </a:rPr>
              <a:t>без кода</a:t>
            </a:r>
          </a:p>
        </p:txBody>
      </p:sp>
      <p:cxnSp>
        <p:nvCxnSpPr>
          <p:cNvPr id="5" name="Connector 4"/>
          <p:cNvCxnSpPr>
            <a:stCxn id="3" idx="3"/>
            <a:endCxn id="4" idx="1"/>
          </p:cNvCxnSpPr>
          <p:nvPr/>
        </p:nvCxnSpPr>
        <p:spPr>
          <a:xfrm flipV="1">
            <a:off x="2375999" y="1691999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968000" y="1188000"/>
            <a:ext cx="2015999" cy="1007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300" b="1">
                <a:solidFill>
                  <a:srgbClr val="520978"/>
                </a:solidFill>
                <a:latin typeface="Montserrat"/>
              </a:rPr>
              <a:t>Единое событие</a:t>
            </a:r>
          </a:p>
          <a:p>
            <a:pPr algn="ctr"/>
            <a:r>
              <a:rPr sz="1100" b="0">
                <a:solidFill>
                  <a:srgbClr val="1C1D22"/>
                </a:solidFill>
                <a:latin typeface="Montserrat"/>
              </a:rPr>
              <a:t>для всех источников</a:t>
            </a:r>
          </a:p>
        </p:txBody>
      </p:sp>
      <p:cxnSp>
        <p:nvCxnSpPr>
          <p:cNvPr id="7" name="Connector 6"/>
          <p:cNvCxnSpPr>
            <a:stCxn id="4" idx="3"/>
            <a:endCxn id="6" idx="1"/>
          </p:cNvCxnSpPr>
          <p:nvPr/>
        </p:nvCxnSpPr>
        <p:spPr>
          <a:xfrm flipV="1">
            <a:off x="4679999" y="1691999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272000" y="1188000"/>
            <a:ext cx="2015999" cy="1007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300" b="1">
                <a:solidFill>
                  <a:srgbClr val="520978"/>
                </a:solidFill>
                <a:latin typeface="Montserrat"/>
              </a:rPr>
              <a:t>Профиль датчика</a:t>
            </a:r>
          </a:p>
          <a:p>
            <a:pPr algn="ctr"/>
            <a:r>
              <a:rPr sz="1100" b="0">
                <a:solidFill>
                  <a:srgbClr val="1C1D22"/>
                </a:solidFill>
                <a:latin typeface="Montserrat"/>
              </a:rPr>
              <a:t>пороги, коды</a:t>
            </a:r>
          </a:p>
        </p:txBody>
      </p:sp>
      <p:cxnSp>
        <p:nvCxnSpPr>
          <p:cNvPr id="9" name="Connector 8"/>
          <p:cNvCxnSpPr>
            <a:stCxn id="6" idx="3"/>
            <a:endCxn id="8" idx="1"/>
          </p:cNvCxnSpPr>
          <p:nvPr/>
        </p:nvCxnSpPr>
        <p:spPr>
          <a:xfrm flipV="1">
            <a:off x="6983999" y="1691999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576000" y="1188000"/>
            <a:ext cx="2015999" cy="1007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300" b="1">
                <a:solidFill>
                  <a:srgbClr val="520978"/>
                </a:solidFill>
                <a:latin typeface="Montserrat"/>
              </a:rPr>
              <a:t>Конвейер</a:t>
            </a:r>
          </a:p>
          <a:p>
            <a:pPr algn="ctr"/>
            <a:r>
              <a:rPr sz="1100" b="0">
                <a:solidFill>
                  <a:srgbClr val="1C1D22"/>
                </a:solidFill>
                <a:latin typeface="Montserrat"/>
              </a:rPr>
              <a:t>прогноз, карточки</a:t>
            </a:r>
          </a:p>
        </p:txBody>
      </p:sp>
      <p:cxnSp>
        <p:nvCxnSpPr>
          <p:cNvPr id="11" name="Connector 10"/>
          <p:cNvCxnSpPr>
            <a:stCxn id="8" idx="3"/>
            <a:endCxn id="10" idx="1"/>
          </p:cNvCxnSpPr>
          <p:nvPr/>
        </p:nvCxnSpPr>
        <p:spPr>
          <a:xfrm flipV="1">
            <a:off x="9287999" y="1691999"/>
            <a:ext cx="288001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8000" y="2501999"/>
            <a:ext cx="5364000" cy="4634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pic>
        <p:nvPicPr>
          <p:cNvPr id="12" name="Picture 11" descr="constru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2604281"/>
            <a:ext cx="5256000" cy="45260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048000" y="2520000"/>
          <a:ext cx="576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Что подключить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Код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Montserrat"/>
                        </a:rPr>
                        <a:t>Датчик нового формата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0053"/>
                          </a:solidFill>
                          <a:latin typeface="Montserrat"/>
                        </a:rPr>
                        <a:t>не нужен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Montserrat"/>
                        </a:rPr>
                        <a:t>Новый тип датчика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0053"/>
                          </a:solidFill>
                          <a:latin typeface="Montserrat"/>
                        </a:rPr>
                        <a:t>не нужен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Montserrat"/>
                        </a:rPr>
                        <a:t>Регламент ТО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0053"/>
                          </a:solidFill>
                          <a:latin typeface="Montserrat"/>
                        </a:rPr>
                        <a:t>не нужен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Montserrat"/>
                        </a:rPr>
                        <a:t>Система заказчика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0053"/>
                          </a:solidFill>
                          <a:latin typeface="Montserrat"/>
                        </a:rPr>
                        <a:t>не нужен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Montserrat"/>
                        </a:rPr>
                        <a:t>Новая задача прогноза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  <a:latin typeface="Montserrat"/>
                        </a:rPr>
                        <a:t>немного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37512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МОДУЛЬНАЯ АРХИТЕКТУРА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224000"/>
            <a:ext cx="2015999" cy="72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СМВУ (Kafka)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2124000"/>
            <a:ext cx="2015999" cy="72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Файлы CSV/XLSX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3024000"/>
            <a:ext cx="2015999" cy="72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Новые датчики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3924000"/>
            <a:ext cx="2015999" cy="72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Погода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92000" y="1224000"/>
            <a:ext cx="2015999" cy="72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Веб и телефон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92000" y="2124000"/>
            <a:ext cx="2015999" cy="72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REST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92000" y="3024000"/>
            <a:ext cx="2015999" cy="72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Help desk, VMS, 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2000" y="3924000"/>
            <a:ext cx="2015999" cy="72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Grafana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92000" y="1224000"/>
            <a:ext cx="1404000" cy="3420000"/>
          </a:xfrm>
          <a:prstGeom prst="roundRect">
            <a:avLst>
              <a:gd name="adj" fmla="val 1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Адаптеры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сменные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6000" y="1224000"/>
            <a:ext cx="5256000" cy="3420000"/>
          </a:xfrm>
          <a:prstGeom prst="roundRect">
            <a:avLst>
              <a:gd name="adj" fmla="val 5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20000" y="1296000"/>
            <a:ext cx="496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Ядро: независимые модули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0" y="1728000"/>
            <a:ext cx="1548000" cy="75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Приём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93999" y="1728000"/>
            <a:ext cx="1548000" cy="75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Нормализация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8000" y="1728000"/>
            <a:ext cx="1548000" cy="75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Прогноз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0" y="2664000"/>
            <a:ext cx="1548000" cy="75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Инциденты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3999" y="2664000"/>
            <a:ext cx="1548000" cy="75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Заявки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8000" y="2664000"/>
            <a:ext cx="1548000" cy="75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ТО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0" y="3600000"/>
            <a:ext cx="1548000" cy="75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Роли и зоны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93999" y="3600000"/>
            <a:ext cx="1548000" cy="75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Аудит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68000" y="3600000"/>
            <a:ext cx="1548000" cy="75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200" b="1">
                <a:solidFill>
                  <a:srgbClr val="520978"/>
                </a:solidFill>
                <a:latin typeface="Montserrat"/>
              </a:rPr>
              <a:t>Обучение</a:t>
            </a:r>
          </a:p>
        </p:txBody>
      </p:sp>
      <p:cxnSp>
        <p:nvCxnSpPr>
          <p:cNvPr id="23" name="Connector 22"/>
          <p:cNvCxnSpPr>
            <a:stCxn id="3" idx="3"/>
            <a:endCxn id="11" idx="1"/>
          </p:cNvCxnSpPr>
          <p:nvPr/>
        </p:nvCxnSpPr>
        <p:spPr>
          <a:xfrm>
            <a:off x="2375999" y="1584000"/>
            <a:ext cx="216001" cy="135000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4" idx="3"/>
            <a:endCxn id="11" idx="1"/>
          </p:cNvCxnSpPr>
          <p:nvPr/>
        </p:nvCxnSpPr>
        <p:spPr>
          <a:xfrm>
            <a:off x="2375999" y="2484000"/>
            <a:ext cx="216001" cy="45000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5" idx="3"/>
            <a:endCxn id="11" idx="1"/>
          </p:cNvCxnSpPr>
          <p:nvPr/>
        </p:nvCxnSpPr>
        <p:spPr>
          <a:xfrm flipV="1">
            <a:off x="2375999" y="2934000"/>
            <a:ext cx="216001" cy="45000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6" idx="3"/>
            <a:endCxn id="11" idx="1"/>
          </p:cNvCxnSpPr>
          <p:nvPr/>
        </p:nvCxnSpPr>
        <p:spPr>
          <a:xfrm flipV="1">
            <a:off x="2375999" y="2934000"/>
            <a:ext cx="216001" cy="135000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1" idx="3"/>
            <a:endCxn id="12" idx="1"/>
          </p:cNvCxnSpPr>
          <p:nvPr/>
        </p:nvCxnSpPr>
        <p:spPr>
          <a:xfrm flipV="1">
            <a:off x="3996000" y="2934000"/>
            <a:ext cx="180000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2" idx="3"/>
            <a:endCxn id="7" idx="1"/>
          </p:cNvCxnSpPr>
          <p:nvPr/>
        </p:nvCxnSpPr>
        <p:spPr>
          <a:xfrm flipV="1">
            <a:off x="9432000" y="1584000"/>
            <a:ext cx="360000" cy="135000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2" idx="3"/>
            <a:endCxn id="8" idx="1"/>
          </p:cNvCxnSpPr>
          <p:nvPr/>
        </p:nvCxnSpPr>
        <p:spPr>
          <a:xfrm flipV="1">
            <a:off x="9432000" y="2484000"/>
            <a:ext cx="360000" cy="45000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12" idx="3"/>
            <a:endCxn id="9" idx="1"/>
          </p:cNvCxnSpPr>
          <p:nvPr/>
        </p:nvCxnSpPr>
        <p:spPr>
          <a:xfrm>
            <a:off x="9432000" y="2934000"/>
            <a:ext cx="360000" cy="45000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12" idx="3"/>
            <a:endCxn id="10" idx="1"/>
          </p:cNvCxnSpPr>
          <p:nvPr/>
        </p:nvCxnSpPr>
        <p:spPr>
          <a:xfrm>
            <a:off x="9432000" y="2934000"/>
            <a:ext cx="360000" cy="135000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60000" y="4860000"/>
            <a:ext cx="1144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No-code: что меняется без программиста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0000" y="5256000"/>
            <a:ext cx="273600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300" b="1">
                <a:solidFill>
                  <a:srgbClr val="FF0053"/>
                </a:solidFill>
                <a:latin typeface="Montserrat"/>
              </a:rPr>
              <a:t>Конструктор</a:t>
            </a:r>
          </a:p>
          <a:p>
            <a:pPr algn="ctr"/>
            <a:r>
              <a:rPr sz="1150" b="0">
                <a:solidFill>
                  <a:srgbClr val="1C1D22"/>
                </a:solidFill>
                <a:latin typeface="Montserrat"/>
              </a:rPr>
              <a:t>датчики и форматы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40000" y="5256000"/>
            <a:ext cx="273600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300" b="1">
                <a:solidFill>
                  <a:srgbClr val="FF0053"/>
                </a:solidFill>
                <a:latin typeface="Montserrat"/>
              </a:rPr>
              <a:t>Интерфейс</a:t>
            </a:r>
          </a:p>
          <a:p>
            <a:pPr algn="ctr"/>
            <a:r>
              <a:rPr sz="1150" b="0">
                <a:solidFill>
                  <a:srgbClr val="1C1D22"/>
                </a:solidFill>
                <a:latin typeface="Montserrat"/>
              </a:rPr>
              <a:t>зоны, объекты, регламенты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0000" y="5256000"/>
            <a:ext cx="273600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300" b="1">
                <a:solidFill>
                  <a:srgbClr val="FF0053"/>
                </a:solidFill>
                <a:latin typeface="Montserrat"/>
              </a:rPr>
              <a:t>.env</a:t>
            </a:r>
          </a:p>
          <a:p>
            <a:pPr algn="ctr"/>
            <a:r>
              <a:rPr sz="1150" b="0">
                <a:solidFill>
                  <a:srgbClr val="1C1D22"/>
                </a:solidFill>
                <a:latin typeface="Montserrat"/>
              </a:rPr>
              <a:t>системы заказчика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00000" y="5256000"/>
            <a:ext cx="273600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300" b="1">
                <a:solidFill>
                  <a:srgbClr val="FF0053"/>
                </a:solidFill>
                <a:latin typeface="Montserrat"/>
              </a:rPr>
              <a:t>Полигон</a:t>
            </a:r>
          </a:p>
          <a:p>
            <a:pPr algn="ctr"/>
            <a:r>
              <a:rPr sz="1150" b="0">
                <a:solidFill>
                  <a:srgbClr val="1C1D22"/>
                </a:solidFill>
                <a:latin typeface="Montserrat"/>
              </a:rPr>
              <a:t>сценарии учений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43560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НАДЁЖНОСТЬ И БЕЗОПАСНОСТЬ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88000"/>
            <a:ext cx="2736000" cy="15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3999" y="1296000"/>
            <a:ext cx="2448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0053"/>
                </a:solidFill>
                <a:latin typeface="Montserrat"/>
              </a:rPr>
              <a:t>47 мс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1872000"/>
            <a:ext cx="2448000" cy="79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ответ при 20 пользователях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0000" y="1188000"/>
            <a:ext cx="2736000" cy="15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4000" y="1296000"/>
            <a:ext cx="2448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0053"/>
                </a:solidFill>
                <a:latin typeface="Montserrat"/>
              </a:rPr>
              <a:t>≈5 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4000" y="1872000"/>
            <a:ext cx="2448000" cy="79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прогноз по всем объектам (ТЗ ≤ 300 с)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0000" y="1188000"/>
            <a:ext cx="2736000" cy="15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999" y="1296000"/>
            <a:ext cx="2448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0053"/>
                </a:solidFill>
                <a:latin typeface="Montserrat"/>
              </a:rPr>
              <a:t>242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999" y="1872000"/>
            <a:ext cx="2448000" cy="79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автотеста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0000" y="1188000"/>
            <a:ext cx="2736000" cy="151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0" y="1296000"/>
            <a:ext cx="2448000" cy="54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0053"/>
                </a:solidFill>
                <a:latin typeface="Montserrat"/>
              </a:rPr>
              <a:t>≤ 4 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872000"/>
            <a:ext cx="2448000" cy="792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C1D22"/>
                </a:solidFill>
                <a:latin typeface="Montserrat"/>
              </a:rPr>
              <a:t>восстановление из копии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2951999"/>
            <a:ext cx="5616000" cy="34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8001" y="3069000"/>
            <a:ext cx="5328000" cy="251795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dirty="0" err="1">
                <a:solidFill>
                  <a:srgbClr val="520978"/>
                </a:solidFill>
                <a:latin typeface="Montserrat"/>
              </a:rPr>
              <a:t>Безопасность</a:t>
            </a:r>
            <a:endParaRPr sz="1400" b="1" dirty="0">
              <a:solidFill>
                <a:srgbClr val="520978"/>
              </a:solidFill>
              <a:latin typeface="Montserra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3999" y="3509999"/>
            <a:ext cx="5328000" cy="282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TLS, вход через AD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8 ролей и зона на каждом запросе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Журнал действий и просмотров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Чек-лист ввода в эксплуатацию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2000" y="2951999"/>
            <a:ext cx="5616000" cy="34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5999" y="3077999"/>
            <a:ext cx="5328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Эксплуатация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5999" y="3509999"/>
            <a:ext cx="5328000" cy="282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Grafana и оповещения Prometheus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Ежедневные резервные копии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Модели готовы с первого дня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120 страниц документации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52632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МОБИЛЬНОЕ ПРИЛОЖЕНИЕ В БРАУЗЕРЕ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8000" y="1170000"/>
            <a:ext cx="4953498" cy="522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pic>
        <p:nvPicPr>
          <p:cNvPr id="3" name="Picture 2" descr="mobile_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224000"/>
            <a:ext cx="4845498" cy="511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54000" y="1170000"/>
            <a:ext cx="2470180" cy="522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pic>
        <p:nvPicPr>
          <p:cNvPr id="5" name="Picture 4" descr="brigade_4_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000" y="1224000"/>
            <a:ext cx="2362180" cy="511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08000" y="1152000"/>
            <a:ext cx="3600000" cy="295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52000" y="1278000"/>
            <a:ext cx="331199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Без магазина приложений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2000" y="1710000"/>
            <a:ext cx="3311999" cy="2321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Ссылка → «На главный экран»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Тот же вход и роли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8000" y="4320000"/>
            <a:ext cx="3600000" cy="20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52000" y="4446000"/>
            <a:ext cx="3311999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20978"/>
                </a:solidFill>
                <a:latin typeface="Montserrat"/>
              </a:rPr>
              <a:t>На объекте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2000" y="4878000"/>
            <a:ext cx="3311999" cy="145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Бригада: заявки и отчёт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Руководитель: утверждение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52632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ПОДДЕРЖКА И РАЗВИТИЕ: ЧТО ЕСЛИ…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116000"/>
            <a:ext cx="11448000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0000" y="1116000"/>
            <a:ext cx="3096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20978"/>
                </a:solidFill>
                <a:latin typeface="Montserrat"/>
              </a:rPr>
              <a:t>Упал сервер или весь ЦОД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08000" y="1116000"/>
            <a:ext cx="5903999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C1D22"/>
                </a:solidFill>
                <a:latin typeface="Montserrat"/>
              </a:rPr>
              <a:t>Резервный сервер: образы, .env и последняя копия базы → одна команда запуска. Модели внутри образа — прогноз работает сразу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92000" y="1278000"/>
            <a:ext cx="1872000" cy="468000"/>
          </a:xfrm>
          <a:prstGeom prst="roundRect">
            <a:avLst>
              <a:gd name="adj" fmla="val 4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≤ 4 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998000"/>
            <a:ext cx="11448000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998000"/>
            <a:ext cx="3096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20978"/>
                </a:solidFill>
                <a:latin typeface="Montserrat"/>
              </a:rPr>
              <a:t>Пока системы не было, шли события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8000" y="1998000"/>
            <a:ext cx="5903999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C1D22"/>
                </a:solidFill>
                <a:latin typeface="Montserrat"/>
              </a:rPr>
              <a:t>Поток Kafka дочитывается с места остановки, повторы отсекаются; пробел закрывается загрузкой журнала СМВУ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2000" y="2160000"/>
            <a:ext cx="1872000" cy="468000"/>
          </a:xfrm>
          <a:prstGeom prst="roundRect">
            <a:avLst>
              <a:gd name="adj" fmla="val 4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500" b="1">
                <a:solidFill>
                  <a:srgbClr val="520978"/>
                </a:solidFill>
                <a:latin typeface="Montserrat"/>
              </a:rPr>
              <a:t>без дублей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2880000"/>
            <a:ext cx="11448000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0000" y="2880000"/>
            <a:ext cx="3096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20978"/>
                </a:solidFill>
                <a:latin typeface="Montserrat"/>
              </a:rPr>
              <a:t>Обновление сломало работу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8000" y="2880000"/>
            <a:ext cx="5903999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C1D22"/>
                </a:solidFill>
                <a:latin typeface="Montserrat"/>
              </a:rPr>
              <a:t>Откат на прошлую версию образов одной командой; база — из копии, сделанной перед обновлением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92000" y="3041999"/>
            <a:ext cx="1872000" cy="468000"/>
          </a:xfrm>
          <a:prstGeom prst="roundRect">
            <a:avLst>
              <a:gd name="adj" fmla="val 4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500" b="1">
                <a:solidFill>
                  <a:srgbClr val="520978"/>
                </a:solidFill>
                <a:latin typeface="Montserrat"/>
              </a:rPr>
              <a:t>≈ 1 мин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3762000"/>
            <a:ext cx="11448000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0000" y="3762000"/>
            <a:ext cx="3096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20978"/>
                </a:solidFill>
                <a:latin typeface="Montserrat"/>
              </a:rPr>
              <a:t>Новая модель хуже прежней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8000" y="3762000"/>
            <a:ext cx="5903999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C1D22"/>
                </a:solidFill>
                <a:latin typeface="Montserrat"/>
              </a:rPr>
              <a:t>Переобучение раз в неделю: претендент заменяет чемпиона, только если лучше на проверочном годе; откат версии — кнопкой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92000" y="3924000"/>
            <a:ext cx="1872000" cy="468000"/>
          </a:xfrm>
          <a:prstGeom prst="roundRect">
            <a:avLst>
              <a:gd name="adj" fmla="val 4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500" b="1">
                <a:solidFill>
                  <a:srgbClr val="520978"/>
                </a:solidFill>
                <a:latin typeface="Montserrat"/>
              </a:rPr>
              <a:t>0 простоя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" y="4644000"/>
            <a:ext cx="11448000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0000" y="4644000"/>
            <a:ext cx="3096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20978"/>
                </a:solidFill>
                <a:latin typeface="Montserrat"/>
              </a:rPr>
              <a:t>Новый датчик, формат или район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8000" y="4644000"/>
            <a:ext cx="5903999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C1D22"/>
                </a:solidFill>
                <a:latin typeface="Montserrat"/>
              </a:rPr>
              <a:t>Конструктор датчиков, справочники и зоны — в интерфейсе, без релиза и без программиста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92000" y="4806000"/>
            <a:ext cx="1872000" cy="468000"/>
          </a:xfrm>
          <a:prstGeom prst="roundRect">
            <a:avLst>
              <a:gd name="adj" fmla="val 4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500" b="1">
                <a:solidFill>
                  <a:srgbClr val="520978"/>
                </a:solidFill>
                <a:latin typeface="Montserrat"/>
              </a:rPr>
              <a:t>без кода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0000" y="5526000"/>
            <a:ext cx="11448000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0000" y="5526000"/>
            <a:ext cx="3096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20978"/>
                </a:solidFill>
                <a:latin typeface="Montserrat"/>
              </a:rPr>
              <a:t>Сменилась команда поддержки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8000" y="5526000"/>
            <a:ext cx="5903999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C1D22"/>
                </a:solidFill>
                <a:latin typeface="Montserrat"/>
              </a:rPr>
              <a:t>Независимые модули, 242 автотеста, 120 страниц документации, Grafana и оповещения Prometheus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92000" y="5688000"/>
            <a:ext cx="1872000" cy="468000"/>
          </a:xfrm>
          <a:prstGeom prst="roundRect">
            <a:avLst>
              <a:gd name="adj" fmla="val 4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500" b="1">
                <a:solidFill>
                  <a:srgbClr val="520978"/>
                </a:solidFill>
                <a:latin typeface="Montserrat"/>
              </a:rPr>
              <a:t>передаётся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00" y="6443999"/>
            <a:ext cx="11448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ontserrat"/>
              </a:rPr>
              <a:t>Проверено на стенде: полная копия базы — 18 с, восстановление в чистую базу — 14 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40536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УЧЕБНЫЙ КОНТУР И УЧЕНИЯ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8000" y="1170000"/>
            <a:ext cx="6948000" cy="4858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pic>
        <p:nvPicPr>
          <p:cNvPr id="3" name="Picture 2" descr="exerc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224000"/>
            <a:ext cx="6840000" cy="4750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60000" y="1152000"/>
            <a:ext cx="4248000" cy="864000"/>
          </a:xfrm>
          <a:prstGeom prst="roundRect">
            <a:avLst>
              <a:gd name="adj" fmla="val 15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Руководитель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Montserrat"/>
              </a:rPr>
              <a:t>выбирает сценарий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60000" y="2214000"/>
            <a:ext cx="4248000" cy="864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300" b="1">
                <a:solidFill>
                  <a:srgbClr val="520978"/>
                </a:solidFill>
                <a:latin typeface="Montserrat"/>
              </a:rPr>
              <a:t>Симулятор</a:t>
            </a:r>
          </a:p>
          <a:p>
            <a:pPr algn="ctr"/>
            <a:r>
              <a:rPr sz="1150" b="0">
                <a:solidFill>
                  <a:srgbClr val="1C1D22"/>
                </a:solidFill>
                <a:latin typeface="Montserrat"/>
              </a:rPr>
              <a:t>11 сценариев, 6 готовых</a:t>
            </a:r>
          </a:p>
        </p:txBody>
      </p:sp>
      <p:cxnSp>
        <p:nvCxnSpPr>
          <p:cNvPr id="7" name="Connector 6"/>
          <p:cNvCxnSpPr>
            <a:stCxn id="5" idx="2"/>
            <a:endCxn id="6" idx="0"/>
          </p:cNvCxnSpPr>
          <p:nvPr/>
        </p:nvCxnSpPr>
        <p:spPr>
          <a:xfrm flipH="1">
            <a:off x="9684000" y="2016000"/>
            <a:ext cx="0" cy="19800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560000" y="3276000"/>
            <a:ext cx="4248000" cy="864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300" b="1">
                <a:solidFill>
                  <a:srgbClr val="520978"/>
                </a:solidFill>
                <a:latin typeface="Montserrat"/>
              </a:rPr>
              <a:t>Полигон</a:t>
            </a:r>
          </a:p>
          <a:p>
            <a:pPr algn="ctr"/>
            <a:r>
              <a:rPr sz="1150" b="0">
                <a:solidFill>
                  <a:srgbClr val="1C1D22"/>
                </a:solidFill>
                <a:latin typeface="Montserrat"/>
              </a:rPr>
              <a:t>настоящие карточки</a:t>
            </a:r>
          </a:p>
        </p:txBody>
      </p:sp>
      <p:cxnSp>
        <p:nvCxnSpPr>
          <p:cNvPr id="9" name="Connector 8"/>
          <p:cNvCxnSpPr>
            <a:stCxn id="6" idx="2"/>
            <a:endCxn id="8" idx="0"/>
          </p:cNvCxnSpPr>
          <p:nvPr/>
        </p:nvCxnSpPr>
        <p:spPr>
          <a:xfrm flipH="1">
            <a:off x="9684000" y="3078000"/>
            <a:ext cx="0" cy="19800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560000" y="4338000"/>
            <a:ext cx="4248000" cy="864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300" b="1">
                <a:solidFill>
                  <a:srgbClr val="520978"/>
                </a:solidFill>
                <a:latin typeface="Montserrat"/>
              </a:rPr>
              <a:t>Смена</a:t>
            </a:r>
          </a:p>
          <a:p>
            <a:pPr algn="ctr"/>
            <a:r>
              <a:rPr sz="1150" b="0">
                <a:solidFill>
                  <a:srgbClr val="1C1D22"/>
                </a:solidFill>
                <a:latin typeface="Montserrat"/>
              </a:rPr>
              <a:t>реагирует как в жизни</a:t>
            </a:r>
          </a:p>
        </p:txBody>
      </p:sp>
      <p:cxnSp>
        <p:nvCxnSpPr>
          <p:cNvPr id="11" name="Connector 10"/>
          <p:cNvCxnSpPr>
            <a:stCxn id="8" idx="2"/>
            <a:endCxn id="10" idx="0"/>
          </p:cNvCxnSpPr>
          <p:nvPr/>
        </p:nvCxnSpPr>
        <p:spPr>
          <a:xfrm flipH="1">
            <a:off x="9684000" y="4140000"/>
            <a:ext cx="0" cy="19800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560000" y="5400000"/>
            <a:ext cx="4248000" cy="864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300" b="1">
                <a:solidFill>
                  <a:srgbClr val="520978"/>
                </a:solidFill>
                <a:latin typeface="Montserrat"/>
              </a:rPr>
              <a:t>Разбор</a:t>
            </a:r>
          </a:p>
          <a:p>
            <a:pPr algn="ctr"/>
            <a:r>
              <a:rPr sz="1150" b="0">
                <a:solidFill>
                  <a:srgbClr val="1C1D22"/>
                </a:solidFill>
                <a:latin typeface="Montserrat"/>
              </a:rPr>
              <a:t>норматив, решения</a:t>
            </a:r>
          </a:p>
        </p:txBody>
      </p:sp>
      <p:cxnSp>
        <p:nvCxnSpPr>
          <p:cNvPr id="13" name="Connector 12"/>
          <p:cNvCxnSpPr>
            <a:stCxn id="10" idx="2"/>
            <a:endCxn id="12" idx="0"/>
          </p:cNvCxnSpPr>
          <p:nvPr/>
        </p:nvCxnSpPr>
        <p:spPr>
          <a:xfrm flipH="1">
            <a:off x="9684000" y="5202000"/>
            <a:ext cx="0" cy="19800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28440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СООТВЕТСТВИЕ ТЗ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0000" y="1152000"/>
          <a:ext cx="11448000" cy="52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81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ontserrat"/>
                        </a:rPr>
                        <a:t>Раздел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ontserrat"/>
                        </a:rPr>
                        <a:t>Требование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ontserrat"/>
                        </a:rPr>
                        <a:t>Реализация</a:t>
                      </a:r>
                    </a:p>
                  </a:txBody>
                  <a:tcPr>
                    <a:solidFill>
                      <a:srgbClr val="5209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1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1D22"/>
                          </a:solidFill>
                          <a:latin typeface="Montserrat"/>
                        </a:rPr>
                        <a:t>§3, §8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1D22"/>
                          </a:solidFill>
                          <a:latin typeface="Montserrat"/>
                        </a:rPr>
                        <a:t>Планирование ТО, черновики заявок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1D22"/>
                          </a:solidFill>
                          <a:latin typeface="Montserrat"/>
                        </a:rPr>
                        <a:t>План и графики ТО и ППР, заявки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81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1D22"/>
                          </a:solidFill>
                          <a:latin typeface="Montserrat"/>
                        </a:rPr>
                        <a:t>§4, §6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1D22"/>
                          </a:solidFill>
                          <a:latin typeface="Montserrat"/>
                        </a:rPr>
                        <a:t>Отказы, пожар, подтопление, НСД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1D22"/>
                          </a:solidFill>
                          <a:latin typeface="Montserrat"/>
                        </a:rPr>
                        <a:t>3 модели на 24 ч, индикаторы, маршрут нарушителя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81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1D22"/>
                          </a:solidFill>
                          <a:latin typeface="Montserrat"/>
                        </a:rPr>
                        <a:t>§5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1D22"/>
                          </a:solidFill>
                          <a:latin typeface="Montserrat"/>
                        </a:rPr>
                        <a:t>Не заменяет диспетчера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1D22"/>
                          </a:solidFill>
                          <a:latin typeface="Montserrat"/>
                        </a:rPr>
                        <a:t>Решение — за человеком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81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1D22"/>
                          </a:solidFill>
                          <a:latin typeface="Montserrat"/>
                        </a:rPr>
                        <a:t>§7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1D22"/>
                          </a:solidFill>
                          <a:latin typeface="Montserrat"/>
                        </a:rPr>
                        <a:t>CSV, XLSX, JSON, XML, GeoJSON, WKT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1D22"/>
                          </a:solidFill>
                          <a:latin typeface="Montserrat"/>
                        </a:rPr>
                        <a:t>Импорт, REST, GeoJSON/WKT, планы этажей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81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1D22"/>
                          </a:solidFill>
                          <a:latin typeface="Montserrat"/>
                        </a:rPr>
                        <a:t>§9, §11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1D22"/>
                          </a:solidFill>
                          <a:latin typeface="Montserrat"/>
                        </a:rPr>
                        <a:t>≤ 300 с, 20 пользователей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1D22"/>
                          </a:solidFill>
                          <a:latin typeface="Montserrat"/>
                        </a:rPr>
                        <a:t>≈5 с прогноз, 47 мс ответ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81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1D22"/>
                          </a:solidFill>
                          <a:latin typeface="Montserrat"/>
                        </a:rPr>
                        <a:t>§10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1D22"/>
                          </a:solidFill>
                          <a:latin typeface="Montserrat"/>
                        </a:rPr>
                        <a:t>Дашборд, карта, журнал, уведомления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1D22"/>
                          </a:solidFill>
                          <a:latin typeface="Montserrat"/>
                        </a:rPr>
                        <a:t>Мониторинг, журнал прогнозов, WebSocket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81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1D22"/>
                          </a:solidFill>
                          <a:latin typeface="Montserrat"/>
                        </a:rPr>
                        <a:t>§11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1D22"/>
                          </a:solidFill>
                          <a:latin typeface="Montserrat"/>
                        </a:rPr>
                        <a:t>TLS, LDAP/AD, RBAC, журнал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1D22"/>
                          </a:solidFill>
                          <a:latin typeface="Montserrat"/>
                        </a:rPr>
                        <a:t>TLS, AD, 8 ролей и зоны, журнал действий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81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1D22"/>
                          </a:solidFill>
                          <a:latin typeface="Montserrat"/>
                        </a:rPr>
                        <a:t>§12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1D22"/>
                          </a:solidFill>
                          <a:latin typeface="Montserrat"/>
                        </a:rPr>
                        <a:t>Пути «пожар» и «подтопление»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1D22"/>
                          </a:solidFill>
                          <a:latin typeface="Montserrat"/>
                        </a:rPr>
                        <a:t>Карточка → решение → заявка → обучение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781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1D22"/>
                          </a:solidFill>
                          <a:latin typeface="Montserrat"/>
                        </a:rPr>
                        <a:t>§13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1D22"/>
                          </a:solidFill>
                          <a:latin typeface="Montserrat"/>
                        </a:rPr>
                        <a:t>Метео, только чтение, контуры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1D22"/>
                          </a:solidFill>
                          <a:latin typeface="Montserrat"/>
                        </a:rPr>
                        <a:t>Open-Meteo, адаптеры на чтение, контуры данных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78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C1D22"/>
                          </a:solidFill>
                          <a:latin typeface="Montserrat"/>
                        </a:rPr>
                        <a:t>§14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1D22"/>
                          </a:solidFill>
                          <a:latin typeface="Montserrat"/>
                        </a:rPr>
                        <a:t>Документация, методы, библиотеки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C1D22"/>
                          </a:solidFill>
                          <a:latin typeface="Montserrat"/>
                        </a:rPr>
                        <a:t>120 страниц, руководства по ролям, библиотеки</a:t>
                      </a:r>
                    </a:p>
                  </a:txBody>
                  <a:tcPr>
                    <a:solidFill>
                      <a:srgbClr val="F3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40536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ЭФФЕКТ ДЛЯ ЭКСПЛУАТАЦИИ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20000" y="1134000"/>
            <a:ext cx="36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Было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0" y="1134000"/>
            <a:ext cx="3600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0053"/>
                </a:solidFill>
                <a:latin typeface="Montserrat"/>
              </a:rPr>
              <a:t>Стало с системой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1458000"/>
            <a:ext cx="11448000" cy="9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0000" y="1458000"/>
            <a:ext cx="1944000" cy="95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20978"/>
                </a:solidFill>
                <a:latin typeface="Montserrat"/>
              </a:rPr>
              <a:t>Тревоги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1458000"/>
            <a:ext cx="3384000" cy="95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B"/>
                </a:solidFill>
                <a:latin typeface="Montserrat"/>
              </a:rPr>
              <a:t>≈ 3 000 сигналов в сутки, каждый смотрит диспетчер</a:t>
            </a:r>
          </a:p>
        </p:txBody>
      </p:sp>
      <p:sp>
        <p:nvSpPr>
          <p:cNvPr id="8" name="Chevron 7"/>
          <p:cNvSpPr/>
          <p:nvPr/>
        </p:nvSpPr>
        <p:spPr>
          <a:xfrm>
            <a:off x="5940000" y="1800000"/>
            <a:ext cx="180000" cy="270000"/>
          </a:xfrm>
          <a:prstGeom prst="chevron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28000" y="1458000"/>
            <a:ext cx="3240000" cy="95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≈ 70 карточек в сутки, у каждой — причина и приоритет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76000" y="1620000"/>
            <a:ext cx="2088000" cy="630000"/>
          </a:xfrm>
          <a:prstGeom prst="roundRect">
            <a:avLst>
              <a:gd name="adj" fmla="val 4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500" b="1">
                <a:solidFill>
                  <a:srgbClr val="520978"/>
                </a:solidFill>
                <a:latin typeface="Montserrat"/>
              </a:rPr>
              <a:t>в 42 раза меньше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2520000"/>
            <a:ext cx="11448000" cy="9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0000" y="2520000"/>
            <a:ext cx="1944000" cy="95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20978"/>
                </a:solidFill>
                <a:latin typeface="Montserrat"/>
              </a:rPr>
              <a:t>Выезды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0000" y="2520000"/>
            <a:ext cx="3384000" cy="95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B"/>
                </a:solidFill>
                <a:latin typeface="Montserrat"/>
              </a:rPr>
              <a:t>«на всякий случай» — причину узнают на месте</a:t>
            </a:r>
          </a:p>
        </p:txBody>
      </p:sp>
      <p:sp>
        <p:nvSpPr>
          <p:cNvPr id="14" name="Chevron 13"/>
          <p:cNvSpPr/>
          <p:nvPr/>
        </p:nvSpPr>
        <p:spPr>
          <a:xfrm>
            <a:off x="5940000" y="2862000"/>
            <a:ext cx="180000" cy="270000"/>
          </a:xfrm>
          <a:prstGeom prst="chevron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28000" y="2520000"/>
            <a:ext cx="3240000" cy="95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до выезда видно: связь, питание, ППР, сварка, работы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76000" y="2682000"/>
            <a:ext cx="2088000" cy="630000"/>
          </a:xfrm>
          <a:prstGeom prst="roundRect">
            <a:avLst>
              <a:gd name="adj" fmla="val 4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500" b="1">
                <a:solidFill>
                  <a:srgbClr val="520978"/>
                </a:solidFill>
                <a:latin typeface="Montserrat"/>
              </a:rPr>
              <a:t>−390 в год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3581999"/>
            <a:ext cx="11448000" cy="9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0000" y="3581999"/>
            <a:ext cx="1944000" cy="95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20978"/>
                </a:solidFill>
                <a:latin typeface="Montserrat"/>
              </a:rPr>
              <a:t>Отказы датчиков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0000" y="3581999"/>
            <a:ext cx="3384000" cy="95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B"/>
                </a:solidFill>
                <a:latin typeface="Montserrat"/>
              </a:rPr>
              <a:t>узнаём, когда датчик уже отказал</a:t>
            </a:r>
          </a:p>
        </p:txBody>
      </p:sp>
      <p:sp>
        <p:nvSpPr>
          <p:cNvPr id="20" name="Chevron 19"/>
          <p:cNvSpPr/>
          <p:nvPr/>
        </p:nvSpPr>
        <p:spPr>
          <a:xfrm>
            <a:off x="5940000" y="3923999"/>
            <a:ext cx="180000" cy="270000"/>
          </a:xfrm>
          <a:prstGeom prst="chevron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8000" y="3581999"/>
            <a:ext cx="3240000" cy="95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список на сутки: 5 каналов, 2 из них откажут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76000" y="3743999"/>
            <a:ext cx="2088000" cy="630000"/>
          </a:xfrm>
          <a:prstGeom prst="roundRect">
            <a:avLst>
              <a:gd name="adj" fmla="val 4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500" b="1">
                <a:solidFill>
                  <a:srgbClr val="520978"/>
                </a:solidFill>
                <a:latin typeface="Montserrat"/>
              </a:rPr>
              <a:t>за ≈ 11 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0000" y="4644000"/>
            <a:ext cx="11448000" cy="9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0000" y="4644000"/>
            <a:ext cx="1944000" cy="95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20978"/>
                </a:solidFill>
                <a:latin typeface="Montserrat"/>
              </a:rPr>
              <a:t>Метан ≥ 1 %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0000" y="4644000"/>
            <a:ext cx="3384000" cy="95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B"/>
                </a:solidFill>
                <a:latin typeface="Montserrat"/>
              </a:rPr>
              <a:t>замечаем по факту превышения</a:t>
            </a:r>
          </a:p>
        </p:txBody>
      </p:sp>
      <p:sp>
        <p:nvSpPr>
          <p:cNvPr id="26" name="Chevron 25"/>
          <p:cNvSpPr/>
          <p:nvPr/>
        </p:nvSpPr>
        <p:spPr>
          <a:xfrm>
            <a:off x="5940000" y="4986000"/>
            <a:ext cx="180000" cy="270000"/>
          </a:xfrm>
          <a:prstGeom prst="chevron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28000" y="4644000"/>
            <a:ext cx="3240000" cy="95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за сутки знаем о 73 превышениях из 100, правило — о 39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76000" y="4806000"/>
            <a:ext cx="2088000" cy="630000"/>
          </a:xfrm>
          <a:prstGeom prst="roundRect">
            <a:avLst>
              <a:gd name="adj" fmla="val 4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500" b="1">
                <a:solidFill>
                  <a:srgbClr val="520978"/>
                </a:solidFill>
                <a:latin typeface="Montserrat"/>
              </a:rPr>
              <a:t>вдвое больше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0000" y="5706000"/>
            <a:ext cx="11448000" cy="95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0000" y="5706000"/>
            <a:ext cx="1944000" cy="95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20978"/>
                </a:solidFill>
                <a:latin typeface="Montserrat"/>
              </a:rPr>
              <a:t>ТО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20000" y="5706000"/>
            <a:ext cx="3384000" cy="95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B7B"/>
                </a:solidFill>
                <a:latin typeface="Montserrat"/>
              </a:rPr>
              <a:t>пики: 62 работы в апреле и октябре</a:t>
            </a:r>
          </a:p>
        </p:txBody>
      </p:sp>
      <p:sp>
        <p:nvSpPr>
          <p:cNvPr id="32" name="Chevron 31"/>
          <p:cNvSpPr/>
          <p:nvPr/>
        </p:nvSpPr>
        <p:spPr>
          <a:xfrm>
            <a:off x="5940000" y="6048000"/>
            <a:ext cx="180000" cy="270000"/>
          </a:xfrm>
          <a:prstGeom prst="chevron">
            <a:avLst/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28000" y="5706000"/>
            <a:ext cx="3240000" cy="95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44–47 работ каждый месяц, тот же объём за год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76000" y="5868000"/>
            <a:ext cx="2088000" cy="630000"/>
          </a:xfrm>
          <a:prstGeom prst="roundRect">
            <a:avLst>
              <a:gd name="adj" fmla="val 4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500" b="1">
                <a:solidFill>
                  <a:srgbClr val="520978"/>
                </a:solidFill>
                <a:latin typeface="Montserrat"/>
              </a:rPr>
              <a:t>без авралов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0399" y="342000"/>
            <a:ext cx="3513912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Montserrat"/>
              </a:rPr>
              <a:t>ЭКОНОМИЧЕСКИЙ ЭФФЕКТ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116000"/>
            <a:ext cx="1655999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ontserrat"/>
              </a:rPr>
              <a:t>Ложные выезды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37599" y="1116000"/>
            <a:ext cx="1461962" cy="93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>
                <a:solidFill>
                  <a:srgbClr val="520978"/>
                </a:solidFill>
                <a:latin typeface="Montserrat"/>
              </a:rPr>
              <a:t>26 000</a:t>
            </a:r>
          </a:p>
          <a:p>
            <a:pPr algn="ctr"/>
            <a:r>
              <a:rPr sz="1150" b="0">
                <a:solidFill>
                  <a:srgbClr val="520978"/>
                </a:solidFill>
                <a:latin typeface="Montserrat"/>
              </a:rPr>
              <a:t>карточек в год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21162" y="1116000"/>
            <a:ext cx="270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2762" y="1116000"/>
            <a:ext cx="1265637" cy="936000"/>
          </a:xfrm>
          <a:prstGeom prst="roundRect">
            <a:avLst>
              <a:gd name="adj" fmla="val 12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>
                <a:solidFill>
                  <a:srgbClr val="520978"/>
                </a:solidFill>
                <a:latin typeface="Montserrat"/>
              </a:rPr>
              <a:t>5 %</a:t>
            </a:r>
          </a:p>
          <a:p>
            <a:pPr algn="ctr"/>
            <a:r>
              <a:rPr sz="1150" b="0">
                <a:solidFill>
                  <a:srgbClr val="520978"/>
                </a:solidFill>
                <a:latin typeface="Montserrat"/>
              </a:rPr>
              <a:t>с выездом бригады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99999" y="1116000"/>
            <a:ext cx="270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1599" y="1116000"/>
            <a:ext cx="1265637" cy="936000"/>
          </a:xfrm>
          <a:prstGeom prst="roundRect">
            <a:avLst>
              <a:gd name="adj" fmla="val 12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>
                <a:solidFill>
                  <a:srgbClr val="520978"/>
                </a:solidFill>
                <a:latin typeface="Montserrat"/>
              </a:rPr>
              <a:t>30 %</a:t>
            </a:r>
          </a:p>
          <a:p>
            <a:pPr algn="ctr"/>
            <a:r>
              <a:rPr sz="1150" b="0">
                <a:solidFill>
                  <a:srgbClr val="520978"/>
                </a:solidFill>
                <a:latin typeface="Montserrat"/>
              </a:rPr>
              <a:t>снимает система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8837" y="1116000"/>
            <a:ext cx="270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=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70437" y="1116000"/>
            <a:ext cx="1265637" cy="936000"/>
          </a:xfrm>
          <a:prstGeom prst="roundRect">
            <a:avLst>
              <a:gd name="adj" fmla="val 12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>
                <a:solidFill>
                  <a:srgbClr val="1C1D22"/>
                </a:solidFill>
                <a:latin typeface="Montserrat"/>
              </a:rPr>
              <a:t>390</a:t>
            </a:r>
          </a:p>
          <a:p>
            <a:pPr algn="ctr"/>
            <a:r>
              <a:rPr sz="1150" b="0">
                <a:solidFill>
                  <a:srgbClr val="6B6B7B"/>
                </a:solidFill>
                <a:latin typeface="Montserrat"/>
              </a:rPr>
              <a:t>выездов меньше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674" y="1116000"/>
            <a:ext cx="270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274" y="1116000"/>
            <a:ext cx="1461962" cy="936000"/>
          </a:xfrm>
          <a:prstGeom prst="roundRect">
            <a:avLst>
              <a:gd name="adj" fmla="val 12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>
                <a:solidFill>
                  <a:srgbClr val="520978"/>
                </a:solidFill>
                <a:latin typeface="Montserrat"/>
              </a:rPr>
              <a:t>15 000 ₽</a:t>
            </a:r>
          </a:p>
          <a:p>
            <a:pPr algn="ctr"/>
            <a:r>
              <a:rPr sz="1150" b="0">
                <a:solidFill>
                  <a:srgbClr val="520978"/>
                </a:solidFill>
                <a:latin typeface="Montserrat"/>
              </a:rPr>
              <a:t>2 чел. × 3 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32837" y="1116000"/>
            <a:ext cx="270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=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24437" y="1116000"/>
            <a:ext cx="1461962" cy="936000"/>
          </a:xfrm>
          <a:prstGeom prst="roundRect">
            <a:avLst>
              <a:gd name="adj" fmla="val 1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5,9 млн ₽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Montserrat"/>
              </a:rPr>
              <a:t>в год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2286000"/>
            <a:ext cx="1655999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ontserrat"/>
              </a:rPr>
              <a:t>Время смены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37599" y="2286000"/>
            <a:ext cx="1795111" cy="93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>
                <a:solidFill>
                  <a:srgbClr val="520978"/>
                </a:solidFill>
                <a:latin typeface="Montserrat"/>
              </a:rPr>
              <a:t>1,1 млн</a:t>
            </a:r>
          </a:p>
          <a:p>
            <a:pPr algn="ctr"/>
            <a:r>
              <a:rPr sz="1150" b="0">
                <a:solidFill>
                  <a:srgbClr val="520978"/>
                </a:solidFill>
                <a:latin typeface="Montserrat"/>
              </a:rPr>
              <a:t>сигналов × 10 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4311" y="2286000"/>
            <a:ext cx="270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45911" y="2286000"/>
            <a:ext cx="1795111" cy="93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>
                <a:solidFill>
                  <a:srgbClr val="520978"/>
                </a:solidFill>
                <a:latin typeface="Montserrat"/>
              </a:rPr>
              <a:t>26 000</a:t>
            </a:r>
          </a:p>
          <a:p>
            <a:pPr algn="ctr"/>
            <a:r>
              <a:rPr sz="1150" b="0">
                <a:solidFill>
                  <a:srgbClr val="520978"/>
                </a:solidFill>
                <a:latin typeface="Montserrat"/>
              </a:rPr>
              <a:t>карточек × 2 мин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62623" y="2286000"/>
            <a:ext cx="270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=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223" y="2286000"/>
            <a:ext cx="1555332" cy="936000"/>
          </a:xfrm>
          <a:prstGeom prst="roundRect">
            <a:avLst>
              <a:gd name="adj" fmla="val 12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>
                <a:solidFill>
                  <a:srgbClr val="1C1D22"/>
                </a:solidFill>
                <a:latin typeface="Montserrat"/>
              </a:rPr>
              <a:t>2 180 ч</a:t>
            </a:r>
          </a:p>
          <a:p>
            <a:pPr algn="ctr"/>
            <a:r>
              <a:rPr sz="1150" b="0">
                <a:solidFill>
                  <a:srgbClr val="6B6B7B"/>
                </a:solidFill>
                <a:latin typeface="Montserrat"/>
              </a:rPr>
              <a:t>≈ 1,2 ставки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1155" y="2286000"/>
            <a:ext cx="270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2755" y="2286000"/>
            <a:ext cx="1555332" cy="936000"/>
          </a:xfrm>
          <a:prstGeom prst="roundRect">
            <a:avLst>
              <a:gd name="adj" fmla="val 12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>
                <a:solidFill>
                  <a:srgbClr val="520978"/>
                </a:solidFill>
                <a:latin typeface="Montserrat"/>
              </a:rPr>
              <a:t>800 ₽</a:t>
            </a:r>
          </a:p>
          <a:p>
            <a:pPr algn="ctr"/>
            <a:r>
              <a:rPr sz="1150" b="0">
                <a:solidFill>
                  <a:srgbClr val="520978"/>
                </a:solidFill>
                <a:latin typeface="Montserrat"/>
              </a:rPr>
              <a:t>час диспетчера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9688" y="2286000"/>
            <a:ext cx="270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=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91288" y="2286000"/>
            <a:ext cx="1795111" cy="936000"/>
          </a:xfrm>
          <a:prstGeom prst="roundRect">
            <a:avLst>
              <a:gd name="adj" fmla="val 1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1,7 млн ₽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Montserrat"/>
              </a:rPr>
              <a:t>в год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00" y="3456000"/>
            <a:ext cx="1655999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ontserrat"/>
              </a:rPr>
              <a:t>Плановая замена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37599" y="3456000"/>
            <a:ext cx="1698799" cy="93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>
                <a:solidFill>
                  <a:srgbClr val="520978"/>
                </a:solidFill>
                <a:latin typeface="Montserrat"/>
              </a:rPr>
              <a:t>2,2</a:t>
            </a:r>
          </a:p>
          <a:p>
            <a:pPr algn="ctr"/>
            <a:r>
              <a:rPr sz="1150" b="0">
                <a:solidFill>
                  <a:srgbClr val="520978"/>
                </a:solidFill>
                <a:latin typeface="Montserrat"/>
              </a:rPr>
              <a:t>верных прогнозов отказа в сутки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57999" y="3456000"/>
            <a:ext cx="270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49600" y="3456000"/>
            <a:ext cx="894799" cy="93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>
                <a:solidFill>
                  <a:srgbClr val="520978"/>
                </a:solidFill>
                <a:latin typeface="Montserrat"/>
              </a:rPr>
              <a:t>365</a:t>
            </a:r>
          </a:p>
          <a:p>
            <a:pPr algn="ctr"/>
            <a:r>
              <a:rPr sz="1150" b="0">
                <a:solidFill>
                  <a:srgbClr val="520978"/>
                </a:solidFill>
                <a:latin typeface="Montserrat"/>
              </a:rPr>
              <a:t>дней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6000" y="3456000"/>
            <a:ext cx="270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57600" y="3456000"/>
            <a:ext cx="1296799" cy="936000"/>
          </a:xfrm>
          <a:prstGeom prst="roundRect">
            <a:avLst>
              <a:gd name="adj" fmla="val 12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>
                <a:solidFill>
                  <a:srgbClr val="520978"/>
                </a:solidFill>
                <a:latin typeface="Montserrat"/>
              </a:rPr>
              <a:t>10 %</a:t>
            </a:r>
          </a:p>
          <a:p>
            <a:pPr algn="ctr"/>
            <a:r>
              <a:rPr sz="1150" b="0">
                <a:solidFill>
                  <a:srgbClr val="520978"/>
                </a:solidFill>
                <a:latin typeface="Montserrat"/>
              </a:rPr>
              <a:t>требуют замены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6000" y="3456000"/>
            <a:ext cx="270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=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67599" y="3456000"/>
            <a:ext cx="1296799" cy="936000"/>
          </a:xfrm>
          <a:prstGeom prst="roundRect">
            <a:avLst>
              <a:gd name="adj" fmla="val 12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>
                <a:solidFill>
                  <a:srgbClr val="1C1D22"/>
                </a:solidFill>
                <a:latin typeface="Montserrat"/>
              </a:rPr>
              <a:t>79</a:t>
            </a:r>
          </a:p>
          <a:p>
            <a:pPr algn="ctr"/>
            <a:r>
              <a:rPr sz="1150" b="0">
                <a:solidFill>
                  <a:srgbClr val="6B6B7B"/>
                </a:solidFill>
                <a:latin typeface="Montserrat"/>
              </a:rPr>
              <a:t>замен по плану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5999" y="3456000"/>
            <a:ext cx="270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77599" y="3456000"/>
            <a:ext cx="1497799" cy="936000"/>
          </a:xfrm>
          <a:prstGeom prst="roundRect">
            <a:avLst>
              <a:gd name="adj" fmla="val 12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>
                <a:solidFill>
                  <a:srgbClr val="520978"/>
                </a:solidFill>
                <a:latin typeface="Montserrat"/>
              </a:rPr>
              <a:t>8 000 ₽</a:t>
            </a:r>
          </a:p>
          <a:p>
            <a:pPr algn="ctr"/>
            <a:r>
              <a:rPr sz="1150" b="0">
                <a:solidFill>
                  <a:srgbClr val="520978"/>
                </a:solidFill>
                <a:latin typeface="Montserrat"/>
              </a:rPr>
              <a:t>дешевле аварийной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7000" y="3456000"/>
            <a:ext cx="270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=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88599" y="3456000"/>
            <a:ext cx="1497799" cy="936000"/>
          </a:xfrm>
          <a:prstGeom prst="roundRect">
            <a:avLst>
              <a:gd name="adj" fmla="val 12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ontserrat"/>
              </a:rPr>
              <a:t>0,6 млн ₽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Montserrat"/>
              </a:rPr>
              <a:t>в год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15999" y="4698000"/>
            <a:ext cx="324000" cy="216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11999" y="4662000"/>
            <a:ext cx="4860000" cy="236406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dirty="0" err="1">
                <a:solidFill>
                  <a:srgbClr val="FFFFFF"/>
                </a:solidFill>
                <a:latin typeface="Montserrat"/>
              </a:rPr>
              <a:t>из</a:t>
            </a:r>
            <a:r>
              <a:rPr sz="13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Montserrat"/>
              </a:rPr>
              <a:t>журналов</a:t>
            </a:r>
            <a:r>
              <a:rPr sz="1300" b="0" dirty="0">
                <a:solidFill>
                  <a:srgbClr val="FFFFFF"/>
                </a:solidFill>
                <a:latin typeface="Montserrat"/>
              </a:rPr>
              <a:t> и </a:t>
            </a:r>
            <a:r>
              <a:rPr sz="1300" b="0" dirty="0" err="1">
                <a:solidFill>
                  <a:srgbClr val="FFFFFF"/>
                </a:solidFill>
                <a:latin typeface="Montserrat"/>
              </a:rPr>
              <a:t>теста</a:t>
            </a:r>
            <a:r>
              <a:rPr sz="13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Montserrat"/>
              </a:rPr>
              <a:t>модели</a:t>
            </a:r>
            <a:endParaRPr sz="13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407999" y="4698000"/>
            <a:ext cx="324000" cy="216000"/>
          </a:xfrm>
          <a:prstGeom prst="roundRect">
            <a:avLst>
              <a:gd name="adj" fmla="val 20000"/>
            </a:avLst>
          </a:prstGeom>
          <a:solidFill>
            <a:srgbClr val="FF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03999" y="4662000"/>
            <a:ext cx="4860000" cy="236406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dirty="0" err="1">
                <a:solidFill>
                  <a:srgbClr val="FFFFFF"/>
                </a:solidFill>
                <a:latin typeface="Montserrat"/>
              </a:rPr>
              <a:t>допущение</a:t>
            </a:r>
            <a:r>
              <a:rPr sz="1300" b="0" dirty="0">
                <a:solidFill>
                  <a:srgbClr val="FFFFFF"/>
                </a:solidFill>
                <a:latin typeface="Montserrat"/>
              </a:rPr>
              <a:t>: </a:t>
            </a:r>
            <a:r>
              <a:rPr sz="1300" b="0" dirty="0" err="1">
                <a:solidFill>
                  <a:srgbClr val="FFFFFF"/>
                </a:solidFill>
                <a:latin typeface="Montserrat"/>
              </a:rPr>
              <a:t>подставляется</a:t>
            </a:r>
            <a:r>
              <a:rPr sz="13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Montserrat"/>
              </a:rPr>
              <a:t>цифра</a:t>
            </a:r>
            <a:endParaRPr sz="1300" b="0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360000" y="5076000"/>
            <a:ext cx="7416000" cy="1440000"/>
          </a:xfrm>
          <a:prstGeom prst="roundRect">
            <a:avLst>
              <a:gd name="adj" fmla="val 6000"/>
            </a:avLst>
          </a:prstGeom>
          <a:solidFill>
            <a:srgbClr val="310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0000" y="5166000"/>
            <a:ext cx="7128000" cy="129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0053"/>
                </a:solidFill>
                <a:latin typeface="Montserrat"/>
              </a:rPr>
              <a:t>Не вошло в расчёт — только сверху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Montserrat"/>
              </a:rPr>
              <a:t>• предотвращённые аварии: одно подтопление кабельного отсека может стоить больше всего годового эффекта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Montserrat"/>
              </a:rPr>
              <a:t>• ровная загрузка бригад по ТО: меньше сверхурочных и подрядчиков в пиковые месяцы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92000" y="5076000"/>
            <a:ext cx="3816000" cy="14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36000" y="5148000"/>
            <a:ext cx="3528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20978"/>
                </a:solidFill>
                <a:latin typeface="Montserrat"/>
              </a:rPr>
              <a:t>Итого на один район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6000" y="5436000"/>
            <a:ext cx="3528000" cy="57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0053"/>
                </a:solidFill>
                <a:latin typeface="Montserrat"/>
              </a:rPr>
              <a:t>≈ 8,2 млн ₽ в год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6000" y="6083999"/>
            <a:ext cx="3528000" cy="36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B7B"/>
                </a:solidFill>
                <a:latin typeface="Montserrat"/>
              </a:rPr>
              <a:t>95 объектов, 11,5 тыс. каналов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0000" y="324000"/>
            <a:ext cx="2692800" cy="540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ПЛАНЫ РАЗВИТИЯ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224000"/>
            <a:ext cx="2664000" cy="648000"/>
          </a:xfrm>
          <a:prstGeom prst="roundRect">
            <a:avLst>
              <a:gd name="adj" fmla="val 30000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Пилот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2088000"/>
            <a:ext cx="2664000" cy="30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3999" y="2232000"/>
            <a:ext cx="2376000" cy="280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AD и help desk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поток СМВУ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реестр оборудования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0000" y="1224000"/>
            <a:ext cx="2664000" cy="648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>
                <a:solidFill>
                  <a:srgbClr val="520978"/>
                </a:solidFill>
                <a:latin typeface="Montserrat"/>
              </a:rPr>
              <a:t>Данные</a:t>
            </a:r>
          </a:p>
        </p:txBody>
      </p:sp>
      <p:cxnSp>
        <p:nvCxnSpPr>
          <p:cNvPr id="7" name="Connector 6"/>
          <p:cNvCxnSpPr>
            <a:stCxn id="3" idx="3"/>
            <a:endCxn id="6" idx="1"/>
          </p:cNvCxnSpPr>
          <p:nvPr/>
        </p:nvCxnSpPr>
        <p:spPr>
          <a:xfrm flipV="1">
            <a:off x="3024000" y="1548000"/>
            <a:ext cx="216000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40000" y="2088000"/>
            <a:ext cx="2664000" cy="30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4000" y="2232000"/>
            <a:ext cx="2376000" cy="280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режим охраны для НСД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журналы ремонтов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уровень воды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0000" y="1224000"/>
            <a:ext cx="2664000" cy="648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>
                <a:solidFill>
                  <a:srgbClr val="520978"/>
                </a:solidFill>
                <a:latin typeface="Montserrat"/>
              </a:rPr>
              <a:t>Модели</a:t>
            </a:r>
          </a:p>
        </p:txBody>
      </p:sp>
      <p:cxnSp>
        <p:nvCxnSpPr>
          <p:cNvPr id="11" name="Connector 10"/>
          <p:cNvCxnSpPr>
            <a:stCxn id="6" idx="3"/>
            <a:endCxn id="10" idx="1"/>
          </p:cNvCxnSpPr>
          <p:nvPr/>
        </p:nvCxnSpPr>
        <p:spPr>
          <a:xfrm flipV="1">
            <a:off x="5904000" y="1548000"/>
            <a:ext cx="216000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20000" y="2088000"/>
            <a:ext cx="2664000" cy="30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999" y="2232000"/>
            <a:ext cx="2376000" cy="280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прогноз на 7 суток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разбор ошибок прогноза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рекомендации «что если»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0000" y="1224000"/>
            <a:ext cx="2664000" cy="648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rIns="54000" rtlCol="0" anchor="ctr"/>
          <a:lstStyle/>
          <a:p>
            <a:pPr algn="ctr"/>
            <a:r>
              <a:rPr sz="1400" b="1">
                <a:solidFill>
                  <a:srgbClr val="520978"/>
                </a:solidFill>
                <a:latin typeface="Montserrat"/>
              </a:rPr>
              <a:t>Продукт</a:t>
            </a:r>
          </a:p>
        </p:txBody>
      </p:sp>
      <p:cxnSp>
        <p:nvCxnSpPr>
          <p:cNvPr id="15" name="Connector 14"/>
          <p:cNvCxnSpPr>
            <a:stCxn id="10" idx="3"/>
            <a:endCxn id="14" idx="1"/>
          </p:cNvCxnSpPr>
          <p:nvPr/>
        </p:nvCxnSpPr>
        <p:spPr>
          <a:xfrm flipV="1">
            <a:off x="8784000" y="1548000"/>
            <a:ext cx="216000" cy="0"/>
          </a:xfrm>
          <a:prstGeom prst="line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00000" y="2088000"/>
            <a:ext cx="2664000" cy="30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2232000"/>
            <a:ext cx="2376000" cy="280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офлайн для бригады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учения на нескольких объектах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1D22"/>
                </a:solidFill>
                <a:latin typeface="Montserrat"/>
              </a:rPr>
              <a:t>• другие районы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5400000"/>
            <a:ext cx="11448000" cy="50399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ontserrat"/>
              </a:rPr>
              <a:t>Модульное ядро: развитие без переделки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2000" y="2160000"/>
            <a:ext cx="7200000" cy="900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Montserrat"/>
              </a:rPr>
              <a:t>Спасибо!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3240000"/>
            <a:ext cx="7200000" cy="2498564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0" dirty="0">
                <a:solidFill>
                  <a:srgbClr val="FFFFFF"/>
                </a:solidFill>
                <a:latin typeface="Montserrat"/>
              </a:rPr>
              <a:t>MICROGIT MISIS HSE</a:t>
            </a:r>
            <a:endParaRPr lang="ru-RU" sz="1600" b="0" dirty="0">
              <a:solidFill>
                <a:srgbClr val="FFFFFF"/>
              </a:solidFill>
              <a:latin typeface="Montserrat"/>
            </a:endParaRPr>
          </a:p>
          <a:p>
            <a:pPr algn="l">
              <a:lnSpc>
                <a:spcPct val="100000"/>
              </a:lnSpc>
            </a:pPr>
            <a:endParaRPr lang="ru-RU" sz="1600" b="0" dirty="0">
              <a:solidFill>
                <a:srgbClr val="FFFFFF"/>
              </a:solidFill>
              <a:latin typeface="Montserrat"/>
            </a:endParaRPr>
          </a:p>
          <a:p>
            <a:pPr algn="l">
              <a:lnSpc>
                <a:spcPct val="100000"/>
              </a:lnSpc>
            </a:pPr>
            <a:r>
              <a:rPr sz="1600" b="0" dirty="0" err="1">
                <a:solidFill>
                  <a:srgbClr val="FFFFFF"/>
                </a:solidFill>
                <a:latin typeface="Montserrat"/>
              </a:rPr>
              <a:t>Репозиторий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: </a:t>
            </a:r>
            <a:r>
              <a:rPr lang="en-US" sz="1600" b="0" dirty="0">
                <a:solidFill>
                  <a:srgbClr val="FFFFFF"/>
                </a:solidFill>
                <a:latin typeface="Montserrat"/>
                <a:hlinkClick r:id="rId2"/>
              </a:rPr>
              <a:t>https://github.com/Microgit-dev/collector_incident_forecast</a:t>
            </a:r>
            <a:endParaRPr lang="ru-RU" sz="1600" b="0" dirty="0">
              <a:solidFill>
                <a:srgbClr val="FFFFFF"/>
              </a:solidFill>
              <a:latin typeface="Montserrat"/>
            </a:endParaRPr>
          </a:p>
          <a:p>
            <a:pPr algn="l">
              <a:lnSpc>
                <a:spcPct val="100000"/>
              </a:lnSpc>
            </a:pPr>
            <a:endParaRPr lang="ru-RU" sz="1600" b="0" dirty="0">
              <a:solidFill>
                <a:srgbClr val="FFFFFF"/>
              </a:solidFill>
              <a:latin typeface="Montserrat"/>
            </a:endParaRPr>
          </a:p>
          <a:p>
            <a:pPr algn="l">
              <a:lnSpc>
                <a:spcPct val="100000"/>
              </a:lnSpc>
            </a:pPr>
            <a:r>
              <a:rPr sz="1600" b="0" dirty="0" err="1">
                <a:solidFill>
                  <a:srgbClr val="FFFFFF"/>
                </a:solidFill>
                <a:latin typeface="Montserrat"/>
              </a:rPr>
              <a:t>Прототип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: </a:t>
            </a:r>
            <a:r>
              <a:rPr lang="en-US" sz="1600" dirty="0">
                <a:hlinkClick r:id="rId3"/>
              </a:rPr>
              <a:t>https://collector-forecast.duckdns.org/</a:t>
            </a:r>
            <a:endParaRPr lang="ru-RU" sz="1600" dirty="0"/>
          </a:p>
          <a:p>
            <a:pPr algn="l">
              <a:lnSpc>
                <a:spcPct val="100000"/>
              </a:lnSpc>
            </a:pPr>
            <a:endParaRPr lang="ru-RU" sz="1600" b="0" dirty="0">
              <a:solidFill>
                <a:srgbClr val="FFFFFF"/>
              </a:solidFill>
              <a:latin typeface="Montserrat"/>
            </a:endParaRPr>
          </a:p>
          <a:p>
            <a:pPr algn="l">
              <a:lnSpc>
                <a:spcPct val="100000"/>
              </a:lnSpc>
            </a:pPr>
            <a:r>
              <a:rPr sz="1600" b="0" dirty="0" err="1">
                <a:solidFill>
                  <a:srgbClr val="FFFFFF"/>
                </a:solidFill>
                <a:latin typeface="Montserrat"/>
              </a:rPr>
              <a:t>Документация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 и </a:t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>руководства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:</a:t>
            </a:r>
            <a:endParaRPr lang="ru-RU" sz="1600" b="0" dirty="0">
              <a:solidFill>
                <a:srgbClr val="FFFFFF"/>
              </a:solidFill>
              <a:latin typeface="Montserrat"/>
            </a:endParaRPr>
          </a:p>
          <a:p>
            <a:r>
              <a:rPr lang="en-US" sz="1600" b="0" dirty="0">
                <a:solidFill>
                  <a:srgbClr val="FFFFFF"/>
                </a:solidFill>
                <a:latin typeface="Montserrat"/>
                <a:hlinkClick r:id="rId4"/>
              </a:rPr>
              <a:t>https://disk.yandex.ru/d/WnnorHtzFE_ftg</a:t>
            </a:r>
            <a:endParaRPr lang="ru-RU" sz="1600" b="0" dirty="0">
              <a:solidFill>
                <a:srgbClr val="FFFFFF"/>
              </a:solidFill>
              <a:latin typeface="Montserrat"/>
            </a:endParaRPr>
          </a:p>
          <a:p>
            <a:endParaRPr lang="ru-RU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2565</Words>
  <Application>Microsoft Office PowerPoint</Application>
  <PresentationFormat>Широкоэкранный</PresentationFormat>
  <Paragraphs>685</Paragraphs>
  <Slides>31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6" baseType="lpstr">
      <vt:lpstr>Arial</vt:lpstr>
      <vt:lpstr>Calibri</vt:lpstr>
      <vt:lpstr>Montserrat</vt:lpstr>
      <vt:lpstr>Wingdings</vt:lpstr>
      <vt:lpstr>Для Академия инноваторов 16_9</vt:lpstr>
      <vt:lpstr>Microgit MISIS HSE</vt:lpstr>
      <vt:lpstr>Прогноз инцидентов коллекторов</vt:lpstr>
      <vt:lpstr>КОМАНДА</vt:lpstr>
      <vt:lpstr>О КОМАНДЕ И ЗАДАЧЕ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Егор Миронов</cp:lastModifiedBy>
  <cp:revision>100</cp:revision>
  <dcterms:created xsi:type="dcterms:W3CDTF">2023-05-15T07:36:23Z</dcterms:created>
  <dcterms:modified xsi:type="dcterms:W3CDTF">2026-10-20T16:59:33Z</dcterms:modified>
</cp:coreProperties>
</file>