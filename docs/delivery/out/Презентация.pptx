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D2A33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D2A33"/>
                </a:solidFill>
                <a:latin typeface="Calibri"/>
              </a:rPr>
              <a:t>Прогноз «высокий»: во сколько раз точнее случайного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Во сколько раз точнее случайного</c:v>
                </c:pt>
              </c:strCache>
            </c:strRef>
          </c:tx>
          <c:spPr>
            <a:solidFill>
              <a:srgbClr val="E8772E"/>
            </a:solidFill>
            <a:effectLst/>
          </c:spPr>
          <c:invertIfNegative val="0"/>
          <c:dLbls>
            <c:numFmt formatCode="General&quot;×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D2A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Подтопление</c:v>
                  </c:pt>
                  <c:pt idx="1">
                    <c:v>Загазованность</c:v>
                  </c:pt>
                  <c:pt idx="2">
                    <c:v>Отказ датчика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3.8</c:v>
                </c:pt>
                <c:pt idx="1">
                  <c:v>20</c:v>
                </c:pt>
                <c:pt idx="2">
                  <c:v>33</c:v>
                </c:pt>
              </c:numCache>
            </c:numRef>
          </c:val>
        </c:ser>
        <c:dLbls>
          <c:numFmt formatCode="General&quot;×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D2A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D2A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предиктивной аналитики для диспетчеров Москоллектора. Три цифры: поток сигналов сжимается в 42 раза, прогноз отказа датчика в 33 раза точнее случайного, в демо-сценарии отказ предсказан за 21 час.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поток около 3000 сигналов в сутки, редкие события отказа, отсутствие подтверждённых пожаров и НСД, нет журналов ремонтов.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идея — замкнутый цикл: сигнал, эпизод, риск, решение человека, обучение модели на этом решении.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страница под роль: одна и та же схема по пикетам, но окраска и слой разные — риск у диспетчера, качество данных у аналитика, состояние и свои заявки у бригады. Поток сигналов по минутам — на экране «Оперативная обстановка».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Сигналы склеиваются по объекту и контуру риска, пока пауза не больше 30 минут. За 30 суток 90 тысяч сигналов стали 2 тысячами карточек.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модели на едином конвейере признаков и два индикатора по правилам. Для каждого — метрики на отложенном 2026 годе.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Карточка прогноза: критический риск 72 % по каналу насосной станции. Отказ случился через 21 час — это третий демо-сценарий.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Метрики честные: цель ТЗ одновременно по точности и полноте на этих данных недостижима, уровни риска выбраны по точности и прозрачно показаны.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Вертикаль: бригада, диспетчерская объекта, ОДС, руководство. Эскалация по таймауту реакции. Правило смены: кто первым откликнулся, того и карточка; второй получает отказ с именем. Перехват — только руководитель.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Схема: 16 трасс, около 60 участков на трассу, цвет — риск, отметки — сбои, молчание и карточки.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Архив Parquet и оперативный контур склеиваются на границе; неделя канала читается из архива за 0,2 секунды.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разметки настраивает аналитик. Каждая метка видна, её можно отклонить. Переобучение раз в неделю по схеме чемпион-претендент, контроль деградации.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Учебный контур — тот же образ платформы с другим окружением. Полигон вымышленный: идентификаторы вне диапазона заказчика.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Урок приводит объект полигона в исходное состояние и просит симулятор запустить сценарий через Kafka. Вторую сторону (например, диспетчера для руководителя) играет учебный бот.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Заявка проходит путь от рекомендации до закрытия; в стенде система учёта заявок заказчика заменена эмулятором с полным жизненным циклом.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Истории работы диспетчеров и журналов ОДС в выгрузке нет, поэтому метрики показаны на эмуляции смен, где гонка дежурных разыграна со случайными задержками. Качество решения — косвенное: не повторилась ли физическая угроза за 6 часов после закрытия как ложной.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Модульный монолит: модули с явными границами, любой можно вынести в сервис. Новый источник — адаптер, новый тип датчика — профиль нормализации в админке.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цифры замерены на стенде: 4 ядра, 8 ГБ памяти. Нагрузочный скрипт и процедура восстановления описаны в документации.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Демонстрация: команда demo_scenario публикует эпизод в Kafka с текущим временем; перед этим каналы приводятся в состояние на начало эпизода.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Ограничения следуют из данных, а не из архитектуры: при появлении журналов ремонтов и подтверждённых событий модели переобучаются на том же конвейере.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914400" cy="9144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024128"/>
            <a:ext cx="512064" cy="5120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92024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инцидентов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инженерных коллекторов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79476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C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отказов датчиков, загазованности и подтопления; индикаторы риска пожара и несанкционированного доступа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«8. ДЖКХ» · АО «Москоллектор»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188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×42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1965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сигналов сжимается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карточки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2788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33×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35661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точнее случайного 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отказа датчика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4389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ч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51663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упреждение в демо-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отказа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сигналов в сутки, а отказы — без предупреждения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показали 14 ГБ журналов СМВУ за 2019–2026 годы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225399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3 000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сигналов в сутки — переходы каналов в тревогу и сбой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4992" y="182880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39312" y="2103120"/>
            <a:ext cx="685800" cy="6858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188" y="225399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9312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11 485</a:t>
            </a:r>
            <a:endParaRPr lang="en-US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3639312" y="3840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каналов на 95 объектах: дым, газ, вода, доступ, насосы, питание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181344" y="182880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55664" y="2103120"/>
            <a:ext cx="685800" cy="6858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540" y="225399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55664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0,6 %</a:t>
            </a:r>
            <a:endParaRPr lang="en-US" sz="4000" dirty="0"/>
          </a:p>
        </p:txBody>
      </p:sp>
      <p:sp>
        <p:nvSpPr>
          <p:cNvPr id="18" name="Text 13"/>
          <p:cNvSpPr txBox="1"/>
          <p:nvPr/>
        </p:nvSpPr>
        <p:spPr>
          <a:xfrm>
            <a:off x="6455664" y="3840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каналов в сутки начинают отказывать — событие редкое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997696" y="182880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272016" y="2103120"/>
            <a:ext cx="685800" cy="6858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2892" y="225399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72016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23" name="Text 17"/>
          <p:cNvSpPr txBox="1"/>
          <p:nvPr/>
        </p:nvSpPr>
        <p:spPr>
          <a:xfrm>
            <a:off x="9272016" y="3840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подтверждённых пожаров и проникновений: тревоги в основном ложные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Журналов ремонтов, решений диспетчеров и реестра оборудования в выгрузке нет — метки отказа слабые, и система должна учиться на решениях самих диспетчеров.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сигнала к решению — и обратно в модель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предлагает, человек решает, его решение учит систему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43000" y="1920240"/>
            <a:ext cx="914400" cy="9144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12140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94560" y="2377440"/>
            <a:ext cx="1188720" cy="0"/>
          </a:xfrm>
          <a:prstGeom prst="line">
            <a:avLst/>
          </a:prstGeom>
          <a:noFill/>
          <a:ln w="25400">
            <a:solidFill>
              <a:srgbClr val="D5DEE4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54864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5661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СМВУ через Kafka, единая нормализация любых датчиков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29000" y="1920240"/>
            <a:ext cx="914400" cy="9144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121408"/>
            <a:ext cx="512064" cy="51206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80560" y="2377440"/>
            <a:ext cx="1188720" cy="0"/>
          </a:xfrm>
          <a:prstGeom prst="line">
            <a:avLst/>
          </a:prstGeom>
          <a:noFill/>
          <a:ln w="25400">
            <a:solidFill>
              <a:srgbClr val="D5DEE4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283464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Эпизод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35661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сигналов объекта склеиваются в одну карточку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715000" y="1920240"/>
            <a:ext cx="914400" cy="9144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2121408"/>
            <a:ext cx="512064" cy="512064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766560" y="2377440"/>
            <a:ext cx="1188720" cy="0"/>
          </a:xfrm>
          <a:prstGeom prst="line">
            <a:avLst/>
          </a:prstGeom>
          <a:noFill/>
          <a:ln w="25400">
            <a:solidFill>
              <a:srgbClr val="D5DEE4"/>
            </a:solidFill>
            <a:prstDash val="solid"/>
            <a:tailEnd type="triangle"/>
          </a:ln>
        </p:spPr>
      </p:sp>
      <p:sp>
        <p:nvSpPr>
          <p:cNvPr id="17" name="Text 12"/>
          <p:cNvSpPr txBox="1"/>
          <p:nvPr/>
        </p:nvSpPr>
        <p:spPr>
          <a:xfrm>
            <a:off x="512064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 и приоритет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35661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Гипотезы причины, приоритет 0–100; прогноз моделей и индикаторы на 24 ч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001000" y="1920240"/>
            <a:ext cx="914400" cy="9144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121408"/>
            <a:ext cx="512064" cy="512064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9052560" y="2377440"/>
            <a:ext cx="1188720" cy="0"/>
          </a:xfrm>
          <a:prstGeom prst="line">
            <a:avLst/>
          </a:prstGeom>
          <a:noFill/>
          <a:ln w="25400">
            <a:solidFill>
              <a:srgbClr val="D5DEE4"/>
            </a:solidFill>
            <a:prstDash val="solid"/>
            <a:tailEnd type="triangle"/>
          </a:ln>
        </p:spPr>
      </p:sp>
      <p:sp>
        <p:nvSpPr>
          <p:cNvPr id="22" name="Text 16"/>
          <p:cNvSpPr txBox="1"/>
          <p:nvPr/>
        </p:nvSpPr>
        <p:spPr>
          <a:xfrm>
            <a:off x="740664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35661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произошло, причина, заявка бригаде; эскалация по таймауту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10287000" y="1920240"/>
            <a:ext cx="914400" cy="914400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8168" y="2121408"/>
            <a:ext cx="512064" cy="51206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5661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→ метка → переобучение под контролем аналитика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51206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не заменяет диспетчера и не управляет оборудованием (ТЗ §5): он показывает риск, его причины и следующее действие.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каждой роли своё рабочее место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коллекторов в центре, слой и очередь — под роль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549640" y="1691640"/>
            <a:ext cx="457200" cy="4572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0224" y="179222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16733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Диспетчер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0" y="20391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 на схеме, очередь «требуют действия», «Мои показатели»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8549640" y="2862072"/>
            <a:ext cx="457200" cy="4572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224" y="29626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144000" y="284378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144000" y="3209544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эскалации, заявки на утверждение, заявки на трассе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549640" y="4032504"/>
            <a:ext cx="457200" cy="4572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0224" y="4133088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44000" y="40142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9144000" y="437997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по Data Health, проблемные каналы, метки на проверке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549640" y="5202936"/>
            <a:ext cx="457200" cy="4572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0224" y="5303520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44000" y="51846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9144000" y="5550408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свои заявки на трассе: «взять в работу», «выполнена»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тревог сжимается в 42 раза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суток данных заказчика, та же склейка, что в работе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90 250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сигналов потока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3 008 в сутки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8745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D5D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828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F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2 138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834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карточек-эпизодов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71 в сутки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1737360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15222B"/>
          </a:solidFill>
          <a:ln w="12700">
            <a:solidFill>
              <a:srgbClr val="152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1920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×42</a:t>
            </a:r>
            <a:endParaRPr lang="en-US" sz="6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решений на смену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Потеря связи на «Кси», 24.06.2026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206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 сигналов по 127 каналам → 1 карточка «потеря связи»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920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«Каппа ПС», 17.06.2024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48920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2 078 сигналов → 2 карточки; 7 из 8 каналов из топа прогноза отказали в тот же день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77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Гипотезы причины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55778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питание, связь, модуль, отдельный датчик, работы на объекте, ложное срабатывание — с весами и доказательствами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рисков: три модели и два индикатора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 24 часа (отказ датчика — также 7 суток); тест — отложенный 2026 год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03120" cy="384048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731520" cy="73152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174" y="217261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датчика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33 признака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06908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0,21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полнота 0,09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упреждение 12 ч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798064" y="1783080"/>
            <a:ext cx="2103120" cy="384048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026664" y="2011680"/>
            <a:ext cx="731520" cy="73152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598" y="2172614"/>
            <a:ext cx="409651" cy="4096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26664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Загазованность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026664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метан ≥ 1 %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026664" y="406908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ловит 74 %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превышений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(правило — 39 %)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047488" y="1783080"/>
            <a:ext cx="2103120" cy="384048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276088" y="2011680"/>
            <a:ext cx="731520" cy="73152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022" y="2172614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76088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Подтопление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276088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погода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5276088" y="406908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0,15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полнота 0,45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насосы АНС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7296912" y="1783080"/>
            <a:ext cx="2103120" cy="384048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525512" y="2011680"/>
            <a:ext cx="731520" cy="73152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446" y="2172614"/>
            <a:ext cx="409651" cy="409651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525512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Пожар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525512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по правилам 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прогноз события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7525512" y="406908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дым, тепло,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температуры,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извещатели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546336" y="1783080"/>
            <a:ext cx="2103120" cy="384048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9774936" y="2011680"/>
            <a:ext cx="731520" cy="73152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5870" y="2172614"/>
            <a:ext cx="409651" cy="409651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774936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НСД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774936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по правилам 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прогноз события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774936" y="406908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 и движение,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охраны, ночь;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наряд снижает риск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пожара и НСД подтверждённых событий в данных нет: модель научилась бы предсказывать ложные срабатывания. Поэтому — объяснимый индекс риска 0–1 по правилам, а не вероятность и не прогноз пожара.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прогноз объясним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риск высокий, насколько ему верить и что делать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forecast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Факторы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756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 каждого признака (SHAP): «65 суток с неисправностями из 90»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Насколько доверять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6440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уровня на тесте, итог журнала, сравнение с правилом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данных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4531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Health канала: полнота, свежесть, стабильность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257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418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чек-лист и черновик заявки из рекомендации по ТО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реальных данных, а не на выдуманных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2019–2024, пороги — 2025, отложенный тест — 2026; бэктест июня 2026 года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583680" y="173736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12280" y="18470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Бэктест июня: реализованная точность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1228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0,20 · 0,13 · 0,15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235440" y="21945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· газ · подтопление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583680" y="2788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28986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Полнота по факту: предупреждено событий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18 % · 93 % · 43 %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3246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104/569 · 52/56 · 36/84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0" y="3840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12280" y="39502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 в обучении и в работе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12280" y="42519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расхождений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4297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по всем задачам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0" y="489204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12280" y="50017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ТЗ P &gt; 0,7 и R &gt; 0,5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812280" y="5303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недостижима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0" y="5349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редки, метки слабые — уровни выбраны по точности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Командная вертикаль и эскалация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не потеряется: если её никто не взял — она поднимается выше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470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Руководство района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128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утверждает заявки, видит эскалации и аналитику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60120" y="283464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29443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ОДС района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3101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дежурные смены; весь район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71600" y="393192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FCE9DC"/>
          </a:solidFill>
          <a:ln w="12700">
            <a:solidFill>
              <a:srgbClr val="FCE9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40416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Диспетчерская объекта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4407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первой получает карточки своего объекта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783080" y="502920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057400" y="5138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057400" y="55046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исполняет заявки, отчёт — обратно в карточку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06640" y="1783080"/>
            <a:ext cx="731520" cy="73152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7574" y="1944014"/>
            <a:ext cx="409651" cy="409651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1783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мин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23774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реакцию по критической карточке, 15 мин — по высокой; дальше эскалация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406640" y="3429000"/>
            <a:ext cx="731520" cy="73152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7574" y="3589934"/>
            <a:ext cx="409651" cy="40965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321040" y="3429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ролей · зоны</a:t>
            </a:r>
            <a:endParaRPr lang="en-US" sz="2600" dirty="0"/>
          </a:p>
        </p:txBody>
      </p:sp>
      <p:sp>
        <p:nvSpPr>
          <p:cNvPr id="23" name="Text 19"/>
          <p:cNvSpPr txBox="1"/>
          <p:nvPr/>
        </p:nvSpPr>
        <p:spPr>
          <a:xfrm>
            <a:off x="8321040" y="3977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 только своё поддерево объектов; вход через LDAP (на стенде — тестовый OpenLDAP)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406640" y="5029200"/>
            <a:ext cx="731520" cy="731520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574" y="5190134"/>
            <a:ext cx="409651" cy="409651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321040" y="5029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первый</a:t>
            </a:r>
            <a:endParaRPr lang="en-US" sz="26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5577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карточку забирает откликнувшийся первым; перехват — только руководитель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коллекторов по пикетам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 у заказчика нет — трассы строятся по пикетам каналов (GeoJSON / WKT)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sche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854964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участка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756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максимальный риск каналов участка по любой задаче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620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2461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не в норме и молчащие каналы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3250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Треугольники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41655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открытые карточки; пунктир — прогнозные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029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Щелчок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558698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подробности участка: каналы, Data Health, риск по задачам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объекта и канала с 2019 года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Показания, состояния, карточки и решения того времени — на одной оси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756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месяца — сырые показания, длиннее — сутки (до 3 лет); пороги из профиля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Состояния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6440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интервалы по аспектам: основное, питание, работа, охрана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было тогда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4531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карточки, решения диспетчеров, прогнозы по каналу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257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418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× сутки по худшему состоянию, итоги по дням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диспетчеров учат модель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произошло» становится меткой; аналитик видит каждую и может её отменить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le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1764792"/>
            <a:ext cx="201168" cy="201168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Неисправность датчика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0756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подтверждает отказ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935224"/>
            <a:ext cx="201168" cy="201168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2862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Потеря связи, обесточивание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246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«неисправен» — не отказ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4105656"/>
            <a:ext cx="201168" cy="201168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40325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 на объекте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4165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исключить из обучения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276088"/>
            <a:ext cx="201168" cy="201168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202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предотвращён по прогнозу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5869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считается ошибкой модели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9893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версия заменяет модель, только если лучше на той же валидации.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Учебный контур и симулятор датчиков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база с полигоном; события даёт симулятор, который видит только Kafka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sim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Изоляция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756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база, тема Kafka, Redis и help desk; на работу района не влияет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Полигон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6440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объекта, 183 канала в формате справочников заказчика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Симулятор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4531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и веб: режимы каналов, охрана, рост показаний, 9 сценариев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257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Полевой контур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418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симулятора доступна только Kafka — как у настоящей СМВУ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по ролям: шаг засчитывается по действию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поверх обычного интерфейса, симулятор разыгрывает сценарий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trai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549640" y="1691640"/>
            <a:ext cx="457200" cy="4572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0224" y="179222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16733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заданий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0" y="20391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диспетчер, руководитель, аналитик, бригада + экскурсия для всех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8549640" y="2862072"/>
            <a:ext cx="457200" cy="4572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224" y="29626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144000" y="284378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«Показать где»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144000" y="3209544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подсветка нужной кнопки на нужном экране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549640" y="4032504"/>
            <a:ext cx="457200" cy="4572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0224" y="4133088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44000" y="40142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9144000" y="437997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реальным действиям: принял, выбрал причину, утвердил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549640" y="5202936"/>
            <a:ext cx="457200" cy="45720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0224" y="5303520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44000" y="51846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ошибок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9144000" y="5550408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правильно другое; время, ошибки, подсказки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прогноза к работам: рекомендации и заявки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Рекомендация → черновик → утверждение → система учёта заявок → бригада → отчёт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47672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47672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Черновик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46704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6704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Утверждена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45736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45736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Принята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44768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44768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43800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42832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42832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Выполнена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341864" y="1828800"/>
            <a:ext cx="1261872" cy="73152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341864" y="1828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6517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системе прогнозирования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26517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системе учёта заявок (на стенде — эмулятор mock-helpdesk)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3611880"/>
            <a:ext cx="640080" cy="64008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3752698"/>
            <a:ext cx="358445" cy="35844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2296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483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4937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 по ТО: прогнозы, Data Health, просрочки ТО по реестру (эмуляция)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4297680" y="338328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0" y="361188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3752698"/>
            <a:ext cx="358445" cy="358445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457200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минута</a:t>
            </a:r>
            <a:endParaRPr lang="en-US" sz="2600" dirty="0"/>
          </a:p>
        </p:txBody>
      </p:sp>
      <p:sp>
        <p:nvSpPr>
          <p:cNvPr id="31" name="Text 27"/>
          <p:cNvSpPr txBox="1"/>
          <p:nvPr/>
        </p:nvSpPr>
        <p:spPr>
          <a:xfrm>
            <a:off x="4572000" y="4937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статусов, бригады и отчёта исполнителя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8046720" y="338328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21040" y="361188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3752698"/>
            <a:ext cx="358445" cy="358445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832104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Хронология</a:t>
            </a:r>
            <a:endParaRPr lang="en-US" sz="2600" dirty="0"/>
          </a:p>
        </p:txBody>
      </p:sp>
      <p:sp>
        <p:nvSpPr>
          <p:cNvPr id="36" name="Text 31"/>
          <p:cNvSpPr txBox="1"/>
          <p:nvPr/>
        </p:nvSpPr>
        <p:spPr>
          <a:xfrm>
            <a:off x="8321040" y="4937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передача, начало работ и итог — в карточке инцидента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первый: метрики сотрудников и команд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Отклик, гонки за карточку, качество решений, нагрузка на смену, обучение; PDF и XLSX</a:t>
            </a:r>
            <a:endParaRPr lang="en-US" sz="1500" dirty="0"/>
          </a:p>
        </p:txBody>
      </p:sp>
      <p:pic>
        <p:nvPicPr>
          <p:cNvPr id="4" name="Image 0" descr="D:\work\MICKROGIT\collector_incident_forecast\docs\delivery\img\sta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4800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8549640" y="1645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6,7 мин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194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отклика (медиана)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7249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гонка за карточку: открыли двое и больше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80390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3525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карточек с откликом; 3 эскалации без отклика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48828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XLSX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54315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 и команды в отчёте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5989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— по эмуляции смен на реальных эпизодах июня 2026: она помечена и в обучение не попадает.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Архитектура: модульный монолит, одна команда запуска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19 сервисов (+6 учебного контура), без внешних платных зависимостей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411480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2024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СМВУ → Kafka (на стенде — журналы и симулятор)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XLSX журналов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LDAP / AD (эмуляция)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заявок (эмуляция)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72968" y="3794760"/>
            <a:ext cx="182880" cy="0"/>
          </a:xfrm>
          <a:prstGeom prst="line">
            <a:avLst/>
          </a:prstGeom>
          <a:noFill/>
          <a:ln w="25400">
            <a:solidFill>
              <a:srgbClr val="5B6B7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737360"/>
            <a:ext cx="2606040" cy="411480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92024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(Django + DRF)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69748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 и хранение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Эпизоды, гипотезы, приоритет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LightGBM и индикаторы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Роли, зоны, эскалация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Заявки, аналитика, аудит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07608" y="3794760"/>
            <a:ext cx="182880" cy="0"/>
          </a:xfrm>
          <a:prstGeom prst="line">
            <a:avLst/>
          </a:prstGeom>
          <a:noFill/>
          <a:ln w="25400">
            <a:solidFill>
              <a:srgbClr val="5B6B7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17920" y="1737360"/>
            <a:ext cx="2606040" cy="411480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92024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9748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TimescaleDB: оперативный контур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Parquet: архив журналов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Суточные витрины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 задачи и кеш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42248" y="3794760"/>
            <a:ext cx="182880" cy="0"/>
          </a:xfrm>
          <a:prstGeom prst="line">
            <a:avLst/>
          </a:prstGeom>
          <a:noFill/>
          <a:ln w="25400">
            <a:solidFill>
              <a:srgbClr val="5B6B7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52560" y="1737360"/>
            <a:ext cx="2606040" cy="4114800"/>
          </a:xfrm>
          <a:prstGeom prst="roundRect">
            <a:avLst>
              <a:gd name="adj" fmla="val 28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92024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269748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+ WebSocket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API: JSON, XML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Админка Django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Grafana, Prometheus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· Django 5.2 · Celery · Kafka 3.9 · PostgreSQL 16 + TimescaleDB · LightGBM · Polars · React 19 · TypeScript · Mantine · Caddy (TLS)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Нефункциональные требования — с замерами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822960" cy="82296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1918411"/>
            <a:ext cx="460858" cy="46085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834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 с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94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по всем объектам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(ТЗ: ≤ 300 с на объект)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822960" cy="82296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4331" y="1918411"/>
            <a:ext cx="460858" cy="4608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834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мс</a:t>
            </a:r>
            <a:endParaRPr lang="en-US" sz="44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794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медиана ответа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20 пользователях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822960" cy="82296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971" y="1918411"/>
            <a:ext cx="460858" cy="46085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834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с</a:t>
            </a:r>
            <a:endParaRPr lang="en-US" sz="44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794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восстановление БД из копии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(ТЗ: ≤ 4 часов)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822960" cy="822960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3611" y="1918411"/>
            <a:ext cx="460858" cy="46085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834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· LDAP · RBAC</a:t>
            </a:r>
            <a:endParaRPr lang="en-US" sz="26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794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действий и просмотров,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149-ФЗ и 152-ФЗ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C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автотеста · ruff и oxlint · перечень библиотек с лицензиями · открытый исходный код без обфускации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демо-сценария на настоящих эпизодах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Эпизод из архива подаётся в систему как живой поток — всё остальное работает как в эксплуатации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822960" cy="82296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" y="2192731"/>
            <a:ext cx="460858" cy="4608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тревог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«Кси», 24.06.2026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переходов в «не определено» → одна карточка «потеря связи» с гипотезой и чек-листом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demo_scenario alarms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97680" y="178308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0" y="2011680"/>
            <a:ext cx="822960" cy="82296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051" y="2192731"/>
            <a:ext cx="460858" cy="46085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пожара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«Кси ПК202–ПК302», 29.06.2026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9319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Дымовые извещатели подтверждают друг друга → критическая карточка индикатора, приоритет 100, эскалация через 5 мин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demo_scenario fire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46720" y="178308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21040" y="2011680"/>
            <a:ext cx="822960" cy="822960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2192731"/>
            <a:ext cx="460858" cy="46085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2104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датчика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«ДУ объект Альфа», 01–02.06.2026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39319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Критический прогноз 72 % → через 21 час канал отказал → решение → метка → заявка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demo_scenario sensor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 об ограничениях — и что дальше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8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Метка отказа — неисправность в журнале СМВУ: журналов ремонтов нет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Пожар и НСД — индикаторы по правилам, не прогноз: подтверждённых событий нет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Погода для подтопления дала прирост в пределах шума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системами заказчика не выполнялись: help desk, AD, реестр оборудования и журналы ОДС эмулированы (mock)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 после сдачи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0" y="210312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0178" y="224393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132320" y="221284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Учения: настраиваемые сценарии для всей цепочки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309360" y="310896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0178" y="324977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32186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системам заказчика вместо эмуляции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309360" y="411480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4255618"/>
            <a:ext cx="358445" cy="35844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32320" y="42245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Контрфактические рекомендации: «риск снизится, если…»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309360" y="5120640"/>
            <a:ext cx="640080" cy="640080"/>
          </a:xfrm>
          <a:prstGeom prst="ellipse">
            <a:avLst/>
          </a:prstGeom>
          <a:solidFill>
            <a:srgbClr val="243642"/>
          </a:solidFill>
          <a:ln w="12700">
            <a:solidFill>
              <a:srgbClr val="24364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0178" y="5261458"/>
            <a:ext cx="358445" cy="35844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32320" y="52303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ложных прогнозов: почему не сработало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6309360" y="6126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сделано сверх ТЗ: рабочие места, обучение, история, метрики сотрудников.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914400" cy="914400"/>
          </a:xfrm>
          <a:prstGeom prst="ellipse">
            <a:avLst/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115568"/>
            <a:ext cx="512064" cy="5120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 к проверке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20040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 — открытый, с автотестами и инструкцией по сборке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 — разворачивается одной командой docker compose up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Сопроводительная документация — DOCX и PDF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демо-сценария на данных заказчика — по одной команде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Учебный контур с симулятором — docker compose --profile training up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прогнозирования инцидентов инженерных коллекторов · АО «Москоллектор»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Прогноз инцидентов инженерных коллекторов</dc:title>
  <dc:subject>PptxGenJS Presentation</dc:subject>
  <dc:creator>PptxGenJS</dc:creator>
  <cp:lastModifiedBy>PptxGenJS</cp:lastModifiedBy>
  <cp:revision>1</cp:revision>
  <dcterms:created xsi:type="dcterms:W3CDTF">2026-09-25T19:03:23Z</dcterms:created>
  <dcterms:modified xsi:type="dcterms:W3CDTF">2026-09-25T19:03:23Z</dcterms:modified>
</cp:coreProperties>
</file>