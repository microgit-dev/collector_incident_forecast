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r>
              <a:t>[Название команды]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r>
              <a:t>Задача 8 ДЖКХ: сервис прогнозирования инцидентов и управления ремонтными работами инженерных коллекторов Москвы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91804845" name="Picture 10918048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437801"/>
            <a:ext cx="2414069" cy="8665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1609484257" name="Рисунок 1" descr="workspace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47 тревог → 1 карточка с гипотезой причины и чек-листом. Прогноз честно проверен на отложенном 2026 годе, генератор графиков ТО сверен с реальными графиками заказчика, новые датчики подключаются конструктором без программиста.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 капитана,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[N] человек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>
                <a:solidFill>
                  <a:schemeClr val="tx1"/>
                </a:solidFill>
              </a:rPr>
              <a:t>[как образовалась команда; место работы или учёбы участников]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[город и регион]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Прогноз инцидентов коллекторов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Сервис превращает поток сырых сигналов СМВУ в приоритизированные риски: прогнозирует отказы датчиков, газ и подтопление на 24 ч, объясняет причины, предлагает действие, ведёт решение диспетчера до заявки бригаде и учится на результате. Инженер ТО планирует профилактику по регламенту и фактическому состоянию.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[ник]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ЗАДАЧЕ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[Краткая история команды: как собрались, участвовали ли вместе в хакатонах или проектах]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без меток: отказы — служебные коды и «1970-01-01», тревоги в основном ложные, пожаров нет. Вывели слабые метки из журналов, для пожара и НСД — правила с вероятностью по истории, проверка — только на отложенном 2026 годе. Каскады по сотне каналов за секунду — склейка в эпизоды.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Реальные данные города — 14 ГБ журналов СМВУ за 8 лет — и задача, где польза видна сразу: меньше ложных выездов, ТО по состоянию, понятная причина каждой тревоги.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Поток СМВУ (Kafka) → нормализация по профилям датчиков → TimescaleDB и Parquet-архив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LightGBM: отказ датчика, метан ≥ 1 %, подтопление на 24 ч; пожар и НСД — правила с вероятностью по архиву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Склейка сигналов в эпизоды (×42), гипотезы причины, операционный приоритет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Django/DRF, React, Celery, Redis, Grafana; 8 ролей RBAC, LDAP/AD, TLS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Конструктор форматов; адаптеры help desk, реестра, видеонаблюдения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ОДС и подразделения: меньше ложных выездов, очередь по опасности, проверка по камерам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Эксплуатация: план ТО по регламенту и состоянию, графики ТО и ППР в формах заказчика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Внедрение: одна команда развёртывания, закрытый контур, системы заказчика — режимом в .env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Тиражирование: любые коллекторы и датчики — шаблоном и профилем, без доработки кода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ПРОБЛЕМА И ДАННЫЕ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Реактивная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Реагирование только после срабатывания датчика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90 250 сигналов за 30 суток на 95 объектах — диспетчер тонет в потоке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Каскады: сотня тревог за одну секунду от одного отказа питания или связи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8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2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Ложные тревоги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2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Большая часть тревог дымовых и охранных извещателей — ложные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Выезды «на всякий случай» и усталость от тревог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Подтверждённых пожаров и проникновений в данных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6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ТО по календарю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0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Обслуживание по фиксированным срокам, без учёта состояния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Графики ТО и ППР ведутся вручную в 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Пиковые месяцы: до 62 работ по графику против 33 в спокойные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960000"/>
            <a:ext cx="11448000" cy="2376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4104000"/>
            <a:ext cx="110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Данные заказчика, с которыми работает решение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14 ГБ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журналов СМВУ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2019–2026 (без 2021)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11 485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8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каналов данных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19 типов датчиков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объектов района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(дерево объектов)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2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1 008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2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датчиков метана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в ППР на 2026 год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4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4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объекта в графике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ТО и ТР на 2026 год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РЕШЕНИЕ: ЗАМКНУТЫЙ 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Предсказать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на 24 ч: отказ датчика, метан, подтопление; индикаторы пожара и НСД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5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Объединить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5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Сигналы → эпизод: каскад по питанию и связи — одна карточка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1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Приоритизировать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71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1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Вероятность × тяжесть × критичность × срочность × уверенность данных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8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Объяснить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8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Факторы SHAP, гипотезы причины, история канала, похожие случаи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83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Предложить действие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3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3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Чек-лист, камеры у места тревоги, черновик заявки, ТО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Получить результат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Решение диспетчера, отчёт и состояние оборудования от бригады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96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Улучшить модель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6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8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Метки из решений, проверка аналитиком, переобучение раз в неделю</a:t>
            </a:r>
          </a:p>
        </p:txBody>
      </p:sp>
      <p:cxnSp>
        <p:nvCxnSpPr>
          <p:cNvPr id="24" name="Connector 23"/>
          <p:cNvCxnSpPr>
            <a:stCxn id="3" idx="3"/>
            <a:endCxn id="6" idx="1"/>
          </p:cNvCxnSpPr>
          <p:nvPr/>
        </p:nvCxnSpPr>
        <p:spPr>
          <a:xfrm flipV="1">
            <a:off x="1835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6" idx="3"/>
            <a:endCxn id="9" idx="1"/>
          </p:cNvCxnSpPr>
          <p:nvPr/>
        </p:nvCxnSpPr>
        <p:spPr>
          <a:xfrm flipV="1">
            <a:off x="3491998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9" idx="3"/>
            <a:endCxn id="12" idx="1"/>
          </p:cNvCxnSpPr>
          <p:nvPr/>
        </p:nvCxnSpPr>
        <p:spPr>
          <a:xfrm flipV="1">
            <a:off x="5147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2" idx="3"/>
            <a:endCxn id="15" idx="1"/>
          </p:cNvCxnSpPr>
          <p:nvPr/>
        </p:nvCxnSpPr>
        <p:spPr>
          <a:xfrm flipV="1">
            <a:off x="6803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5" idx="3"/>
            <a:endCxn id="18" idx="1"/>
          </p:cNvCxnSpPr>
          <p:nvPr/>
        </p:nvCxnSpPr>
        <p:spPr>
          <a:xfrm flipV="1">
            <a:off x="8459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8" idx="3"/>
            <a:endCxn id="21" idx="1"/>
          </p:cNvCxnSpPr>
          <p:nvPr/>
        </p:nvCxnSpPr>
        <p:spPr>
          <a:xfrm flipV="1">
            <a:off x="10115999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60000" y="4968000"/>
            <a:ext cx="11448000" cy="1368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076000"/>
            <a:ext cx="11016000" cy="12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Главная демонстрация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47 тревог на объекте → 1 карточка, 3 гипотезы причины, 1 действие, 1 черновик заявки. Система не принимает решений за диспетчера (ТЗ §5): она показывает риск, его причины и предлагает действие, а решение человека возвращается в систему как обратная связь.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1634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ФУНКЦИИ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Мониторинг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Карта зоны на OSM: объекты в цвете обстановки, риска, данных, заявок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1999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Эпизоды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Склейка сигналов ×42, гипотезы причины, чек-лист, приоритет 0–100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Отказ датчика, метан, подтопление на 24 ч; журнал с исходами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Индекс правил + вероятность по истории 10 175 и 73 811 случаев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Ближайшие камеры, кадр на момент тревоги, запись в хронологию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8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1999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Черновик → утверждение → help desk → бригада → отчёт и состояние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6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План по регламенту и состоянию, реестр, осмотры, выгрузка плана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Графики ТО и ППР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В формах заказчика; сверка с его графиками: периодичность 91 %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Конструктор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Новые форматы датчиков шаблоном: JSON, CSV, строка; песочница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8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81999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Обучение моделей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Метки из решений, проверка аналитиком, чемпион / претендент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6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Аналитика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Эффективность диспетчеров, «кто первый», качество прогнозов, PDF/XLSX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0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Учения и обучение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Учебный контур с симулятором, учения с разбором, задания по ролям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8 РОЛЕЙ — 8 РАБОЧИХ МЕСТ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195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ОДС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432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весь район: карточки, решения, заявки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80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84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подразделения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08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то же в своей зоне, камеры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244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3999" y="249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999" y="272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эскалации, перехват, утверждение, учения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096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3139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3376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метки, модели, данные, конструктор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744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787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4024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план ТО, реестр, графики ТО и ППР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439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4351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Ремонтная бригада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6727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свои заявки с телефона, состояние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504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999" y="508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Наблюдатель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999" y="532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просмотр обстановки зоны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000" y="568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573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596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роли, интеграции, мониторинг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2000" y="1134000"/>
            <a:ext cx="6876000" cy="433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27" name="Picture 26" descr="engineer_1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000" y="1188000"/>
            <a:ext cx="6768000" cy="423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96000" y="5580000"/>
            <a:ext cx="684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Зона ответственности и командная вертикаль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Каждый видит только свою зону; карточку забирает тот, кто первым откликнулся; без реакции в норматив (5 мин для критических) карточка поднимается на уровень выше. Руководства пользователя — отдельно для каждой роли.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ОТ СИГНАЛА ДО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44000"/>
            <a:ext cx="11448000" cy="549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44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СМВУ и 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141999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Диспетчер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14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240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240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338000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33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0000" y="5436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000" y="543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655999" y="1430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5999" y="1773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сигнал датчика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Нормализация по профилю, эпизод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1999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Карточка: гипотезы, приоритет, чек-лист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Уведомление зоне (WebSocket)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2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Принять карточку («кто первый»)</a:t>
            </a:r>
          </a:p>
        </p:txBody>
      </p:sp>
      <p:sp>
        <p:nvSpPr>
          <p:cNvPr id="19" name="Diamond 18"/>
          <p:cNvSpPr/>
          <p:nvPr/>
        </p:nvSpPr>
        <p:spPr>
          <a:xfrm>
            <a:off x="6623999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999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принято в норматив?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0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Эскалация: перехват или назначение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43999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Проверка: история канала, камеры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4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Решение + «что произошло»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96000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0000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нужна работа?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52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черновик заявки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52000" y="4617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Работа, отчёт, состояние оборудования</a:t>
            </a:r>
          </a:p>
        </p:txBody>
      </p:sp>
      <p:sp>
        <p:nvSpPr>
          <p:cNvPr id="28" name="Oval 27"/>
          <p:cNvSpPr/>
          <p:nvPr/>
        </p:nvSpPr>
        <p:spPr>
          <a:xfrm>
            <a:off x="11268000" y="2529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43999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Метка обучения: принять / отклонить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4000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Переобучение раз в неделю</a:t>
            </a:r>
          </a:p>
        </p:txBody>
      </p:sp>
      <p:cxnSp>
        <p:nvCxnSpPr>
          <p:cNvPr id="31" name="Connector 30"/>
          <p:cNvCxnSpPr>
            <a:stCxn id="13" idx="3"/>
            <a:endCxn id="15" idx="1"/>
          </p:cNvCxnSpPr>
          <p:nvPr/>
        </p:nvCxnSpPr>
        <p:spPr>
          <a:xfrm>
            <a:off x="1979999" y="1592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5" idx="3"/>
            <a:endCxn id="16" idx="1"/>
          </p:cNvCxnSpPr>
          <p:nvPr/>
        </p:nvCxnSpPr>
        <p:spPr>
          <a:xfrm flipV="1">
            <a:off x="3456000" y="1593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3"/>
            <a:endCxn id="17" idx="1"/>
          </p:cNvCxnSpPr>
          <p:nvPr/>
        </p:nvCxnSpPr>
        <p:spPr>
          <a:xfrm flipV="1">
            <a:off x="4895999" y="1593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7" idx="2"/>
            <a:endCxn id="18" idx="0"/>
          </p:cNvCxnSpPr>
          <p:nvPr/>
        </p:nvCxnSpPr>
        <p:spPr>
          <a:xfrm flipH="1">
            <a:off x="5724000" y="1863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8" idx="3"/>
            <a:endCxn id="19" idx="1"/>
          </p:cNvCxnSpPr>
          <p:nvPr/>
        </p:nvCxnSpPr>
        <p:spPr>
          <a:xfrm flipV="1">
            <a:off x="6336000" y="2690999"/>
            <a:ext cx="287999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9" idx="3"/>
            <a:endCxn id="22" idx="1"/>
          </p:cNvCxnSpPr>
          <p:nvPr/>
        </p:nvCxnSpPr>
        <p:spPr>
          <a:xfrm>
            <a:off x="7055999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9" idx="2"/>
            <a:endCxn id="21" idx="0"/>
          </p:cNvCxnSpPr>
          <p:nvPr/>
        </p:nvCxnSpPr>
        <p:spPr>
          <a:xfrm>
            <a:off x="6839999" y="2906999"/>
            <a:ext cx="252001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1" idx="3"/>
            <a:endCxn id="22" idx="2"/>
          </p:cNvCxnSpPr>
          <p:nvPr/>
        </p:nvCxnSpPr>
        <p:spPr>
          <a:xfrm flipV="1">
            <a:off x="7704000" y="2961000"/>
            <a:ext cx="251999" cy="82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2" idx="3"/>
            <a:endCxn id="23" idx="1"/>
          </p:cNvCxnSpPr>
          <p:nvPr/>
        </p:nvCxnSpPr>
        <p:spPr>
          <a:xfrm flipV="1">
            <a:off x="8567999" y="2691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3" idx="3"/>
            <a:endCxn id="24" idx="1"/>
          </p:cNvCxnSpPr>
          <p:nvPr/>
        </p:nvCxnSpPr>
        <p:spPr>
          <a:xfrm flipV="1">
            <a:off x="10008000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4" idx="2"/>
            <a:endCxn id="26" idx="0"/>
          </p:cNvCxnSpPr>
          <p:nvPr/>
        </p:nvCxnSpPr>
        <p:spPr>
          <a:xfrm>
            <a:off x="10512000" y="2906999"/>
            <a:ext cx="252000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6" idx="2"/>
            <a:endCxn id="27" idx="0"/>
          </p:cNvCxnSpPr>
          <p:nvPr/>
        </p:nvCxnSpPr>
        <p:spPr>
          <a:xfrm flipH="1">
            <a:off x="10764000" y="4059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24" idx="3"/>
            <a:endCxn id="28" idx="1"/>
          </p:cNvCxnSpPr>
          <p:nvPr/>
        </p:nvCxnSpPr>
        <p:spPr>
          <a:xfrm>
            <a:off x="10728000" y="2690999"/>
            <a:ext cx="540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23" idx="2"/>
            <a:endCxn id="29" idx="0"/>
          </p:cNvCxnSpPr>
          <p:nvPr/>
        </p:nvCxnSpPr>
        <p:spPr>
          <a:xfrm flipH="1">
            <a:off x="7955999" y="2961000"/>
            <a:ext cx="1440001" cy="2754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9" idx="3"/>
            <a:endCxn id="30" idx="1"/>
          </p:cNvCxnSpPr>
          <p:nvPr/>
        </p:nvCxnSpPr>
        <p:spPr>
          <a:xfrm flipV="1">
            <a:off x="8567999" y="5985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60000" y="6552000"/>
            <a:ext cx="1144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Нормативы реакции: 5 / 15 / 60 / 240 мин по уровню; решение и причина из справочника сохраняются в журнале для анализа и дообучения (ТЗ §12)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995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ПРОЦЕСС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80000"/>
            <a:ext cx="11448000" cy="518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376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37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671999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67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968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96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55999" y="1565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5999" y="1908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начало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Реестр и регламент: ТО в год по видам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График ТО и ТР, план-график ППР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1999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Сверка с графиком заказчика, правки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график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Работы месяца + рекомендации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000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«В план» на дату → черновик заявки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заявку, бригада зоны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2000" y="5346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Выполнить, отчёт, состояние</a:t>
            </a:r>
          </a:p>
        </p:txBody>
      </p:sp>
      <p:sp>
        <p:nvSpPr>
          <p:cNvPr id="21" name="Diamond 20"/>
          <p:cNvSpPr/>
          <p:nvPr/>
        </p:nvSpPr>
        <p:spPr>
          <a:xfrm>
            <a:off x="9576000" y="5400000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000" y="5130000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требует ремонта?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Рекомендация: ремонт / замена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40000" y="2754000"/>
            <a:ext cx="1152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Дата ТО и состояние в реестр</a:t>
            </a:r>
          </a:p>
        </p:txBody>
      </p:sp>
      <p:sp>
        <p:nvSpPr>
          <p:cNvPr id="25" name="Oval 24"/>
          <p:cNvSpPr/>
          <p:nvPr/>
        </p:nvSpPr>
        <p:spPr>
          <a:xfrm>
            <a:off x="11304000" y="5454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cxnSp>
        <p:nvCxnSpPr>
          <p:cNvPr id="26" name="Connector 25"/>
          <p:cNvCxnSpPr>
            <a:stCxn id="11" idx="3"/>
            <a:endCxn id="13" idx="1"/>
          </p:cNvCxnSpPr>
          <p:nvPr/>
        </p:nvCxnSpPr>
        <p:spPr>
          <a:xfrm>
            <a:off x="1979999" y="1727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V="1">
            <a:off x="3456000" y="1728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2"/>
            <a:endCxn id="15" idx="0"/>
          </p:cNvCxnSpPr>
          <p:nvPr/>
        </p:nvCxnSpPr>
        <p:spPr>
          <a:xfrm flipH="1">
            <a:off x="4283999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>
            <a:off x="4895999" y="3024000"/>
            <a:ext cx="216001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2"/>
          </p:cNvCxnSpPr>
          <p:nvPr/>
        </p:nvCxnSpPr>
        <p:spPr>
          <a:xfrm flipV="1">
            <a:off x="6336000" y="1998000"/>
            <a:ext cx="828000" cy="232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7" idx="2"/>
            <a:endCxn id="18" idx="0"/>
          </p:cNvCxnSpPr>
          <p:nvPr/>
        </p:nvCxnSpPr>
        <p:spPr>
          <a:xfrm flipH="1">
            <a:off x="7164000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3"/>
            <a:endCxn id="19" idx="1"/>
          </p:cNvCxnSpPr>
          <p:nvPr/>
        </p:nvCxnSpPr>
        <p:spPr>
          <a:xfrm>
            <a:off x="7776000" y="3024000"/>
            <a:ext cx="21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9" idx="2"/>
            <a:endCxn id="20" idx="0"/>
          </p:cNvCxnSpPr>
          <p:nvPr/>
        </p:nvCxnSpPr>
        <p:spPr>
          <a:xfrm flipH="1">
            <a:off x="8604000" y="4590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0" idx="3"/>
            <a:endCxn id="21" idx="1"/>
          </p:cNvCxnSpPr>
          <p:nvPr/>
        </p:nvCxnSpPr>
        <p:spPr>
          <a:xfrm flipV="1">
            <a:off x="9216000" y="5616000"/>
            <a:ext cx="360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1" idx="0"/>
            <a:endCxn id="23" idx="2"/>
          </p:cNvCxnSpPr>
          <p:nvPr/>
        </p:nvCxnSpPr>
        <p:spPr>
          <a:xfrm flipV="1">
            <a:off x="9792000" y="1998000"/>
            <a:ext cx="252000" cy="340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1" idx="3"/>
            <a:endCxn id="25" idx="1"/>
          </p:cNvCxnSpPr>
          <p:nvPr/>
        </p:nvCxnSpPr>
        <p:spPr>
          <a:xfrm flipV="1">
            <a:off x="10008000" y="5616000"/>
            <a:ext cx="1296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20" idx="0"/>
            <a:endCxn id="24" idx="2"/>
          </p:cNvCxnSpPr>
          <p:nvPr/>
        </p:nvCxnSpPr>
        <p:spPr>
          <a:xfrm flipV="1">
            <a:off x="8604000" y="3294000"/>
            <a:ext cx="2412000" cy="205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3" idx="1"/>
            <a:endCxn id="18" idx="3"/>
          </p:cNvCxnSpPr>
          <p:nvPr/>
        </p:nvCxnSpPr>
        <p:spPr>
          <a:xfrm flipH="1">
            <a:off x="7776000" y="1728000"/>
            <a:ext cx="165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0000" y="6480000"/>
            <a:ext cx="114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Регламент выведен из реальных графиков заказчика на 2026 год; ППР метановых датчиков: демонтаж → ОМ до 9:00 → вывоз → комиссия по рабочим дням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239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ML-КОНВЕЙЕР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Журналы СМВУ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Kafka, CSV/XLSX, Parquet-архив 2019–2026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Нормализация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профили: пороги, служебные коды, аспекты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68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Витрины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сутки × канал, часы; Data Health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Признаки на конец суток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окна 1–90 суток, каскады объекта, погода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76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LightGBM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обучение 2019–2024 (без 2021)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Переобучение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раз в неделю, чемпион / претендент, откат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4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Метки из решений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«что произошло» → правила → проверка аналитиком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8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 и исходы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бэктест, реализованная точность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2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Уровни риска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пороги по точности на 2025 году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76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Тест 2026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отложенный год, сравнение с правилом</a:t>
            </a:r>
          </a:p>
        </p:txBody>
      </p:sp>
      <p:cxnSp>
        <p:nvCxnSpPr>
          <p:cNvPr id="13" name="Connector 12"/>
          <p:cNvCxnSpPr>
            <a:stCxn id="3" idx="3"/>
            <a:endCxn id="4" idx="1"/>
          </p:cNvCxnSpPr>
          <p:nvPr/>
        </p:nvCxnSpPr>
        <p:spPr>
          <a:xfrm flipV="1">
            <a:off x="2375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4" idx="3"/>
            <a:endCxn id="5" idx="1"/>
          </p:cNvCxnSpPr>
          <p:nvPr/>
        </p:nvCxnSpPr>
        <p:spPr>
          <a:xfrm flipV="1">
            <a:off x="4679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5" idx="3"/>
            <a:endCxn id="6" idx="1"/>
          </p:cNvCxnSpPr>
          <p:nvPr/>
        </p:nvCxnSpPr>
        <p:spPr>
          <a:xfrm flipV="1">
            <a:off x="6983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7" idx="1"/>
          </p:cNvCxnSpPr>
          <p:nvPr/>
        </p:nvCxnSpPr>
        <p:spPr>
          <a:xfrm flipV="1">
            <a:off x="9287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2"/>
            <a:endCxn id="12" idx="0"/>
          </p:cNvCxnSpPr>
          <p:nvPr/>
        </p:nvCxnSpPr>
        <p:spPr>
          <a:xfrm flipH="1">
            <a:off x="10583999" y="2268000"/>
            <a:ext cx="0" cy="64800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2" idx="1"/>
            <a:endCxn id="11" idx="3"/>
          </p:cNvCxnSpPr>
          <p:nvPr/>
        </p:nvCxnSpPr>
        <p:spPr>
          <a:xfrm flipH="1" flipV="1">
            <a:off x="9287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0" idx="3"/>
          </p:cNvCxnSpPr>
          <p:nvPr/>
        </p:nvCxnSpPr>
        <p:spPr>
          <a:xfrm flipH="1" flipV="1">
            <a:off x="6983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1"/>
            <a:endCxn id="9" idx="3"/>
          </p:cNvCxnSpPr>
          <p:nvPr/>
        </p:nvCxnSpPr>
        <p:spPr>
          <a:xfrm flipH="1" flipV="1">
            <a:off x="4679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9" idx="1"/>
            <a:endCxn id="8" idx="3"/>
          </p:cNvCxnSpPr>
          <p:nvPr/>
        </p:nvCxnSpPr>
        <p:spPr>
          <a:xfrm flipH="1" flipV="1">
            <a:off x="2375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0"/>
            <a:endCxn id="3" idx="2"/>
          </p:cNvCxnSpPr>
          <p:nvPr/>
        </p:nvCxnSpPr>
        <p:spPr>
          <a:xfrm flipH="1" flipV="1">
            <a:off x="1367999" y="2268000"/>
            <a:ext cx="0" cy="648000"/>
          </a:xfrm>
          <a:prstGeom prst="line">
            <a:avLst/>
          </a:prstGeom>
          <a:ln w="25400">
            <a:solidFill>
              <a:srgbClr val="FF005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0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Принципы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Прогнозируется начало события: в выборке каналы «в норме» на конец суток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Одна функция признаков при обучении и в работе — расхождение проверено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Слабые метки из журналов: служебные коды, «1970», неисправности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Метрики только на отложенном годе; честное сравнение с простым правилом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2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 — без модели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5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Подтверждённых событий нет: модель выучила бы ложные срабатывания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Индекс правил: подтверждения из разных датчиков с поправками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Вероятность — калибровка индекса по архиву: те же правила, шаг час, исход «угроза проявилась за 24 ч», монотонность (PAVA)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Пожар: Brier 0,249 против 0,296 для постоянной частоты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РЕЗУЛЬТАТЫ: ТЕСТ 2026 ГОДА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88000"/>
          <a:ext cx="11447999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296000"/>
                <a:gridCol w="2015999"/>
                <a:gridCol w="2880000"/>
                <a:gridCol w="2736000"/>
              </a:tblGrid>
              <a:tr h="468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PR-AUC (случайная)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Высокий: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Отказ датчика,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0,112 (0,006)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0,21 / 0,09 · 32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0,10 / 0,45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Метан ≥ 1 %, 24 ч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0,188 (0,004)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0,08 / 0,74 · 20 в сутки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0,07 / 0,39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Подтопление,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0,179 (0,040)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0,15 / 0,46 · 21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/ 0,54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6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точнее случайного выбора: прогноз отказа уровня «высокий»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74 %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превышений метана ловит модель против 39 % у правила «был уровень ≥ 0,5 %»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12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медианное упреждение прогноза отказа датчика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сжатие потока: 90 250 сигналов → 2 138 карточек за 30 суток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5112000"/>
            <a:ext cx="11448000" cy="1296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5220000"/>
            <a:ext cx="11088000" cy="11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 о целях ТЗ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«Точность &gt; 0,7 и полнота &gt; 0,5 одновременно» недостижимы: события — доли процента каналов в сутки, журналов ремонтов нет, метки слабые. Поэтому уровни риска выбраны по точности: «критический» — для немедленной реакции, «высокий» — для планирования проверки. Бэктест июня 2026: реализованная точность журнала 0,20 / 0,13 / 0,15.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КАРТА МОНИТОРИНГА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38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nitoring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27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Главный экран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39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Своя зона в цвете, смежные — пунктиром, чужие объекты — серым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Бейджи: число карточек и их уровень, заявки в работе и просроченные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Режимы: обстановка, прогноз, датчики, данные, заявки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Объект: датчики по пикетам, карточки, заявки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392000"/>
            <a:ext cx="424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51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В закрытом контуре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949999"/>
            <a:ext cx="3960000" cy="138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Векторная карта OpenStreetMap, свой сервер тайлов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Без тайлов — пустой фон, зоны и бейджи работают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ЭПИЗОД ВМЕСТО СОТНИ ТРЕВОГ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731999" cy="470799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cident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623999" cy="4599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3999" y="1152000"/>
            <a:ext cx="4464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87999" y="1278000"/>
            <a:ext cx="417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видит диспетчер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999" y="1710000"/>
            <a:ext cx="4176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Сколько сигналов и каналов склеено, первое и последнее событие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Гипотезы первопричины с весами: питание, связь, модуль датчика, работы, внешний фактор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Операционный приоритет 0–100: очередь по опасности, а не по времени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Чек-лист по типу инцидента и гипотезе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Кто уже смотрел карточку, кто первым откликнулся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Решение с ответом «что произошло» — метка для обучения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Черновик заявки одной кнопкой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ПОЖАР И НСД, КАМЕРЫ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084000" cy="467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ire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5976000" cy="456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96000" y="1152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0" y="1278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Вероятность по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0" y="1710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Индекс правил посчитан по архиву 2019–2026 теми же правилами и окнами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Пожар: индекс 0,15–0,3 → 7 %, 0,3–0,75 → 42 %, от 0,75 → 63 %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 карточке: вероятность, индекс и число похожих случаев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НСД: повтор тревог 78 % почти при любом индексе — главное проверка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6000" y="3888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4014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 (ТЗ §12, шаг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4446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Ближайшие к месту тревоги камеры по пикетам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Кадр на момент тревоги из архива VMS и текущий кадр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Просмотр — в хронологии карточки и журнале действий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Адаптер VMS заказчика в .env, на стенде — эмулятор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ИНЖЕНЕР ТО: ГРАФИКИ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sche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Сверка с реальными графиками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03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Периодичность ТО совпала в 91 % строк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Число ТО+ТР в году — в 99 %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 нагрузки: 47 работ в месяц против 62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ППР: 15 партий против 16, конец 23.12 против 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031999"/>
            <a:ext cx="4248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157999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589999"/>
            <a:ext cx="3960000" cy="174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Регламент по видам оборудования из графика заказчика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Генератор выравнивает нагрузку по месяцам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XLSX в форме заказчика, утверждение — руководитель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Работы месяца → заявки → состояние от бригады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600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КОНСТРУКТОР ДАТЧИКОВ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Сообщение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JSON, CSV, строка контроллера, MQTT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Шаблон формата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ontserrat"/>
              </a:rPr>
              <a:t>где канал, время, значение, тревога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375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968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Единое событие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RawEvent — одно для всех источников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679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272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Профиль датчика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пороги, служебные коды, правила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983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576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Конвейер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нормализация, прогноз, карточки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9287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8000" y="2501999"/>
            <a:ext cx="5364000" cy="463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12" name="Picture 11" descr="co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556000"/>
            <a:ext cx="5256000" cy="4526000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48000" y="2520000"/>
          <a:ext cx="576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160000"/>
                <a:gridCol w="1224000"/>
              </a:tblGrid>
              <a:tr h="4114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Что подключить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Как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Код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Датчик нового формата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шаблон + профиль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тип датчика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профиль и правила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Вид оборудования и регламент 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запись регламента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Система заказчика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режим и адрес в .env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Новая задача прогноза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описание в specs.py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транспорт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адаптер с тем же RawEvent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48000" y="5616000"/>
            <a:ext cx="5760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ontserrat"/>
              </a:rPr>
              <a:t>Приём: HTTP от шлюза с ключом источника или обёртка в Kafka; песочница показывает разбор и нормализацию до подключения. Проверено: строка контроллера → Kafka → показание за секунды.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АРХИТЕКТУРА И ИНТЕГРАЦИИ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Источники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СМВУ → Kafka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Файлы CSV/XLSX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Шаблоны конструктора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Open-Meteo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Ядро: модульный монолит 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ingestion → normalization → telemetry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forecasting → incidents → workorders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accounts, topology (RBAC + зоны), audit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integrations: адаптеры с режимами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Хранение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PostgreSQL 16 + TimescaleDB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Parquet-архив 2019–2026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Redis, Celery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витрины сутки / часы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Клиенты и системы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React SPA + WebSocket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REST API JSON/XML, OpenAPI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help desk, реестр, VMS, AD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Grafana, Prometheus</a:t>
            </a:r>
          </a:p>
        </p:txBody>
      </p:sp>
      <p:cxnSp>
        <p:nvCxnSpPr>
          <p:cNvPr id="15" name="Connector 14"/>
          <p:cNvCxnSpPr>
            <a:stCxn id="3" idx="3"/>
            <a:endCxn id="6" idx="1"/>
          </p:cNvCxnSpPr>
          <p:nvPr/>
        </p:nvCxnSpPr>
        <p:spPr>
          <a:xfrm flipV="1">
            <a:off x="302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9" idx="1"/>
          </p:cNvCxnSpPr>
          <p:nvPr/>
        </p:nvCxnSpPr>
        <p:spPr>
          <a:xfrm flipV="1">
            <a:off x="590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3"/>
            <a:endCxn id="12" idx="1"/>
          </p:cNvCxnSpPr>
          <p:nvPr/>
        </p:nvCxnSpPr>
        <p:spPr>
          <a:xfrm flipV="1">
            <a:off x="878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0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Системы заказчика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Help desk: mock / rest / off, токен, пути, карта статусов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Реестр оборудования: API раз в сутки или файл CSV/XLSX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Видеонаблюдение: кадр на момент тревоги, ссылка на поток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AD по LDAPS: группа = роль, departmentNumber = зона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Страница «Интеграции»: режим, обмен, ошибка, проверка связи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2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5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Контуры и развёртывание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5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Оперативный контур, архив, витрины (ТЗ §13)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Учебный контур — подсистема на том же адресе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docker compose одной командой; закрытый контур — комплект образов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Только чтение из систем заказчика, кроме передачи заявки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356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НАДЁЖНОСТЬ И БЕЗОПАСНОСТЬ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47 мс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медиана ответа при 20 одновременных пользователях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≈5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прогноз по всем объектам за цикл (ТЗ ≤ 300 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242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автотеста платформы и симулятора, линтеры, аудит зависимостей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≤ 4 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восстановление из ежедневной копии проверено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Безопасность (ТЗ §11)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TLS 1.2+, HSTS, CSP, наружу только Caddy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RBAC: 8 ролей и зона ответственности на каждом запросе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LDAP/AD, блокировка подбора пароля, отзыв токенов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Журнал всех действий и просмотров карточек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Grafana: вход через систему, роль БД только на чтение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Отчёт о проверке и чек-лист ввода в эксплуатацию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5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Эксплуатация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5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Prometheus и Grafana: сервисы, очереди, задержка потока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Ежедневный pg_dump с ротацией 7 / 4 / 3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Инструкция по развёртыванию у заказчика, проверка check.sh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Документация 118 страниц и 8 руководств по ролям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149-ФЗ и 152-ФЗ: только чтение, минимизация данных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5263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МОБИЛЬНОЕ ПРИЛОЖЕНИЕ В БРАУЗЕРЕ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4953498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bile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4845498" cy="511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54000" y="1170000"/>
            <a:ext cx="2470180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5" name="Picture 4" descr="brigade_4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000" y="1224000"/>
            <a:ext cx="2362180" cy="511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08000" y="1152000"/>
            <a:ext cx="36000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52000" y="1278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 магазина приложений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2000" y="1710000"/>
            <a:ext cx="3311999" cy="232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Открывается по ссылке в браузере телефона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«На главный экран» — значок и полноэкранный режим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Тот же вход, роли и зоны, что на ПК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Обновляется вместе с сервером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8000" y="4320000"/>
            <a:ext cx="3600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2000" y="4446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На объекте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2000" y="4878000"/>
            <a:ext cx="3311999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Бригада: заявки на карте, «в работу», «выполнена», отчёт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Руководитель: утверждение с планшета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 360 px, проверено на 25 страницах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УЧЕБНЫЙ КОНТУР И УЧЕНИЯ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exerc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Тренировка смены без риска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Полигон из трёх объектов и симулятор датчиков: 9 сценариев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Учения: сценарий, темп, осложнение, «молчащий» участник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Разбор: отклик в норматив, решения, заявки, хронология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Учебные задания по ролям с подсказками и счётом ошибок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Вики: регламенты и памятки по ролям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844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СООТВЕТСТВИЕ ТЗ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52000"/>
          <a:ext cx="11448000" cy="52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3960000"/>
                <a:gridCol w="6336000"/>
              </a:tblGrid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Раздел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Реализация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§3, §8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Планирование ТО, черновики заявок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Инженер ТО, план и графики ТО и ППР, рекомендации, заявки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§4, §6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Отказы, пожар, подтопление, НСД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 модели на 24 ч, индикаторы с вероятностью по истории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заменяет диспетчера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Решение и причина — за человеком, система предлагает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§7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CSV, XLSX, JSON, XML, GeoJSON, WKT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Импорт, REST JSON/XML, схема в GeoJSON/WKT, конструктор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§9, 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≤ 300 с, 20 пользователей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≈5 с цикл прогноза, 47 мс при 20 пользователях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§10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Дашборд, карта, журнал, уведомления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Мониторинг, оперативная обстановка, журнал прогнозов, WebSocket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TLS, LDAP/AD, RBAC, журнал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Caddy TLS, AD, 8 ролей и зоны, журнал действий и просмотров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§12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Пути «пожар» и «подтопление»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→ проверка по камерам → решение → метка для обучения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Метео, только чтение, контуры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Open-Meteo, адаптеры на чтение, оперативный контур, архив, витрины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Документация, методы,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118 страниц, руководства по ролям, перечень библиотек, открытый код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ЭФФЕКТ ДЛЯ ЭКСПЛУАТАЦИИ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Меньше ложных выездов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Карточка эпизода вместо сотни тревог (×42), гипотеза «потеря связи / питание», проверка по камерам до выезда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2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2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2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Раньше о рисках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2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Прогноз на 24 ч: метан ловится в 74 % случаев против 39 % у правила; упреждение отказа — 12 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3999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3999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999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ТО по состоянию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999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Рекомендации по прогнозам и осмотрам, ровная загрузка бригад: пик 47 работ против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Прозрачная 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Нормативы реакции, эскалация, «кто первый», показатели сотрудников и отчёты PDF/XLSX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12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2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Быстрое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92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Одна команда развёртывания, закрытый контур, системы заказчика — режимом в .env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3999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3999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999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Масштабирование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999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Любые коллекторы и датчики — шаблоном и профилем; обучение смены на полигоне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692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ПЛАНЫ РАЗВИТИЯ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Пилот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AD и help desk заказчика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поток СМВУ через шлюз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реестр из учётной системы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Данные</a:t>
            </a:r>
          </a:p>
        </p:txBody>
      </p:sp>
      <p:cxnSp>
        <p:nvCxnSpPr>
          <p:cNvPr id="7" name="Connector 6"/>
          <p:cNvCxnSpPr>
            <a:stCxn id="3" idx="3"/>
            <a:endCxn id="6" idx="1"/>
          </p:cNvCxnSpPr>
          <p:nvPr/>
        </p:nvCxnSpPr>
        <p:spPr>
          <a:xfrm flipV="1">
            <a:off x="302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4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режим охраны от шлюза для НСД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журналы ремонтов → метки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датчики уровня воды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Модели</a:t>
            </a:r>
          </a:p>
        </p:txBody>
      </p:sp>
      <p:cxnSp>
        <p:nvCxnSpPr>
          <p:cNvPr id="11" name="Connector 10"/>
          <p:cNvCxnSpPr>
            <a:stCxn id="6" idx="3"/>
            <a:endCxn id="10" idx="1"/>
          </p:cNvCxnSpPr>
          <p:nvPr/>
        </p:nvCxnSpPr>
        <p:spPr>
          <a:xfrm flipV="1">
            <a:off x="590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2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прогноз на 7 суток для всех задач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разбор ложных прогнозов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контрфактические рекомендации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Продукт</a:t>
            </a:r>
          </a:p>
        </p:txBody>
      </p:sp>
      <p:cxnSp>
        <p:nvCxnSpPr>
          <p:cNvPr id="15" name="Connector 14"/>
          <p:cNvCxnSpPr>
            <a:stCxn id="10" idx="3"/>
            <a:endCxn id="14" idx="1"/>
          </p:cNvCxnSpPr>
          <p:nvPr/>
        </p:nvCxnSpPr>
        <p:spPr>
          <a:xfrm flipV="1">
            <a:off x="878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офлайн-режим бригады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учения по нескольким объектам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тиражирование на другие районы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5400000"/>
            <a:ext cx="11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Каркас готов к развитию без переделки ядра: роли и зоны, журнал действий, отдельные контуры данных, общий конвейер моделей и конструктор источников.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0"/>
            <a:ext cx="7200000" cy="9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3240000"/>
            <a:ext cx="7200000" cy="18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[Название команды]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Репозиторий: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Прототип: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Документация и руководства: [ссылка]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