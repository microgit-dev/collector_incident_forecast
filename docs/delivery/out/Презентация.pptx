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81295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7617807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14.09.2026</a:t>
            </a:fld>
            <a:endParaRPr lang="ru-RU"/>
          </a:p>
        </p:txBody>
      </p:sp>
      <p:sp>
        <p:nvSpPr>
          <p:cNvPr id="1008376219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657332147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6190999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3207721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4A0333-DA6B-BAA6-F9EA-5D8AC4D62B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9B8682-549C-E1BB-F508-D1525C1FC7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444576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266101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362608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542127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5156749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942801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99260-C65D-4A5C-3C37-B22449FEC14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68288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88029575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401620835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602869623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076004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66635619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22378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16.09.2026</a:t>
            </a:fld>
            <a:endParaRPr lang="ru-RU"/>
          </a:p>
        </p:txBody>
      </p:sp>
      <p:sp>
        <p:nvSpPr>
          <p:cNvPr id="104878655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9380906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92736678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1795973529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91393798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154833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0006364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60029963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5602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16.09.2026</a:t>
            </a:fld>
            <a:endParaRPr lang="ru-RU"/>
          </a:p>
        </p:txBody>
      </p:sp>
      <p:sp>
        <p:nvSpPr>
          <p:cNvPr id="11232564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07451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5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66932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1237116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16.09.2026</a:t>
            </a:fld>
            <a:endParaRPr lang="ru-RU"/>
          </a:p>
        </p:txBody>
      </p:sp>
      <p:sp>
        <p:nvSpPr>
          <p:cNvPr id="18586653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105828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4544634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536032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4292606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8977096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16.09.2026</a:t>
            </a:fld>
            <a:endParaRPr lang="ru-RU"/>
          </a:p>
        </p:txBody>
      </p:sp>
      <p:sp>
        <p:nvSpPr>
          <p:cNvPr id="1213391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7749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91928755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5589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22349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3163667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1214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280543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16.09.2026</a:t>
            </a:fld>
            <a:endParaRPr lang="ru-RU"/>
          </a:p>
        </p:txBody>
      </p:sp>
      <p:sp>
        <p:nvSpPr>
          <p:cNvPr id="657734324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41445009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91046477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2139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16.09.2026</a:t>
            </a:fld>
            <a:endParaRPr lang="ru-RU"/>
          </a:p>
        </p:txBody>
      </p:sp>
      <p:sp>
        <p:nvSpPr>
          <p:cNvPr id="14842797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861867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5011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5281028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9636657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61198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16.09.2026</a:t>
            </a:fld>
            <a:endParaRPr lang="ru-RU"/>
          </a:p>
        </p:txBody>
      </p:sp>
      <p:sp>
        <p:nvSpPr>
          <p:cNvPr id="15561524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1458955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0165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16.09.2026</a:t>
            </a:fld>
            <a:endParaRPr lang="ru-RU"/>
          </a:p>
        </p:txBody>
      </p:sp>
      <p:sp>
        <p:nvSpPr>
          <p:cNvPr id="20753482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987222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6834576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27087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16.09.2026</a:t>
            </a:fld>
            <a:endParaRPr lang="ru-RU"/>
          </a:p>
        </p:txBody>
      </p:sp>
      <p:sp>
        <p:nvSpPr>
          <p:cNvPr id="19504199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0058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9238090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874422937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4822356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69095115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530970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6454970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06979775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35738940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7636417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58554842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611309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68018869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9577271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8992539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5697210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20814888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68421000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251946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969617493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84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16.09.2026</a:t>
            </a:fld>
            <a:endParaRPr lang="ru-RU"/>
          </a:p>
        </p:txBody>
      </p:sp>
      <p:sp>
        <p:nvSpPr>
          <p:cNvPr id="20881933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57589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77865552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39753479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67254588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193506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0516688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5329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16.09.2026</a:t>
            </a:fld>
            <a:endParaRPr lang="ru-RU"/>
          </a:p>
        </p:txBody>
      </p:sp>
      <p:sp>
        <p:nvSpPr>
          <p:cNvPr id="14957248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8407401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038931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808292524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1151279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899808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709136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39403092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5408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16.09.2026</a:t>
            </a:fld>
            <a:endParaRPr lang="ru-RU"/>
          </a:p>
        </p:txBody>
      </p:sp>
      <p:sp>
        <p:nvSpPr>
          <p:cNvPr id="15107933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229932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3725686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689292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88821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181558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397242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6472058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275498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5810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16.09.2026</a:t>
            </a:fld>
            <a:endParaRPr lang="ru-RU"/>
          </a:p>
        </p:txBody>
      </p:sp>
      <p:sp>
        <p:nvSpPr>
          <p:cNvPr id="45079419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08152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9732652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9114585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7668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066030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916448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024821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6527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950524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930435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6692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16.09.2026</a:t>
            </a:fld>
            <a:endParaRPr lang="ru-RU"/>
          </a:p>
        </p:txBody>
      </p:sp>
      <p:sp>
        <p:nvSpPr>
          <p:cNvPr id="3437555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715226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4514292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3244288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151942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879207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8241485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5407611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283262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619203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626048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4985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16.09.2026</a:t>
            </a:fld>
            <a:endParaRPr lang="ru-RU"/>
          </a:p>
        </p:txBody>
      </p:sp>
      <p:sp>
        <p:nvSpPr>
          <p:cNvPr id="14484525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10992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2492746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322562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24083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76004260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7609924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710853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49188184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968598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590395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0288170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55163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5798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16.09.2026</a:t>
            </a:fld>
            <a:endParaRPr lang="ru-RU"/>
          </a:p>
        </p:txBody>
      </p:sp>
      <p:sp>
        <p:nvSpPr>
          <p:cNvPr id="16758053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143372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60885061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22197277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1611885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42872929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85644311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922520453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034779806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08616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8964899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16.09.2026</a:t>
            </a:fld>
            <a:endParaRPr lang="ru-RU"/>
          </a:p>
        </p:txBody>
      </p:sp>
      <p:sp>
        <p:nvSpPr>
          <p:cNvPr id="37812774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889069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4715051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102458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028016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04478788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235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16.09.2026</a:t>
            </a:fld>
            <a:endParaRPr lang="ru-RU"/>
          </a:p>
        </p:txBody>
      </p:sp>
      <p:sp>
        <p:nvSpPr>
          <p:cNvPr id="11471699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03687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591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363981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72244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2558450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823724485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2474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666637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61976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067376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894898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5861159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4532877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25523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08796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589614520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545724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62522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7509977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61946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18129555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16.09.2026</a:t>
            </a:fld>
            <a:endParaRPr lang="ru-RU"/>
          </a:p>
        </p:txBody>
      </p:sp>
      <p:sp>
        <p:nvSpPr>
          <p:cNvPr id="2139654067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785463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93936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803866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990037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6817185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9325052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16.09.2026</a:t>
            </a:fld>
            <a:endParaRPr lang="ru-RU"/>
          </a:p>
        </p:txBody>
      </p:sp>
      <p:sp>
        <p:nvSpPr>
          <p:cNvPr id="79260098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505046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6442084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6314850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54257058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025276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2672160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09744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03902632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1779235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16.09.2026</a:t>
            </a:fld>
            <a:endParaRPr lang="ru-RU"/>
          </a:p>
        </p:txBody>
      </p:sp>
      <p:sp>
        <p:nvSpPr>
          <p:cNvPr id="192607067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8248768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8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2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2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29.png"/><Relationship Id="rId3" Type="http://schemas.openxmlformats.org/officeDocument/2006/relationships/image" Target="../media/image83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3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3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33.png"/><Relationship Id="rId3" Type="http://schemas.openxmlformats.org/officeDocument/2006/relationships/image" Target="../media/image83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3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3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37.png"/><Relationship Id="rId3" Type="http://schemas.openxmlformats.org/officeDocument/2006/relationships/image" Target="../media/image838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39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r>
              <a:t>[Название команды]</a:t>
            </a:r>
          </a:p>
        </p:txBody>
      </p:sp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/>
          <a:lstStyle/>
          <a:p>
            <a:r>
              <a:t>Задача 8 ДЖКХ: сервис прогнозирования инцидентов и управления ремонтными работами инженерных коллекторов Москвы</a:t>
            </a:r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091804845" name="Picture 10918048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86" y="437801"/>
            <a:ext cx="2414069" cy="8665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098921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pic>
        <p:nvPicPr>
          <p:cNvPr id="1609484257" name="Рисунок 1" descr="workspace.pn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13177" b="13177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114360025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441518184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• 47 тревог → 1 карточка с причиной</a:t>
            </a:r>
            <a:endParaRPr/>
          </a:p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• Прогноз аварий на сутки вперёд</a:t>
            </a:r>
            <a:endParaRPr/>
          </a:p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• No-code: датчик без программиста</a:t>
            </a:r>
            <a:endParaRPr/>
          </a:p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• Здание и этажи по снимку (ИИ)</a:t>
            </a:r>
            <a:endParaRPr/>
          </a:p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• Сигнал → решение → заявка → ТО</a:t>
            </a:r>
            <a:endParaRPr/>
          </a:p>
        </p:txBody>
      </p:sp>
      <p:sp>
        <p:nvSpPr>
          <p:cNvPr id="661119785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[ФИО капитана, специальность]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[N] человек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0">
                <a:solidFill>
                  <a:schemeClr val="tx1"/>
                </a:solidFill>
              </a:rPr>
              <a:t>[как образовалась команда; место работы или учёбы участников]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[город и регион]</a:t>
            </a:r>
            <a:endParaRPr/>
          </a:p>
        </p:txBody>
      </p:sp>
      <p:sp>
        <p:nvSpPr>
          <p:cNvPr id="648121520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328740113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r>
              <a:rPr>
                <a:solidFill>
                  <a:srgbClr val="520978"/>
                </a:solidFill>
              </a:rPr>
              <a:t>Прогноз инцидентов коллекторов</a:t>
            </a:r>
          </a:p>
        </p:txBody>
      </p:sp>
      <p:cxnSp>
        <p:nvCxnSpPr>
          <p:cNvPr id="147895407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16552124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31184900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03619342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075761414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Превращает поток тревог СМВУ в понятные риски: прогноз на сутки, причина, действие — и ведёт решение диспетчера до заявки бригаде и ТО.</a:t>
            </a:r>
            <a:endParaRPr/>
          </a:p>
        </p:txBody>
      </p:sp>
      <p:sp>
        <p:nvSpPr>
          <p:cNvPr id="2108767591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154554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2366709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9369581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172799835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415042907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105846267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[роль в команде]</a:t>
            </a:r>
            <a:endParaRPr/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[ник]</a:t>
            </a:r>
            <a:endParaRPr/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  <a:endParaRPr/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[место работы/учёбы]</a:t>
            </a:r>
            <a:endParaRPr/>
          </a:p>
        </p:txBody>
      </p:sp>
      <p:sp>
        <p:nvSpPr>
          <p:cNvPr id="12787506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[Имя Фамилия]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63204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4040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529765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 И ЗАДАЧЕ</a:t>
            </a:r>
          </a:p>
        </p:txBody>
      </p:sp>
      <p:sp>
        <p:nvSpPr>
          <p:cNvPr id="158889012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[Краткая история команды: как собрались, участвовали ли вместе в хакатонах или проектах]</a:t>
            </a:r>
            <a:endParaRPr/>
          </a:p>
        </p:txBody>
      </p:sp>
      <p:sp>
        <p:nvSpPr>
          <p:cNvPr id="493921390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43118211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Данные без меток и почти без реальных пожаров: метки вывели из журналов, для пожара и НСД — правила с вероятностью. Каскады по сотне каналов — склейка в эпизоды.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65507967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1574440249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Реальные данные города — 14 ГБ журналов за 8 лет — и польза, видная сразу: меньше ложных выездов, ТО по состоянию.</a:t>
            </a:r>
            <a:endParaRPr/>
          </a:p>
        </p:txBody>
      </p:sp>
      <p:sp>
        <p:nvSpPr>
          <p:cNvPr id="1790469585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1125078722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1438399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4362844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72459714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97775083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433482465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634285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449051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93046190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701875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7821818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Модульная платформа: независимые модули и сменные адаптеры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No-code: датчики, зоны, регламенты — без программиста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Поток СМВУ (Kafka) → TimescaleDB → LightGBM на 24 ч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Склейка тревог в эпизоды ×42, причина и приоритет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Django, React, Celery, Grafana; AD, 8 ролей, TLS</a:t>
            </a:r>
            <a:endParaRPr/>
          </a:p>
        </p:txBody>
      </p:sp>
      <p:sp>
        <p:nvSpPr>
          <p:cNvPr id="3216555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Диспетчерам: меньше ложных выездов, очередь по опасности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Эксплуатации: ТО по состоянию, графики в формах заказчика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Внедрению: одна команда, закрытый контур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Тиражированию: новый район и датчики без кода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Эффект: ≈ 9,6 млн ₽ в год на район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</p:txBody>
      </p:sp>
      <p:sp>
        <p:nvSpPr>
          <p:cNvPr id="6075001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213983632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87825378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31464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ПРОБЛЕМА И ДАННЫЕ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52000"/>
            <a:ext cx="3671999" cy="25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1278000"/>
            <a:ext cx="3383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Поток тревог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710000"/>
            <a:ext cx="3383999" cy="196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90 250 сигналов за 30 суток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Каскад — сотня тревог за секунду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48000" y="1152000"/>
            <a:ext cx="3671999" cy="25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92000" y="1278000"/>
            <a:ext cx="3383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Ложные выезды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2000" y="1710000"/>
            <a:ext cx="3383999" cy="196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Тревоги в основном ложные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Выезды «на всякий случай»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6000" y="1152000"/>
            <a:ext cx="3671999" cy="25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0000" y="1278000"/>
            <a:ext cx="3383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ТО по календарю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0000" y="1710000"/>
            <a:ext cx="3383999" cy="196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Без учёта состояния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Графики вручную в XLSX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0000" y="3960000"/>
            <a:ext cx="11448000" cy="2376000"/>
          </a:xfrm>
          <a:prstGeom prst="roundRect">
            <a:avLst>
              <a:gd name="adj" fmla="val 5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00" y="4104000"/>
            <a:ext cx="11016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ontserrat"/>
              </a:rPr>
              <a:t>Данные заказчика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4536000"/>
            <a:ext cx="208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14 ГБ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00" y="5184000"/>
            <a:ext cx="208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журналов СМВУ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за 8 лет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8000" y="4536000"/>
            <a:ext cx="208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11 485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8000" y="5184000"/>
            <a:ext cx="208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каналов,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19 типов датчиков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0000" y="4536000"/>
            <a:ext cx="208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0000" y="5184000"/>
            <a:ext cx="208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объектов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района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72000" y="4536000"/>
            <a:ext cx="208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1 008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2000" y="5184000"/>
            <a:ext cx="208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датчиков метана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в ППР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4000" y="4536000"/>
            <a:ext cx="208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4000" y="5184000"/>
            <a:ext cx="208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объекта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в графике ТО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0536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РЕШЕНИЕ: ЗАМКНУТЫЙ ЦИКЛ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Предсказать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0000" y="2520000"/>
            <a:ext cx="1475999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0000" y="2628000"/>
            <a:ext cx="1296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риск на 24 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5999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Объединить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5999" y="2520000"/>
            <a:ext cx="1475999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6000" y="2628000"/>
            <a:ext cx="1296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сотня тревог → 1 эпизод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71999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Расставить приоритет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71999" y="2520000"/>
            <a:ext cx="1475999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61999" y="2628000"/>
            <a:ext cx="1296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очередь по опасности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8000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Объяснить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28000" y="2520000"/>
            <a:ext cx="1475999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8000" y="2628000"/>
            <a:ext cx="1296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причина и факторы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83999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Предложить действие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83999" y="2520000"/>
            <a:ext cx="1475999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73999" y="2628000"/>
            <a:ext cx="1296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чек-лист, заявка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40000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Получить результат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40000" y="2520000"/>
            <a:ext cx="1475999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0000" y="2628000"/>
            <a:ext cx="1296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решение, отчёт бригады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96000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Улучшить модель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96000" y="2520000"/>
            <a:ext cx="1475999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86000" y="2628000"/>
            <a:ext cx="1296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обучение на решениях</a:t>
            </a:r>
          </a:p>
        </p:txBody>
      </p:sp>
      <p:cxnSp>
        <p:nvCxnSpPr>
          <p:cNvPr id="24" name="Connector 23"/>
          <p:cNvCxnSpPr>
            <a:stCxn id="3" idx="3"/>
            <a:endCxn id="6" idx="1"/>
          </p:cNvCxnSpPr>
          <p:nvPr/>
        </p:nvCxnSpPr>
        <p:spPr>
          <a:xfrm flipV="1">
            <a:off x="1835999" y="1908000"/>
            <a:ext cx="180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6" idx="3"/>
            <a:endCxn id="9" idx="1"/>
          </p:cNvCxnSpPr>
          <p:nvPr/>
        </p:nvCxnSpPr>
        <p:spPr>
          <a:xfrm flipV="1">
            <a:off x="3491998" y="1908000"/>
            <a:ext cx="180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9" idx="3"/>
            <a:endCxn id="12" idx="1"/>
          </p:cNvCxnSpPr>
          <p:nvPr/>
        </p:nvCxnSpPr>
        <p:spPr>
          <a:xfrm flipV="1">
            <a:off x="5147998" y="1908000"/>
            <a:ext cx="180002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2" idx="3"/>
            <a:endCxn id="15" idx="1"/>
          </p:cNvCxnSpPr>
          <p:nvPr/>
        </p:nvCxnSpPr>
        <p:spPr>
          <a:xfrm flipV="1">
            <a:off x="6803999" y="1908000"/>
            <a:ext cx="180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5" idx="3"/>
            <a:endCxn id="18" idx="1"/>
          </p:cNvCxnSpPr>
          <p:nvPr/>
        </p:nvCxnSpPr>
        <p:spPr>
          <a:xfrm flipV="1">
            <a:off x="8459998" y="1908000"/>
            <a:ext cx="180002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8" idx="3"/>
            <a:endCxn id="21" idx="1"/>
          </p:cNvCxnSpPr>
          <p:nvPr/>
        </p:nvCxnSpPr>
        <p:spPr>
          <a:xfrm flipV="1">
            <a:off x="10115999" y="1908000"/>
            <a:ext cx="180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60000" y="4031999"/>
            <a:ext cx="11448000" cy="43200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↻ решение человека возвращается в систему как обратная связь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0000" y="4824000"/>
            <a:ext cx="2015999" cy="1512000"/>
          </a:xfrm>
          <a:prstGeom prst="roundRect">
            <a:avLst>
              <a:gd name="adj" fmla="val 8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3200" b="1">
                <a:solidFill>
                  <a:srgbClr val="FF0053"/>
                </a:solidFill>
                <a:latin typeface="Montserrat"/>
              </a:rPr>
              <a:t>47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тревог на объекте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82000" y="4824000"/>
            <a:ext cx="2015999" cy="1512000"/>
          </a:xfrm>
          <a:prstGeom prst="roundRect">
            <a:avLst>
              <a:gd name="adj" fmla="val 8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3200" b="1">
                <a:solidFill>
                  <a:srgbClr val="FF0053"/>
                </a:solidFill>
                <a:latin typeface="Montserrat"/>
              </a:rPr>
              <a:t>1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карточка</a:t>
            </a:r>
          </a:p>
        </p:txBody>
      </p:sp>
      <p:cxnSp>
        <p:nvCxnSpPr>
          <p:cNvPr id="33" name="Connector 32"/>
          <p:cNvCxnSpPr>
            <a:stCxn id="31" idx="3"/>
            <a:endCxn id="32" idx="1"/>
          </p:cNvCxnSpPr>
          <p:nvPr/>
        </p:nvCxnSpPr>
        <p:spPr>
          <a:xfrm flipV="1">
            <a:off x="2375999" y="5580000"/>
            <a:ext cx="306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004000" y="4824000"/>
            <a:ext cx="2015999" cy="1512000"/>
          </a:xfrm>
          <a:prstGeom prst="roundRect">
            <a:avLst>
              <a:gd name="adj" fmla="val 8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3200" b="1">
                <a:solidFill>
                  <a:srgbClr val="FF0053"/>
                </a:solidFill>
                <a:latin typeface="Montserrat"/>
              </a:rPr>
              <a:t>3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гипотезы причины</a:t>
            </a:r>
          </a:p>
        </p:txBody>
      </p:sp>
      <p:cxnSp>
        <p:nvCxnSpPr>
          <p:cNvPr id="35" name="Connector 34"/>
          <p:cNvCxnSpPr>
            <a:stCxn id="32" idx="3"/>
            <a:endCxn id="34" idx="1"/>
          </p:cNvCxnSpPr>
          <p:nvPr/>
        </p:nvCxnSpPr>
        <p:spPr>
          <a:xfrm flipV="1">
            <a:off x="4697999" y="5580000"/>
            <a:ext cx="306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326000" y="4824000"/>
            <a:ext cx="2015999" cy="1512000"/>
          </a:xfrm>
          <a:prstGeom prst="roundRect">
            <a:avLst>
              <a:gd name="adj" fmla="val 8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3200" b="1">
                <a:solidFill>
                  <a:srgbClr val="FF0053"/>
                </a:solidFill>
                <a:latin typeface="Montserrat"/>
              </a:rPr>
              <a:t>1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действие</a:t>
            </a:r>
          </a:p>
        </p:txBody>
      </p:sp>
      <p:cxnSp>
        <p:nvCxnSpPr>
          <p:cNvPr id="37" name="Connector 36"/>
          <p:cNvCxnSpPr>
            <a:stCxn id="34" idx="3"/>
            <a:endCxn id="36" idx="1"/>
          </p:cNvCxnSpPr>
          <p:nvPr/>
        </p:nvCxnSpPr>
        <p:spPr>
          <a:xfrm flipV="1">
            <a:off x="7019999" y="5580000"/>
            <a:ext cx="306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648000" y="4824000"/>
            <a:ext cx="2015999" cy="1512000"/>
          </a:xfrm>
          <a:prstGeom prst="roundRect">
            <a:avLst>
              <a:gd name="adj" fmla="val 8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3200" b="1">
                <a:solidFill>
                  <a:srgbClr val="FF0053"/>
                </a:solidFill>
                <a:latin typeface="Montserrat"/>
              </a:rPr>
              <a:t>1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заявка</a:t>
            </a:r>
          </a:p>
        </p:txBody>
      </p:sp>
      <p:cxnSp>
        <p:nvCxnSpPr>
          <p:cNvPr id="39" name="Connector 38"/>
          <p:cNvCxnSpPr>
            <a:stCxn id="36" idx="3"/>
            <a:endCxn id="38" idx="1"/>
          </p:cNvCxnSpPr>
          <p:nvPr/>
        </p:nvCxnSpPr>
        <p:spPr>
          <a:xfrm flipV="1">
            <a:off x="9341999" y="5580000"/>
            <a:ext cx="306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16344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ФУНКЦИИ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52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03999" y="1350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2000" y="1260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20978"/>
                </a:solidFill>
                <a:latin typeface="Montserrat"/>
              </a:rPr>
              <a:t>Мониторинг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3999" y="1764000"/>
            <a:ext cx="244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карта зоны, 5 режимов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0000" y="1152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84000" y="1350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1999" y="1260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20978"/>
                </a:solidFill>
                <a:latin typeface="Montserrat"/>
              </a:rPr>
              <a:t>Эпизоды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4000" y="1764000"/>
            <a:ext cx="244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сигналы → карточка ×42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0000" y="1152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63999" y="1350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2000" y="1260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20978"/>
                </a:solidFill>
                <a:latin typeface="Montserrat"/>
              </a:rPr>
              <a:t>Прогноз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999" y="1764000"/>
            <a:ext cx="244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отказ, метан, вода на 24 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0" y="1152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0" y="1350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42000" y="1260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20978"/>
                </a:solidFill>
                <a:latin typeface="Montserrat"/>
              </a:rPr>
              <a:t>Пожар и НСД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1764000"/>
            <a:ext cx="244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вероятность по истории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000" y="2916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3999" y="3114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2000" y="3024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20978"/>
                </a:solidFill>
                <a:latin typeface="Montserrat"/>
              </a:rPr>
              <a:t>Здание по снимку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3999" y="3528000"/>
            <a:ext cx="244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ИИ, планы этажей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40000" y="2916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84000" y="3114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1999" y="3024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20978"/>
                </a:solidFill>
                <a:latin typeface="Montserrat"/>
              </a:rPr>
              <a:t>Заявки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4000" y="3528000"/>
            <a:ext cx="244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от черновика до отчёта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0000" y="2916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263999" y="3114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2000" y="3024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20978"/>
                </a:solidFill>
                <a:latin typeface="Montserrat"/>
              </a:rPr>
              <a:t>Инженер ТО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999" y="3528000"/>
            <a:ext cx="244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план по состоянию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00000" y="2916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44000" y="3114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42000" y="3024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20978"/>
                </a:solidFill>
                <a:latin typeface="Montserrat"/>
              </a:rPr>
              <a:t>Графики ТО и ППР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528000"/>
            <a:ext cx="244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в формах заказчика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0000" y="4680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03999" y="4878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2000" y="4788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20978"/>
                </a:solidFill>
                <a:latin typeface="Montserrat"/>
              </a:rPr>
              <a:t>Конструктор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3999" y="5292000"/>
            <a:ext cx="244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датчик без программиста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40000" y="4680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384000" y="4878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81999" y="4788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20978"/>
                </a:solidFill>
                <a:latin typeface="Montserrat"/>
              </a:rPr>
              <a:t>Обучение моделей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4000" y="5292000"/>
            <a:ext cx="244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на решениях диспетчеров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20000" y="4680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263999" y="4878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62000" y="4788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20978"/>
                </a:solidFill>
                <a:latin typeface="Montserrat"/>
              </a:rPr>
              <a:t>Аналитика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999" y="5292000"/>
            <a:ext cx="244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смена, прогнозы, отчёты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000000" y="4680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144000" y="4878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42000" y="4788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20978"/>
                </a:solidFill>
                <a:latin typeface="Montserrat"/>
              </a:rPr>
              <a:t>Учения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5292000"/>
            <a:ext cx="244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полигон и симулятор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2048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8 РОЛЕЙ — 8 РАБОЧИХ МЕСТ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52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1195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Диспетчер ОДС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432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7B"/>
                </a:solidFill>
                <a:latin typeface="Montserrat"/>
              </a:rPr>
              <a:t>весь район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0000" y="1800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3999" y="1843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Диспетчер подразделения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2080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7B"/>
                </a:solidFill>
                <a:latin typeface="Montserrat"/>
              </a:rPr>
              <a:t>своя зона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0000" y="2448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3999" y="2491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Руководитель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999" y="2728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7B"/>
                </a:solidFill>
                <a:latin typeface="Montserrat"/>
              </a:rPr>
              <a:t>эскалации, утверждение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0000" y="3096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3999" y="3139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Аналитик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999" y="3376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7B"/>
                </a:solidFill>
                <a:latin typeface="Montserrat"/>
              </a:rPr>
              <a:t>модели и данные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000" y="3744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3999" y="3787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Инженер 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999" y="4024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7B"/>
                </a:solidFill>
                <a:latin typeface="Montserrat"/>
              </a:rPr>
              <a:t>план и графики ТО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0000" y="4392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4435199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Ремонтная бригада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999" y="4672799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7B"/>
                </a:solidFill>
                <a:latin typeface="Montserrat"/>
              </a:rPr>
              <a:t>заявки с телефона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0000" y="5040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3999" y="5083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Наблюдатель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999" y="5320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7B"/>
                </a:solidFill>
                <a:latin typeface="Montserrat"/>
              </a:rPr>
              <a:t>только просмотр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0000" y="5688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3999" y="5731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Администратор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5968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7B"/>
                </a:solidFill>
                <a:latin typeface="Montserrat"/>
              </a:rPr>
              <a:t>роли и интеграции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42000" y="1134000"/>
            <a:ext cx="6876000" cy="4338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27" name="Picture 26" descr="engineer_1_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000" y="1188000"/>
            <a:ext cx="6768000" cy="423000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4896000" y="5760000"/>
            <a:ext cx="1548000" cy="576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50" b="1">
                <a:solidFill>
                  <a:srgbClr val="520978"/>
                </a:solidFill>
                <a:latin typeface="Montserrat"/>
              </a:rPr>
              <a:t>Бригада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42000" y="5760000"/>
            <a:ext cx="1548000" cy="576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50" b="1">
                <a:solidFill>
                  <a:srgbClr val="520978"/>
                </a:solidFill>
                <a:latin typeface="Montserrat"/>
              </a:rPr>
              <a:t>Диспетчерская объекта</a:t>
            </a:r>
          </a:p>
        </p:txBody>
      </p:sp>
      <p:cxnSp>
        <p:nvCxnSpPr>
          <p:cNvPr id="31" name="Connector 30"/>
          <p:cNvCxnSpPr>
            <a:stCxn id="29" idx="3"/>
            <a:endCxn id="30" idx="1"/>
          </p:cNvCxnSpPr>
          <p:nvPr/>
        </p:nvCxnSpPr>
        <p:spPr>
          <a:xfrm flipV="1">
            <a:off x="6444000" y="6048000"/>
            <a:ext cx="198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387999" y="5760000"/>
            <a:ext cx="1548000" cy="576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50" b="1">
                <a:solidFill>
                  <a:srgbClr val="520978"/>
                </a:solidFill>
                <a:latin typeface="Montserrat"/>
              </a:rPr>
              <a:t>ОДС</a:t>
            </a:r>
          </a:p>
        </p:txBody>
      </p:sp>
      <p:cxnSp>
        <p:nvCxnSpPr>
          <p:cNvPr id="33" name="Connector 32"/>
          <p:cNvCxnSpPr>
            <a:stCxn id="30" idx="3"/>
            <a:endCxn id="32" idx="1"/>
          </p:cNvCxnSpPr>
          <p:nvPr/>
        </p:nvCxnSpPr>
        <p:spPr>
          <a:xfrm flipV="1">
            <a:off x="8190000" y="6048000"/>
            <a:ext cx="197999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134000" y="5760000"/>
            <a:ext cx="1548000" cy="576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Руководство</a:t>
            </a:r>
          </a:p>
        </p:txBody>
      </p:sp>
      <p:cxnSp>
        <p:nvCxnSpPr>
          <p:cNvPr id="35" name="Connector 34"/>
          <p:cNvCxnSpPr>
            <a:stCxn id="32" idx="3"/>
            <a:endCxn id="34" idx="1"/>
          </p:cNvCxnSpPr>
          <p:nvPr/>
        </p:nvCxnSpPr>
        <p:spPr>
          <a:xfrm flipV="1">
            <a:off x="9935999" y="6048000"/>
            <a:ext cx="19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896000" y="6372000"/>
            <a:ext cx="684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Montserrat"/>
              </a:rPr>
              <a:t>карточка без реакции в норматив поднимается выше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6584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BPMN: ОТ СИГНАЛА ДО РЕШЕНИЯ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044000"/>
            <a:ext cx="11448000" cy="549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0000" y="1044000"/>
            <a:ext cx="1152000" cy="1098000"/>
          </a:xfrm>
          <a:prstGeom prst="rect">
            <a:avLst/>
          </a:prstGeom>
          <a:solidFill>
            <a:srgbClr val="F3F0FA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СМВУ и система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2141999"/>
            <a:ext cx="1152000" cy="1098000"/>
          </a:xfrm>
          <a:prstGeom prst="rect">
            <a:avLst/>
          </a:prstGeom>
          <a:solidFill>
            <a:srgbClr val="FFFFFF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Диспетчер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0000" y="2141999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60000" y="3240000"/>
            <a:ext cx="1152000" cy="1098000"/>
          </a:xfrm>
          <a:prstGeom prst="rect">
            <a:avLst/>
          </a:prstGeom>
          <a:solidFill>
            <a:srgbClr val="F3F0FA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Руководитель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0000" y="3240000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60000" y="4338000"/>
            <a:ext cx="1152000" cy="1098000"/>
          </a:xfrm>
          <a:prstGeom prst="rect">
            <a:avLst/>
          </a:prstGeom>
          <a:solidFill>
            <a:srgbClr val="FFFFFF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Бригада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60000" y="4338000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60000" y="5436000"/>
            <a:ext cx="1152000" cy="1098000"/>
          </a:xfrm>
          <a:prstGeom prst="rect">
            <a:avLst/>
          </a:prstGeom>
          <a:solidFill>
            <a:srgbClr val="F3F0FA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Аналитик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0000" y="5436000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655999" y="1430999"/>
            <a:ext cx="324000" cy="324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5999" y="1773000"/>
            <a:ext cx="1044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B6B7B"/>
                </a:solidFill>
                <a:latin typeface="Montserrat"/>
              </a:rPr>
              <a:t>сигнал датчика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2000" y="1323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Нормализация, эпизод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71999" y="1323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Карточка: причина, приоритет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12000" y="1323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Уведомление зоне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12000" y="2421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Принять («кто первый»)</a:t>
            </a:r>
          </a:p>
        </p:txBody>
      </p:sp>
      <p:sp>
        <p:nvSpPr>
          <p:cNvPr id="19" name="Diamond 18"/>
          <p:cNvSpPr/>
          <p:nvPr/>
        </p:nvSpPr>
        <p:spPr>
          <a:xfrm>
            <a:off x="6623999" y="2474999"/>
            <a:ext cx="432000" cy="4320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999" y="2204999"/>
            <a:ext cx="1224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B6B7B"/>
                </a:solidFill>
                <a:latin typeface="Montserrat"/>
              </a:rPr>
              <a:t>в норматив?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0000" y="3519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Эскалация, перехват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43999" y="2421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Проверка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84000" y="2421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Решение</a:t>
            </a:r>
          </a:p>
        </p:txBody>
      </p:sp>
      <p:sp>
        <p:nvSpPr>
          <p:cNvPr id="24" name="Diamond 23"/>
          <p:cNvSpPr/>
          <p:nvPr/>
        </p:nvSpPr>
        <p:spPr>
          <a:xfrm>
            <a:off x="10296000" y="2474999"/>
            <a:ext cx="432000" cy="4320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00000" y="2204999"/>
            <a:ext cx="1224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B6B7B"/>
                </a:solidFill>
                <a:latin typeface="Montserrat"/>
              </a:rPr>
              <a:t>нужна работа?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52000" y="3519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Утвердить заявку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52000" y="4617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Работа и отчёт</a:t>
            </a:r>
          </a:p>
        </p:txBody>
      </p:sp>
      <p:sp>
        <p:nvSpPr>
          <p:cNvPr id="28" name="Oval 27"/>
          <p:cNvSpPr/>
          <p:nvPr/>
        </p:nvSpPr>
        <p:spPr>
          <a:xfrm>
            <a:off x="11268000" y="2529000"/>
            <a:ext cx="324000" cy="324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10F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43999" y="5715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Метка обучения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84000" y="5715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Переобучение</a:t>
            </a:r>
          </a:p>
        </p:txBody>
      </p:sp>
      <p:cxnSp>
        <p:nvCxnSpPr>
          <p:cNvPr id="31" name="Connector 30"/>
          <p:cNvCxnSpPr>
            <a:stCxn id="13" idx="3"/>
            <a:endCxn id="15" idx="1"/>
          </p:cNvCxnSpPr>
          <p:nvPr/>
        </p:nvCxnSpPr>
        <p:spPr>
          <a:xfrm>
            <a:off x="1979999" y="1592999"/>
            <a:ext cx="252001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5" idx="3"/>
            <a:endCxn id="16" idx="1"/>
          </p:cNvCxnSpPr>
          <p:nvPr/>
        </p:nvCxnSpPr>
        <p:spPr>
          <a:xfrm flipV="1">
            <a:off x="3456000" y="1593000"/>
            <a:ext cx="215999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6" idx="3"/>
            <a:endCxn id="17" idx="1"/>
          </p:cNvCxnSpPr>
          <p:nvPr/>
        </p:nvCxnSpPr>
        <p:spPr>
          <a:xfrm flipV="1">
            <a:off x="4895999" y="1593000"/>
            <a:ext cx="216001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17" idx="2"/>
            <a:endCxn id="18" idx="0"/>
          </p:cNvCxnSpPr>
          <p:nvPr/>
        </p:nvCxnSpPr>
        <p:spPr>
          <a:xfrm flipH="1">
            <a:off x="5724000" y="1863000"/>
            <a:ext cx="0" cy="558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8" idx="3"/>
            <a:endCxn id="19" idx="1"/>
          </p:cNvCxnSpPr>
          <p:nvPr/>
        </p:nvCxnSpPr>
        <p:spPr>
          <a:xfrm flipV="1">
            <a:off x="6336000" y="2690999"/>
            <a:ext cx="287999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19" idx="3"/>
            <a:endCxn id="22" idx="1"/>
          </p:cNvCxnSpPr>
          <p:nvPr/>
        </p:nvCxnSpPr>
        <p:spPr>
          <a:xfrm>
            <a:off x="7055999" y="2690999"/>
            <a:ext cx="288000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9" idx="2"/>
            <a:endCxn id="21" idx="0"/>
          </p:cNvCxnSpPr>
          <p:nvPr/>
        </p:nvCxnSpPr>
        <p:spPr>
          <a:xfrm>
            <a:off x="6839999" y="2906999"/>
            <a:ext cx="252001" cy="61200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21" idx="3"/>
            <a:endCxn id="22" idx="2"/>
          </p:cNvCxnSpPr>
          <p:nvPr/>
        </p:nvCxnSpPr>
        <p:spPr>
          <a:xfrm flipV="1">
            <a:off x="7704000" y="2961000"/>
            <a:ext cx="251999" cy="828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2" idx="3"/>
            <a:endCxn id="23" idx="1"/>
          </p:cNvCxnSpPr>
          <p:nvPr/>
        </p:nvCxnSpPr>
        <p:spPr>
          <a:xfrm flipV="1">
            <a:off x="8567999" y="2691000"/>
            <a:ext cx="216001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3" idx="3"/>
            <a:endCxn id="24" idx="1"/>
          </p:cNvCxnSpPr>
          <p:nvPr/>
        </p:nvCxnSpPr>
        <p:spPr>
          <a:xfrm flipV="1">
            <a:off x="10008000" y="2690999"/>
            <a:ext cx="288000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4" idx="2"/>
            <a:endCxn id="26" idx="0"/>
          </p:cNvCxnSpPr>
          <p:nvPr/>
        </p:nvCxnSpPr>
        <p:spPr>
          <a:xfrm>
            <a:off x="10512000" y="2906999"/>
            <a:ext cx="252000" cy="61200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26" idx="2"/>
            <a:endCxn id="27" idx="0"/>
          </p:cNvCxnSpPr>
          <p:nvPr/>
        </p:nvCxnSpPr>
        <p:spPr>
          <a:xfrm flipH="1">
            <a:off x="10764000" y="4059000"/>
            <a:ext cx="0" cy="558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24" idx="3"/>
            <a:endCxn id="28" idx="1"/>
          </p:cNvCxnSpPr>
          <p:nvPr/>
        </p:nvCxnSpPr>
        <p:spPr>
          <a:xfrm>
            <a:off x="10728000" y="2690999"/>
            <a:ext cx="540000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>
            <a:stCxn id="23" idx="2"/>
            <a:endCxn id="29" idx="0"/>
          </p:cNvCxnSpPr>
          <p:nvPr/>
        </p:nvCxnSpPr>
        <p:spPr>
          <a:xfrm flipH="1">
            <a:off x="7955999" y="2961000"/>
            <a:ext cx="1440001" cy="2754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>
            <a:stCxn id="29" idx="3"/>
            <a:endCxn id="30" idx="1"/>
          </p:cNvCxnSpPr>
          <p:nvPr/>
        </p:nvCxnSpPr>
        <p:spPr>
          <a:xfrm flipV="1">
            <a:off x="8567999" y="5985000"/>
            <a:ext cx="216001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2995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BPMN: ПРОЦЕСС ТО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080000"/>
            <a:ext cx="11448000" cy="5184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0000" y="1080000"/>
            <a:ext cx="1152000" cy="1296000"/>
          </a:xfrm>
          <a:prstGeom prst="rect">
            <a:avLst/>
          </a:prstGeom>
          <a:solidFill>
            <a:srgbClr val="F3F0FA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Система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2376000"/>
            <a:ext cx="1152000" cy="1296000"/>
          </a:xfrm>
          <a:prstGeom prst="rect">
            <a:avLst/>
          </a:prstGeom>
          <a:solidFill>
            <a:srgbClr val="FFFFFF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Инженер ТО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0000" y="2376000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60000" y="3671999"/>
            <a:ext cx="1152000" cy="1296000"/>
          </a:xfrm>
          <a:prstGeom prst="rect">
            <a:avLst/>
          </a:prstGeom>
          <a:solidFill>
            <a:srgbClr val="F3F0FA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Руководитель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0000" y="3671999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60000" y="4968000"/>
            <a:ext cx="1152000" cy="1296000"/>
          </a:xfrm>
          <a:prstGeom prst="rect">
            <a:avLst/>
          </a:prstGeom>
          <a:solidFill>
            <a:srgbClr val="FFFFFF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Бригада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60000" y="4968000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655999" y="1565999"/>
            <a:ext cx="324000" cy="324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5999" y="1908000"/>
            <a:ext cx="1044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B6B7B"/>
                </a:solidFill>
                <a:latin typeface="Montserrat"/>
              </a:rPr>
              <a:t>начало года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32000" y="1458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Реестр и регламент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71999" y="1458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График ТО и ППР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71999" y="2754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Сверка, правки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12000" y="4050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Утвердить график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52000" y="1458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Работы месяца и рекомендации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2000" y="2754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В план → заявка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2000" y="4050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Утвердить заявку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92000" y="5346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Выполнить, отчёт</a:t>
            </a:r>
          </a:p>
        </p:txBody>
      </p:sp>
      <p:sp>
        <p:nvSpPr>
          <p:cNvPr id="21" name="Diamond 20"/>
          <p:cNvSpPr/>
          <p:nvPr/>
        </p:nvSpPr>
        <p:spPr>
          <a:xfrm>
            <a:off x="9576000" y="5400000"/>
            <a:ext cx="432000" cy="4320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000" y="5130000"/>
            <a:ext cx="1224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B6B7B"/>
                </a:solidFill>
                <a:latin typeface="Montserrat"/>
              </a:rPr>
              <a:t>требует ремонта?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32000" y="1458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Рекомендация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40000" y="2754000"/>
            <a:ext cx="1152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Состояние в реестр</a:t>
            </a:r>
          </a:p>
        </p:txBody>
      </p:sp>
      <p:sp>
        <p:nvSpPr>
          <p:cNvPr id="25" name="Oval 24"/>
          <p:cNvSpPr/>
          <p:nvPr/>
        </p:nvSpPr>
        <p:spPr>
          <a:xfrm>
            <a:off x="11304000" y="5454000"/>
            <a:ext cx="324000" cy="324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10F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cxnSp>
        <p:nvCxnSpPr>
          <p:cNvPr id="26" name="Connector 25"/>
          <p:cNvCxnSpPr>
            <a:stCxn id="11" idx="3"/>
            <a:endCxn id="13" idx="1"/>
          </p:cNvCxnSpPr>
          <p:nvPr/>
        </p:nvCxnSpPr>
        <p:spPr>
          <a:xfrm>
            <a:off x="1979999" y="1727999"/>
            <a:ext cx="252001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3"/>
            <a:endCxn id="14" idx="1"/>
          </p:cNvCxnSpPr>
          <p:nvPr/>
        </p:nvCxnSpPr>
        <p:spPr>
          <a:xfrm flipV="1">
            <a:off x="3456000" y="1728000"/>
            <a:ext cx="215999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2"/>
            <a:endCxn id="15" idx="0"/>
          </p:cNvCxnSpPr>
          <p:nvPr/>
        </p:nvCxnSpPr>
        <p:spPr>
          <a:xfrm flipH="1">
            <a:off x="4283999" y="1998000"/>
            <a:ext cx="0" cy="75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3"/>
            <a:endCxn id="16" idx="1"/>
          </p:cNvCxnSpPr>
          <p:nvPr/>
        </p:nvCxnSpPr>
        <p:spPr>
          <a:xfrm>
            <a:off x="4895999" y="3024000"/>
            <a:ext cx="216001" cy="129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3"/>
            <a:endCxn id="17" idx="2"/>
          </p:cNvCxnSpPr>
          <p:nvPr/>
        </p:nvCxnSpPr>
        <p:spPr>
          <a:xfrm flipV="1">
            <a:off x="6336000" y="1998000"/>
            <a:ext cx="828000" cy="2322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7" idx="2"/>
            <a:endCxn id="18" idx="0"/>
          </p:cNvCxnSpPr>
          <p:nvPr/>
        </p:nvCxnSpPr>
        <p:spPr>
          <a:xfrm flipH="1">
            <a:off x="7164000" y="1998000"/>
            <a:ext cx="0" cy="75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8" idx="3"/>
            <a:endCxn id="19" idx="1"/>
          </p:cNvCxnSpPr>
          <p:nvPr/>
        </p:nvCxnSpPr>
        <p:spPr>
          <a:xfrm>
            <a:off x="7776000" y="3024000"/>
            <a:ext cx="216000" cy="129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9" idx="2"/>
            <a:endCxn id="20" idx="0"/>
          </p:cNvCxnSpPr>
          <p:nvPr/>
        </p:nvCxnSpPr>
        <p:spPr>
          <a:xfrm flipH="1">
            <a:off x="8604000" y="4590000"/>
            <a:ext cx="0" cy="75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20" idx="3"/>
            <a:endCxn id="21" idx="1"/>
          </p:cNvCxnSpPr>
          <p:nvPr/>
        </p:nvCxnSpPr>
        <p:spPr>
          <a:xfrm flipV="1">
            <a:off x="9216000" y="5616000"/>
            <a:ext cx="360000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21" idx="0"/>
            <a:endCxn id="23" idx="2"/>
          </p:cNvCxnSpPr>
          <p:nvPr/>
        </p:nvCxnSpPr>
        <p:spPr>
          <a:xfrm flipV="1">
            <a:off x="9792000" y="1998000"/>
            <a:ext cx="252000" cy="3402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21" idx="3"/>
            <a:endCxn id="25" idx="1"/>
          </p:cNvCxnSpPr>
          <p:nvPr/>
        </p:nvCxnSpPr>
        <p:spPr>
          <a:xfrm flipV="1">
            <a:off x="10008000" y="5616000"/>
            <a:ext cx="1296000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20" idx="0"/>
            <a:endCxn id="24" idx="2"/>
          </p:cNvCxnSpPr>
          <p:nvPr/>
        </p:nvCxnSpPr>
        <p:spPr>
          <a:xfrm flipV="1">
            <a:off x="8604000" y="3294000"/>
            <a:ext cx="2412000" cy="2052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23" idx="1"/>
            <a:endCxn id="18" idx="3"/>
          </p:cNvCxnSpPr>
          <p:nvPr/>
        </p:nvCxnSpPr>
        <p:spPr>
          <a:xfrm flipH="1">
            <a:off x="7776000" y="1728000"/>
            <a:ext cx="1656000" cy="129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2239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ML-КОНВЕЙЕР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88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520978"/>
                </a:solidFill>
                <a:latin typeface="Montserrat"/>
              </a:rPr>
              <a:t>Журналы СМВУ</a:t>
            </a:r>
          </a:p>
          <a:p>
            <a:pPr algn="ctr"/>
            <a:r>
              <a:rPr sz="1200" b="0">
                <a:solidFill>
                  <a:srgbClr val="1C1D22"/>
                </a:solidFill>
                <a:latin typeface="Montserrat"/>
              </a:rPr>
              <a:t>2019–2026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64000" y="1188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520978"/>
                </a:solidFill>
                <a:latin typeface="Montserrat"/>
              </a:rPr>
              <a:t>Нормализация</a:t>
            </a:r>
          </a:p>
          <a:p>
            <a:pPr algn="ctr"/>
            <a:r>
              <a:rPr sz="1200" b="0">
                <a:solidFill>
                  <a:srgbClr val="1C1D22"/>
                </a:solidFill>
                <a:latin typeface="Montserrat"/>
              </a:rPr>
              <a:t>профили датчиков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68000" y="1188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520978"/>
                </a:solidFill>
                <a:latin typeface="Montserrat"/>
              </a:rPr>
              <a:t>Витрины</a:t>
            </a:r>
          </a:p>
          <a:p>
            <a:pPr algn="ctr"/>
            <a:r>
              <a:rPr sz="1200" b="0">
                <a:solidFill>
                  <a:srgbClr val="1C1D22"/>
                </a:solidFill>
                <a:latin typeface="Montserrat"/>
              </a:rPr>
              <a:t>сутки × канал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72000" y="1188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520978"/>
                </a:solidFill>
                <a:latin typeface="Montserrat"/>
              </a:rPr>
              <a:t>Признаки</a:t>
            </a:r>
          </a:p>
          <a:p>
            <a:pPr algn="ctr"/>
            <a:r>
              <a:rPr sz="1200" b="0">
                <a:solidFill>
                  <a:srgbClr val="1C1D22"/>
                </a:solidFill>
                <a:latin typeface="Montserrat"/>
              </a:rPr>
              <a:t>окна 1–90 суток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76000" y="1188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520978"/>
                </a:solidFill>
                <a:latin typeface="Montserrat"/>
              </a:rPr>
              <a:t>LightGBM</a:t>
            </a:r>
          </a:p>
          <a:p>
            <a:pPr algn="ctr"/>
            <a:r>
              <a:rPr sz="1200" b="0">
                <a:solidFill>
                  <a:srgbClr val="1C1D22"/>
                </a:solidFill>
                <a:latin typeface="Montserrat"/>
              </a:rPr>
              <a:t>обучение до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2916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520978"/>
                </a:solidFill>
                <a:latin typeface="Montserrat"/>
              </a:rPr>
              <a:t>Переобучение</a:t>
            </a:r>
          </a:p>
          <a:p>
            <a:pPr algn="ctr"/>
            <a:r>
              <a:rPr sz="1200" b="0">
                <a:solidFill>
                  <a:srgbClr val="1C1D22"/>
                </a:solidFill>
                <a:latin typeface="Montserrat"/>
              </a:rPr>
              <a:t>раз в неделю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64000" y="2916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520978"/>
                </a:solidFill>
                <a:latin typeface="Montserrat"/>
              </a:rPr>
              <a:t>Метки из решений</a:t>
            </a:r>
          </a:p>
          <a:p>
            <a:pPr algn="ctr"/>
            <a:r>
              <a:rPr sz="1200" b="0">
                <a:solidFill>
                  <a:srgbClr val="1C1D22"/>
                </a:solidFill>
                <a:latin typeface="Montserrat"/>
              </a:rPr>
              <a:t>проверяет аналитик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68000" y="2916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520978"/>
                </a:solidFill>
                <a:latin typeface="Montserrat"/>
              </a:rPr>
              <a:t>Журнал и исходы</a:t>
            </a:r>
          </a:p>
          <a:p>
            <a:pPr algn="ctr"/>
            <a:r>
              <a:rPr sz="1200" b="0">
                <a:solidFill>
                  <a:srgbClr val="1C1D22"/>
                </a:solidFill>
                <a:latin typeface="Montserrat"/>
              </a:rPr>
              <a:t>что сбылось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72000" y="2916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520978"/>
                </a:solidFill>
                <a:latin typeface="Montserrat"/>
              </a:rPr>
              <a:t>Уровни риска</a:t>
            </a:r>
          </a:p>
          <a:p>
            <a:pPr algn="ctr"/>
            <a:r>
              <a:rPr sz="1200" b="0">
                <a:solidFill>
                  <a:srgbClr val="1C1D22"/>
                </a:solidFill>
                <a:latin typeface="Montserrat"/>
              </a:rPr>
              <a:t>пороги по точности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76000" y="2916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520978"/>
                </a:solidFill>
                <a:latin typeface="Montserrat"/>
              </a:rPr>
              <a:t>Тест 2026</a:t>
            </a:r>
          </a:p>
          <a:p>
            <a:pPr algn="ctr"/>
            <a:r>
              <a:rPr sz="1200" b="0">
                <a:solidFill>
                  <a:srgbClr val="1C1D22"/>
                </a:solidFill>
                <a:latin typeface="Montserrat"/>
              </a:rPr>
              <a:t>отложенный год</a:t>
            </a:r>
          </a:p>
        </p:txBody>
      </p:sp>
      <p:cxnSp>
        <p:nvCxnSpPr>
          <p:cNvPr id="13" name="Connector 12"/>
          <p:cNvCxnSpPr>
            <a:stCxn id="3" idx="3"/>
            <a:endCxn id="4" idx="1"/>
          </p:cNvCxnSpPr>
          <p:nvPr/>
        </p:nvCxnSpPr>
        <p:spPr>
          <a:xfrm flipV="1">
            <a:off x="2375999" y="1728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4" idx="3"/>
            <a:endCxn id="5" idx="1"/>
          </p:cNvCxnSpPr>
          <p:nvPr/>
        </p:nvCxnSpPr>
        <p:spPr>
          <a:xfrm flipV="1">
            <a:off x="4679999" y="1728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5" idx="3"/>
            <a:endCxn id="6" idx="1"/>
          </p:cNvCxnSpPr>
          <p:nvPr/>
        </p:nvCxnSpPr>
        <p:spPr>
          <a:xfrm flipV="1">
            <a:off x="6983999" y="1728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6" idx="3"/>
            <a:endCxn id="7" idx="1"/>
          </p:cNvCxnSpPr>
          <p:nvPr/>
        </p:nvCxnSpPr>
        <p:spPr>
          <a:xfrm flipV="1">
            <a:off x="9287999" y="1728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7" idx="2"/>
            <a:endCxn id="12" idx="0"/>
          </p:cNvCxnSpPr>
          <p:nvPr/>
        </p:nvCxnSpPr>
        <p:spPr>
          <a:xfrm flipH="1">
            <a:off x="10583999" y="2268000"/>
            <a:ext cx="0" cy="64800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12" idx="1"/>
            <a:endCxn id="11" idx="3"/>
          </p:cNvCxnSpPr>
          <p:nvPr/>
        </p:nvCxnSpPr>
        <p:spPr>
          <a:xfrm flipH="1" flipV="1">
            <a:off x="9287999" y="3456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1" idx="1"/>
            <a:endCxn id="10" idx="3"/>
          </p:cNvCxnSpPr>
          <p:nvPr/>
        </p:nvCxnSpPr>
        <p:spPr>
          <a:xfrm flipH="1" flipV="1">
            <a:off x="6983999" y="3456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0" idx="1"/>
            <a:endCxn id="9" idx="3"/>
          </p:cNvCxnSpPr>
          <p:nvPr/>
        </p:nvCxnSpPr>
        <p:spPr>
          <a:xfrm flipH="1" flipV="1">
            <a:off x="4679999" y="3456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9" idx="1"/>
            <a:endCxn id="8" idx="3"/>
          </p:cNvCxnSpPr>
          <p:nvPr/>
        </p:nvCxnSpPr>
        <p:spPr>
          <a:xfrm flipH="1" flipV="1">
            <a:off x="2375999" y="3456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0"/>
            <a:endCxn id="3" idx="2"/>
          </p:cNvCxnSpPr>
          <p:nvPr/>
        </p:nvCxnSpPr>
        <p:spPr>
          <a:xfrm flipH="1" flipV="1">
            <a:off x="1367999" y="2268000"/>
            <a:ext cx="0" cy="648000"/>
          </a:xfrm>
          <a:prstGeom prst="line">
            <a:avLst/>
          </a:prstGeom>
          <a:ln w="25400">
            <a:solidFill>
              <a:srgbClr val="FF005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60000" y="4320000"/>
            <a:ext cx="5616000" cy="20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3999" y="4446000"/>
            <a:ext cx="532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Принципы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4878000"/>
            <a:ext cx="5328000" cy="145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Прогноз начала события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Одни признаки в обучении и в работе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Сравнение с простым правилом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2000" y="4320000"/>
            <a:ext cx="5616000" cy="20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35999" y="4446000"/>
            <a:ext cx="532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Пожар и НСД — без модели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5999" y="4878000"/>
            <a:ext cx="5328000" cy="145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Подтверждённых событий в данных нет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Правила + вероятность по архиву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Пожар: Brier 0,249 против 0,296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507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РЕЗУЛЬТАТЫ: ТЕСТ 2026 ГОДА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0000" y="1188000"/>
          <a:ext cx="11447999" cy="18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/>
                <a:gridCol w="1296000"/>
                <a:gridCol w="2015999"/>
                <a:gridCol w="2880000"/>
                <a:gridCol w="2736000"/>
              </a:tblGrid>
              <a:tr h="468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Задача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ROC-AUC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PR-AUC (случайная)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Высокий: точность / полнота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Правило: точность / полнота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Отказ датчика, 24 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0,112 (0,006)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0,21 / 0,09 · 32 в сутки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0,10 / 0,45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Метан ≥ 1 %, 24 ч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0,94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0,188 (0,004)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0,08 / 0,74 · 20 в сутки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0,07 / 0,39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Подтопление, 24 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0,179 (0,040)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0,15 / 0,46 · 21 в сутки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0,13 / 0,54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360000" y="334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3999" y="345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×33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3999" y="4031999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точнее случайного выбора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0000" y="334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4000" y="345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74 %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4000" y="4031999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превышений метана ловит модель (правило — 39 %)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0000" y="334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999" y="345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12 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999" y="4031999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упреждение прогноза отказа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0" y="334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345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×42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4031999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сжатие потока тревог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0000" y="5112000"/>
            <a:ext cx="11448000" cy="1080000"/>
          </a:xfrm>
          <a:prstGeom prst="roundRect">
            <a:avLst>
              <a:gd name="adj" fmla="val 6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0000" y="5220000"/>
            <a:ext cx="11088000" cy="90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0053"/>
                </a:solidFill>
                <a:latin typeface="Montserrat"/>
              </a:rPr>
              <a:t>Уровни риска выбраны по точности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«Критический» — немедленная реакция, «высокий» — плановая проверка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31464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КАРТА МОНИТОРИНГА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6948000" cy="4383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monitoring_distr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6840000" cy="4275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60000" y="1152000"/>
            <a:ext cx="4248000" cy="30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03999" y="1278000"/>
            <a:ext cx="396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Главный экран каждой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03999" y="1710000"/>
            <a:ext cx="3960000" cy="239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Своя зона в цвете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Карточки и заявки на объектах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5 режимов окраски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60000" y="4392000"/>
            <a:ext cx="42480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03999" y="4518000"/>
            <a:ext cx="396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Подложки и этажи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3999" y="4949999"/>
            <a:ext cx="3960000" cy="138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Карта или спутник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Планы этажей объекта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5263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ЗДАНИЕ ПО СНИМКУ И ПЛАНЫ ЭТАЖЕЙ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6948000" cy="4383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floor_geor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6840000" cy="4275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5616000"/>
            <a:ext cx="6840000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План этажа на снимке по 5 контрольным точкам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06000" y="1170000"/>
            <a:ext cx="4356000" cy="313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6" name="Picture 5" descr="ai_seg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0" y="1224000"/>
            <a:ext cx="4248000" cy="3024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60000" y="4392000"/>
            <a:ext cx="4248000" cy="413999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ИИ: контур здания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60000" y="4913999"/>
            <a:ext cx="4248000" cy="413999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План на снимок</a:t>
            </a:r>
          </a:p>
        </p:txBody>
      </p:sp>
      <p:cxnSp>
        <p:nvCxnSpPr>
          <p:cNvPr id="10" name="Connector 9"/>
          <p:cNvCxnSpPr>
            <a:stCxn id="8" idx="2"/>
            <a:endCxn id="9" idx="0"/>
          </p:cNvCxnSpPr>
          <p:nvPr/>
        </p:nvCxnSpPr>
        <p:spPr>
          <a:xfrm flipH="1">
            <a:off x="9684000" y="4805999"/>
            <a:ext cx="0" cy="108000"/>
          </a:xfrm>
          <a:prstGeom prst="line">
            <a:avLst/>
          </a:prstGeom>
          <a:ln w="1905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560000" y="5436000"/>
            <a:ext cx="4248000" cy="413999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Этажи</a:t>
            </a:r>
          </a:p>
        </p:txBody>
      </p:sp>
      <p:cxnSp>
        <p:nvCxnSpPr>
          <p:cNvPr id="12" name="Connector 11"/>
          <p:cNvCxnSpPr>
            <a:stCxn id="9" idx="2"/>
            <a:endCxn id="11" idx="0"/>
          </p:cNvCxnSpPr>
          <p:nvPr/>
        </p:nvCxnSpPr>
        <p:spPr>
          <a:xfrm flipH="1">
            <a:off x="9684000" y="5327998"/>
            <a:ext cx="0" cy="108002"/>
          </a:xfrm>
          <a:prstGeom prst="line">
            <a:avLst/>
          </a:prstGeom>
          <a:ln w="1905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560000" y="5957999"/>
            <a:ext cx="4248000" cy="413999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Датчики на этаж</a:t>
            </a:r>
          </a:p>
        </p:txBody>
      </p:sp>
      <p:cxnSp>
        <p:nvCxnSpPr>
          <p:cNvPr id="14" name="Connector 13"/>
          <p:cNvCxnSpPr>
            <a:stCxn id="11" idx="2"/>
            <a:endCxn id="13" idx="0"/>
          </p:cNvCxnSpPr>
          <p:nvPr/>
        </p:nvCxnSpPr>
        <p:spPr>
          <a:xfrm flipH="1">
            <a:off x="9684000" y="5849999"/>
            <a:ext cx="0" cy="108000"/>
          </a:xfrm>
          <a:prstGeom prst="line">
            <a:avLst/>
          </a:prstGeom>
          <a:ln w="1905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507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ЭПИЗОД ВМЕСТО СОТНИ ТРЕВОГ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6731999" cy="470799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incident_came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6623999" cy="459999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43999" y="1152000"/>
            <a:ext cx="4464000" cy="52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87999" y="1278000"/>
            <a:ext cx="4176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Что видит диспетчер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7999" y="1710000"/>
            <a:ext cx="4176000" cy="462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Сколько сигналов склеено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Вероятные причины с весами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Приоритет 0–100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Чек-лист «что делать»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Заявка одной кнопкой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34488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ПОЖАР И НСД, КАМЕРЫ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6084000" cy="4673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fire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5976000" cy="4565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96000" y="1152000"/>
            <a:ext cx="5112000" cy="2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40000" y="1278000"/>
            <a:ext cx="4823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Вероятность по истории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40000" y="1710000"/>
            <a:ext cx="4823999" cy="189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Пожар: 7 % → 42 % → 63 % по индексу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В карточке — число похожих случаев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НСД: главное — проверка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96000" y="3888000"/>
            <a:ext cx="5112000" cy="2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40000" y="4014000"/>
            <a:ext cx="4823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Проверка по камерам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0000" y="4446000"/>
            <a:ext cx="4823999" cy="189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Ближайшие камеры к тревоге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Кадр на момент тревоги и сейчас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Просмотр — в хронологии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6584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АВАРИИ И МАРШРУТ НАРУШИТЕЛЯ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4356830" cy="529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intrusion_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4248830" cy="5184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842000" y="1170000"/>
            <a:ext cx="4212000" cy="302949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5" name="Picture 4" descr="monitoring_flo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00" y="1224000"/>
            <a:ext cx="4104000" cy="29214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896000" y="4320000"/>
            <a:ext cx="4104000" cy="20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40000" y="4446000"/>
            <a:ext cx="3816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Маршрут нарушителя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0000" y="4878000"/>
            <a:ext cx="3816000" cy="145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Люк → двери → движение, по шагам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Где сейчас и куда идёт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16000" y="1152000"/>
            <a:ext cx="2592000" cy="52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60000" y="1278000"/>
            <a:ext cx="2304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5 групп аварий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60000" y="1800000"/>
            <a:ext cx="2304000" cy="612000"/>
          </a:xfrm>
          <a:prstGeom prst="roundRect">
            <a:avLst>
              <a:gd name="adj" fmla="val 30000"/>
            </a:avLst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50" b="1">
                <a:solidFill>
                  <a:srgbClr val="520978"/>
                </a:solidFill>
                <a:latin typeface="Montserrat"/>
              </a:rPr>
              <a:t>Пожар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60000" y="2556000"/>
            <a:ext cx="2304000" cy="612000"/>
          </a:xfrm>
          <a:prstGeom prst="roundRect">
            <a:avLst>
              <a:gd name="adj" fmla="val 30000"/>
            </a:avLst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50" b="1">
                <a:solidFill>
                  <a:srgbClr val="520978"/>
                </a:solidFill>
                <a:latin typeface="Montserrat"/>
              </a:rPr>
              <a:t>Наводнение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60000" y="3311999"/>
            <a:ext cx="2304000" cy="612000"/>
          </a:xfrm>
          <a:prstGeom prst="roundRect">
            <a:avLst>
              <a:gd name="adj" fmla="val 30000"/>
            </a:avLst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50" b="1">
                <a:solidFill>
                  <a:srgbClr val="520978"/>
                </a:solidFill>
                <a:latin typeface="Montserrat"/>
              </a:rPr>
              <a:t>Газ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60000" y="4068000"/>
            <a:ext cx="2304000" cy="612000"/>
          </a:xfrm>
          <a:prstGeom prst="roundRect">
            <a:avLst>
              <a:gd name="adj" fmla="val 30000"/>
            </a:avLst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50" b="1">
                <a:solidFill>
                  <a:srgbClr val="520978"/>
                </a:solidFill>
                <a:latin typeface="Montserrat"/>
              </a:rPr>
              <a:t>Проникновение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60000" y="4824000"/>
            <a:ext cx="2304000" cy="612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Montserrat"/>
              </a:rPr>
              <a:t>Температура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60000" y="5616000"/>
            <a:ext cx="2304000" cy="7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7B"/>
                </a:solidFill>
                <a:latin typeface="Montserrat"/>
              </a:rPr>
              <a:t>Потеря связи или питания — инцидент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34488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ИНЖЕНЕР ТО: ГРАФИКИ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6948000" cy="4858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sche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6840000" cy="4750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60000" y="1152000"/>
            <a:ext cx="4248000" cy="14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03999" y="1260000"/>
            <a:ext cx="3960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91 %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03999" y="1835999"/>
            <a:ext cx="3960000" cy="64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совпадение периодичности с графиком заказчика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60000" y="2700000"/>
            <a:ext cx="4248000" cy="14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03999" y="2808000"/>
            <a:ext cx="3960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47 / 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3999" y="3384000"/>
            <a:ext cx="3960000" cy="64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пик работ в месяц: система / заказчик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60000" y="4320000"/>
            <a:ext cx="4248000" cy="432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Регламент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60000" y="4860000"/>
            <a:ext cx="4248000" cy="432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График</a:t>
            </a:r>
          </a:p>
        </p:txBody>
      </p:sp>
      <p:cxnSp>
        <p:nvCxnSpPr>
          <p:cNvPr id="13" name="Connector 12"/>
          <p:cNvCxnSpPr>
            <a:stCxn id="11" idx="2"/>
            <a:endCxn id="12" idx="0"/>
          </p:cNvCxnSpPr>
          <p:nvPr/>
        </p:nvCxnSpPr>
        <p:spPr>
          <a:xfrm flipH="1">
            <a:off x="9684000" y="4752000"/>
            <a:ext cx="0" cy="108000"/>
          </a:xfrm>
          <a:prstGeom prst="line">
            <a:avLst/>
          </a:prstGeom>
          <a:ln w="1905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60000" y="5400000"/>
            <a:ext cx="4248000" cy="432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Утверждение</a:t>
            </a:r>
          </a:p>
        </p:txBody>
      </p:sp>
      <p:cxnSp>
        <p:nvCxnSpPr>
          <p:cNvPr id="15" name="Connector 14"/>
          <p:cNvCxnSpPr>
            <a:stCxn id="12" idx="2"/>
            <a:endCxn id="14" idx="0"/>
          </p:cNvCxnSpPr>
          <p:nvPr/>
        </p:nvCxnSpPr>
        <p:spPr>
          <a:xfrm flipH="1">
            <a:off x="9684000" y="5292000"/>
            <a:ext cx="0" cy="108000"/>
          </a:xfrm>
          <a:prstGeom prst="line">
            <a:avLst/>
          </a:prstGeom>
          <a:ln w="1905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560000" y="5940000"/>
            <a:ext cx="4248000" cy="432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Заявки</a:t>
            </a:r>
          </a:p>
        </p:txBody>
      </p:sp>
      <p:cxnSp>
        <p:nvCxnSpPr>
          <p:cNvPr id="17" name="Connector 16"/>
          <p:cNvCxnSpPr>
            <a:stCxn id="14" idx="2"/>
            <a:endCxn id="16" idx="0"/>
          </p:cNvCxnSpPr>
          <p:nvPr/>
        </p:nvCxnSpPr>
        <p:spPr>
          <a:xfrm flipH="1">
            <a:off x="9684000" y="5832000"/>
            <a:ext cx="0" cy="108000"/>
          </a:xfrm>
          <a:prstGeom prst="line">
            <a:avLst/>
          </a:prstGeom>
          <a:ln w="1905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9608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КОНСТРУКТОР ДАТЧИКОВ: NO-CODE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88000"/>
            <a:ext cx="2015999" cy="1007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Сообщение</a:t>
            </a:r>
          </a:p>
          <a:p>
            <a:pPr algn="ctr"/>
            <a:r>
              <a:rPr sz="1100" b="0">
                <a:solidFill>
                  <a:srgbClr val="1C1D22"/>
                </a:solidFill>
                <a:latin typeface="Montserrat"/>
              </a:rPr>
              <a:t>JSON, CSV, строка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64000" y="1188000"/>
            <a:ext cx="2015999" cy="1007999"/>
          </a:xfrm>
          <a:prstGeom prst="roundRect">
            <a:avLst>
              <a:gd name="adj" fmla="val 1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Шаблон формата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Montserrat"/>
              </a:rPr>
              <a:t>без кода</a:t>
            </a:r>
          </a:p>
        </p:txBody>
      </p:sp>
      <p:cxnSp>
        <p:nvCxnSpPr>
          <p:cNvPr id="5" name="Connector 4"/>
          <p:cNvCxnSpPr>
            <a:stCxn id="3" idx="3"/>
            <a:endCxn id="4" idx="1"/>
          </p:cNvCxnSpPr>
          <p:nvPr/>
        </p:nvCxnSpPr>
        <p:spPr>
          <a:xfrm flipV="1">
            <a:off x="2375999" y="1691999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968000" y="1188000"/>
            <a:ext cx="2015999" cy="1007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Единое событие</a:t>
            </a:r>
          </a:p>
          <a:p>
            <a:pPr algn="ctr"/>
            <a:r>
              <a:rPr sz="1100" b="0">
                <a:solidFill>
                  <a:srgbClr val="1C1D22"/>
                </a:solidFill>
                <a:latin typeface="Montserrat"/>
              </a:rPr>
              <a:t>для всех источников</a:t>
            </a:r>
          </a:p>
        </p:txBody>
      </p:sp>
      <p:cxnSp>
        <p:nvCxnSpPr>
          <p:cNvPr id="7" name="Connector 6"/>
          <p:cNvCxnSpPr>
            <a:stCxn id="4" idx="3"/>
            <a:endCxn id="6" idx="1"/>
          </p:cNvCxnSpPr>
          <p:nvPr/>
        </p:nvCxnSpPr>
        <p:spPr>
          <a:xfrm flipV="1">
            <a:off x="4679999" y="1691999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272000" y="1188000"/>
            <a:ext cx="2015999" cy="1007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Профиль датчика</a:t>
            </a:r>
          </a:p>
          <a:p>
            <a:pPr algn="ctr"/>
            <a:r>
              <a:rPr sz="1100" b="0">
                <a:solidFill>
                  <a:srgbClr val="1C1D22"/>
                </a:solidFill>
                <a:latin typeface="Montserrat"/>
              </a:rPr>
              <a:t>пороги, коды</a:t>
            </a:r>
          </a:p>
        </p:txBody>
      </p:sp>
      <p:cxnSp>
        <p:nvCxnSpPr>
          <p:cNvPr id="9" name="Connector 8"/>
          <p:cNvCxnSpPr>
            <a:stCxn id="6" idx="3"/>
            <a:endCxn id="8" idx="1"/>
          </p:cNvCxnSpPr>
          <p:nvPr/>
        </p:nvCxnSpPr>
        <p:spPr>
          <a:xfrm flipV="1">
            <a:off x="6983999" y="1691999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576000" y="1188000"/>
            <a:ext cx="2015999" cy="1007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Конвейер</a:t>
            </a:r>
          </a:p>
          <a:p>
            <a:pPr algn="ctr"/>
            <a:r>
              <a:rPr sz="1100" b="0">
                <a:solidFill>
                  <a:srgbClr val="1C1D22"/>
                </a:solidFill>
                <a:latin typeface="Montserrat"/>
              </a:rPr>
              <a:t>прогноз, карточки</a:t>
            </a:r>
          </a:p>
        </p:txBody>
      </p:sp>
      <p:cxnSp>
        <p:nvCxnSpPr>
          <p:cNvPr id="11" name="Connector 10"/>
          <p:cNvCxnSpPr>
            <a:stCxn id="8" idx="3"/>
            <a:endCxn id="10" idx="1"/>
          </p:cNvCxnSpPr>
          <p:nvPr/>
        </p:nvCxnSpPr>
        <p:spPr>
          <a:xfrm flipV="1">
            <a:off x="9287999" y="1691999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8000" y="2501999"/>
            <a:ext cx="5364000" cy="4634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12" name="Picture 11" descr="constru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2556000"/>
            <a:ext cx="5256000" cy="4526000"/>
          </a:xfrm>
          <a:prstGeom prst="rect">
            <a:avLst/>
          </a:prstGeom>
        </p:spPr>
      </p:pic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048000" y="2520000"/>
          <a:ext cx="576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0000"/>
                <a:gridCol w="1800000"/>
              </a:tblGrid>
              <a:tr h="48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Что подключить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Код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Montserrat"/>
                        </a:rPr>
                        <a:t>Датчик нового формата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0053"/>
                          </a:solidFill>
                          <a:latin typeface="Montserrat"/>
                        </a:rPr>
                        <a:t>не нужен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Montserrat"/>
                        </a:rPr>
                        <a:t>Новый тип датчика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0053"/>
                          </a:solidFill>
                          <a:latin typeface="Montserrat"/>
                        </a:rPr>
                        <a:t>не нужен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Montserrat"/>
                        </a:rPr>
                        <a:t>Регламент ТО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0053"/>
                          </a:solidFill>
                          <a:latin typeface="Montserrat"/>
                        </a:rPr>
                        <a:t>не нужен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Montserrat"/>
                        </a:rPr>
                        <a:t>Система заказчика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0053"/>
                          </a:solidFill>
                          <a:latin typeface="Montserrat"/>
                        </a:rPr>
                        <a:t>не нужен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Montserrat"/>
                        </a:rPr>
                        <a:t>Новая задача прогноза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Montserrat"/>
                        </a:rPr>
                        <a:t>немного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3751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МОДУЛЬНАЯ АРХИТЕКТУРА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224000"/>
            <a:ext cx="2015999" cy="72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СМВУ (Kafka)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0000" y="2124000"/>
            <a:ext cx="2015999" cy="72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Файлы CSV/XLSX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0000" y="3024000"/>
            <a:ext cx="2015999" cy="72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Новые датчики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0000" y="3924000"/>
            <a:ext cx="2015999" cy="72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Погода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792000" y="1224000"/>
            <a:ext cx="2015999" cy="72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Веб и телефон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92000" y="2124000"/>
            <a:ext cx="2015999" cy="72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REST API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92000" y="3024000"/>
            <a:ext cx="2015999" cy="72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Help desk, VMS, 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2000" y="3924000"/>
            <a:ext cx="2015999" cy="72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Grafana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92000" y="1224000"/>
            <a:ext cx="1404000" cy="3420000"/>
          </a:xfrm>
          <a:prstGeom prst="roundRect">
            <a:avLst>
              <a:gd name="adj" fmla="val 15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Адаптеры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сменные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76000" y="1224000"/>
            <a:ext cx="5256000" cy="3420000"/>
          </a:xfrm>
          <a:prstGeom prst="roundRect">
            <a:avLst>
              <a:gd name="adj" fmla="val 5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0000" y="1296000"/>
            <a:ext cx="4968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ontserrat"/>
              </a:rPr>
              <a:t>Ядро: независимые модули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0" y="1728000"/>
            <a:ext cx="1548000" cy="75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Приём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93999" y="1728000"/>
            <a:ext cx="1548000" cy="75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Нормализация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68000" y="1728000"/>
            <a:ext cx="1548000" cy="75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Прогноз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0" y="2664000"/>
            <a:ext cx="1548000" cy="75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Инциденты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93999" y="2664000"/>
            <a:ext cx="1548000" cy="75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Заявки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68000" y="2664000"/>
            <a:ext cx="1548000" cy="75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ТО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0" y="3600000"/>
            <a:ext cx="1548000" cy="75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Роли и зоны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93999" y="3600000"/>
            <a:ext cx="1548000" cy="75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Аудит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68000" y="3600000"/>
            <a:ext cx="1548000" cy="75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Обучение</a:t>
            </a:r>
          </a:p>
        </p:txBody>
      </p:sp>
      <p:cxnSp>
        <p:nvCxnSpPr>
          <p:cNvPr id="23" name="Connector 22"/>
          <p:cNvCxnSpPr>
            <a:stCxn id="3" idx="3"/>
            <a:endCxn id="11" idx="1"/>
          </p:cNvCxnSpPr>
          <p:nvPr/>
        </p:nvCxnSpPr>
        <p:spPr>
          <a:xfrm>
            <a:off x="2375999" y="1584000"/>
            <a:ext cx="216001" cy="1350000"/>
          </a:xfrm>
          <a:prstGeom prst="line">
            <a:avLst/>
          </a:prstGeom>
          <a:ln w="1905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4" idx="3"/>
            <a:endCxn id="11" idx="1"/>
          </p:cNvCxnSpPr>
          <p:nvPr/>
        </p:nvCxnSpPr>
        <p:spPr>
          <a:xfrm>
            <a:off x="2375999" y="2484000"/>
            <a:ext cx="216001" cy="450000"/>
          </a:xfrm>
          <a:prstGeom prst="line">
            <a:avLst/>
          </a:prstGeom>
          <a:ln w="1905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5" idx="3"/>
            <a:endCxn id="11" idx="1"/>
          </p:cNvCxnSpPr>
          <p:nvPr/>
        </p:nvCxnSpPr>
        <p:spPr>
          <a:xfrm flipV="1">
            <a:off x="2375999" y="2934000"/>
            <a:ext cx="216001" cy="450000"/>
          </a:xfrm>
          <a:prstGeom prst="line">
            <a:avLst/>
          </a:prstGeom>
          <a:ln w="1905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6" idx="3"/>
            <a:endCxn id="11" idx="1"/>
          </p:cNvCxnSpPr>
          <p:nvPr/>
        </p:nvCxnSpPr>
        <p:spPr>
          <a:xfrm flipV="1">
            <a:off x="2375999" y="2934000"/>
            <a:ext cx="216001" cy="1350000"/>
          </a:xfrm>
          <a:prstGeom prst="line">
            <a:avLst/>
          </a:prstGeom>
          <a:ln w="1905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1" idx="3"/>
            <a:endCxn id="12" idx="1"/>
          </p:cNvCxnSpPr>
          <p:nvPr/>
        </p:nvCxnSpPr>
        <p:spPr>
          <a:xfrm flipV="1">
            <a:off x="3996000" y="2934000"/>
            <a:ext cx="180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2" idx="3"/>
            <a:endCxn id="7" idx="1"/>
          </p:cNvCxnSpPr>
          <p:nvPr/>
        </p:nvCxnSpPr>
        <p:spPr>
          <a:xfrm flipV="1">
            <a:off x="9432000" y="1584000"/>
            <a:ext cx="360000" cy="1350000"/>
          </a:xfrm>
          <a:prstGeom prst="line">
            <a:avLst/>
          </a:prstGeom>
          <a:ln w="1905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2" idx="3"/>
            <a:endCxn id="8" idx="1"/>
          </p:cNvCxnSpPr>
          <p:nvPr/>
        </p:nvCxnSpPr>
        <p:spPr>
          <a:xfrm flipV="1">
            <a:off x="9432000" y="2484000"/>
            <a:ext cx="360000" cy="450000"/>
          </a:xfrm>
          <a:prstGeom prst="line">
            <a:avLst/>
          </a:prstGeom>
          <a:ln w="1905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2" idx="3"/>
            <a:endCxn id="9" idx="1"/>
          </p:cNvCxnSpPr>
          <p:nvPr/>
        </p:nvCxnSpPr>
        <p:spPr>
          <a:xfrm>
            <a:off x="9432000" y="2934000"/>
            <a:ext cx="360000" cy="450000"/>
          </a:xfrm>
          <a:prstGeom prst="line">
            <a:avLst/>
          </a:prstGeom>
          <a:ln w="1905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3"/>
            <a:endCxn id="10" idx="1"/>
          </p:cNvCxnSpPr>
          <p:nvPr/>
        </p:nvCxnSpPr>
        <p:spPr>
          <a:xfrm>
            <a:off x="9432000" y="2934000"/>
            <a:ext cx="360000" cy="1350000"/>
          </a:xfrm>
          <a:prstGeom prst="line">
            <a:avLst/>
          </a:prstGeom>
          <a:ln w="1905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60000" y="4860000"/>
            <a:ext cx="11448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ontserrat"/>
              </a:rPr>
              <a:t>No-code: что меняется без программиста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0000" y="5256000"/>
            <a:ext cx="27360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FF0053"/>
                </a:solidFill>
                <a:latin typeface="Montserrat"/>
              </a:rPr>
              <a:t>Конструктор</a:t>
            </a:r>
          </a:p>
          <a:p>
            <a:pPr algn="ctr"/>
            <a:r>
              <a:rPr sz="1150" b="0">
                <a:solidFill>
                  <a:srgbClr val="1C1D22"/>
                </a:solidFill>
                <a:latin typeface="Montserrat"/>
              </a:rPr>
              <a:t>датчики и форматы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40000" y="5256000"/>
            <a:ext cx="27360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FF0053"/>
                </a:solidFill>
                <a:latin typeface="Montserrat"/>
              </a:rPr>
              <a:t>Интерфейс</a:t>
            </a:r>
          </a:p>
          <a:p>
            <a:pPr algn="ctr"/>
            <a:r>
              <a:rPr sz="1150" b="0">
                <a:solidFill>
                  <a:srgbClr val="1C1D22"/>
                </a:solidFill>
                <a:latin typeface="Montserrat"/>
              </a:rPr>
              <a:t>зоны, объекты, регламенты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20000" y="5256000"/>
            <a:ext cx="27360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FF0053"/>
                </a:solidFill>
                <a:latin typeface="Montserrat"/>
              </a:rPr>
              <a:t>.env</a:t>
            </a:r>
          </a:p>
          <a:p>
            <a:pPr algn="ctr"/>
            <a:r>
              <a:rPr sz="1150" b="0">
                <a:solidFill>
                  <a:srgbClr val="1C1D22"/>
                </a:solidFill>
                <a:latin typeface="Montserrat"/>
              </a:rPr>
              <a:t>системы заказчика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00000" y="5256000"/>
            <a:ext cx="27360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FF0053"/>
                </a:solidFill>
                <a:latin typeface="Montserrat"/>
              </a:rPr>
              <a:t>Полигон</a:t>
            </a:r>
          </a:p>
          <a:p>
            <a:pPr algn="ctr"/>
            <a:r>
              <a:rPr sz="1150" b="0">
                <a:solidFill>
                  <a:srgbClr val="1C1D22"/>
                </a:solidFill>
                <a:latin typeface="Montserrat"/>
              </a:rPr>
              <a:t>сценарии учений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3560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НАДЁЖНОСТЬ И БЕЗОПАСНОСТЬ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8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129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47 мс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872000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ответ при 20 пользователях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0000" y="118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4000" y="129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≈5 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4000" y="1872000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прогноз по всем объектам (ТЗ ≤ 300 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0000" y="118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999" y="129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242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999" y="1872000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автотеста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0000" y="118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29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≤ 4 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872000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восстановление из копии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000" y="2951999"/>
            <a:ext cx="5616000" cy="34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3999" y="3077999"/>
            <a:ext cx="532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Безопасность (ТЗ §11)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999" y="3509999"/>
            <a:ext cx="5328000" cy="282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TLS, вход через AD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8 ролей и зона на каждом запросе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Журнал действий и просмотров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Чек-лист ввода в эксплуатацию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2000" y="2951999"/>
            <a:ext cx="5616000" cy="34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5999" y="3077999"/>
            <a:ext cx="532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Эксплуатация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5999" y="3509999"/>
            <a:ext cx="5328000" cy="282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Grafana и оповещения Prometheus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Ежедневные резервные копии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Модели готовы с первого дня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120 страниц документации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5263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МОБИЛЬНОЕ ПРИЛОЖЕНИЕ В БРАУЗЕРЕ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4953498" cy="522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mobile_monit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4845498" cy="511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54000" y="1170000"/>
            <a:ext cx="2470180" cy="522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5" name="Picture 4" descr="brigade_4_comple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000" y="1224000"/>
            <a:ext cx="2362180" cy="511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08000" y="1152000"/>
            <a:ext cx="3600000" cy="29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52000" y="1278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Без магазина приложений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52000" y="1710000"/>
            <a:ext cx="3311999" cy="232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Ссылка → «На главный экран»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Тот же вход и роли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08000" y="4320000"/>
            <a:ext cx="3600000" cy="20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2000" y="4446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На объекте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2000" y="4878000"/>
            <a:ext cx="3311999" cy="145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Бригада: заявки и отчёт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Руководитель: утверждение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0536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УЧЕБНЫЙ КОНТУР И УЧЕНИЯ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6948000" cy="4858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exerc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6840000" cy="4750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60000" y="1152000"/>
            <a:ext cx="4248000" cy="864000"/>
          </a:xfrm>
          <a:prstGeom prst="roundRect">
            <a:avLst>
              <a:gd name="adj" fmla="val 15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Руководитель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Montserrat"/>
              </a:rPr>
              <a:t>выбирает сценарий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60000" y="2214000"/>
            <a:ext cx="4248000" cy="864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Симулятор</a:t>
            </a:r>
          </a:p>
          <a:p>
            <a:pPr algn="ctr"/>
            <a:r>
              <a:rPr sz="1150" b="0">
                <a:solidFill>
                  <a:srgbClr val="1C1D22"/>
                </a:solidFill>
                <a:latin typeface="Montserrat"/>
              </a:rPr>
              <a:t>11 сценариев, 6 готовых</a:t>
            </a:r>
          </a:p>
        </p:txBody>
      </p:sp>
      <p:cxnSp>
        <p:nvCxnSpPr>
          <p:cNvPr id="7" name="Connector 6"/>
          <p:cNvCxnSpPr>
            <a:stCxn id="5" idx="2"/>
            <a:endCxn id="6" idx="0"/>
          </p:cNvCxnSpPr>
          <p:nvPr/>
        </p:nvCxnSpPr>
        <p:spPr>
          <a:xfrm flipH="1">
            <a:off x="9684000" y="2016000"/>
            <a:ext cx="0" cy="198000"/>
          </a:xfrm>
          <a:prstGeom prst="line">
            <a:avLst/>
          </a:prstGeom>
          <a:ln w="1905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560000" y="3276000"/>
            <a:ext cx="4248000" cy="864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Полигон</a:t>
            </a:r>
          </a:p>
          <a:p>
            <a:pPr algn="ctr"/>
            <a:r>
              <a:rPr sz="1150" b="0">
                <a:solidFill>
                  <a:srgbClr val="1C1D22"/>
                </a:solidFill>
                <a:latin typeface="Montserrat"/>
              </a:rPr>
              <a:t>настоящие карточки</a:t>
            </a:r>
          </a:p>
        </p:txBody>
      </p:sp>
      <p:cxnSp>
        <p:nvCxnSpPr>
          <p:cNvPr id="9" name="Connector 8"/>
          <p:cNvCxnSpPr>
            <a:stCxn id="6" idx="2"/>
            <a:endCxn id="8" idx="0"/>
          </p:cNvCxnSpPr>
          <p:nvPr/>
        </p:nvCxnSpPr>
        <p:spPr>
          <a:xfrm flipH="1">
            <a:off x="9684000" y="3078000"/>
            <a:ext cx="0" cy="198000"/>
          </a:xfrm>
          <a:prstGeom prst="line">
            <a:avLst/>
          </a:prstGeom>
          <a:ln w="1905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60000" y="4338000"/>
            <a:ext cx="4248000" cy="864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Смена</a:t>
            </a:r>
          </a:p>
          <a:p>
            <a:pPr algn="ctr"/>
            <a:r>
              <a:rPr sz="1150" b="0">
                <a:solidFill>
                  <a:srgbClr val="1C1D22"/>
                </a:solidFill>
                <a:latin typeface="Montserrat"/>
              </a:rPr>
              <a:t>реагирует как в жизни</a:t>
            </a:r>
          </a:p>
        </p:txBody>
      </p:sp>
      <p:cxnSp>
        <p:nvCxnSpPr>
          <p:cNvPr id="11" name="Connector 10"/>
          <p:cNvCxnSpPr>
            <a:stCxn id="8" idx="2"/>
            <a:endCxn id="10" idx="0"/>
          </p:cNvCxnSpPr>
          <p:nvPr/>
        </p:nvCxnSpPr>
        <p:spPr>
          <a:xfrm flipH="1">
            <a:off x="9684000" y="4140000"/>
            <a:ext cx="0" cy="198000"/>
          </a:xfrm>
          <a:prstGeom prst="line">
            <a:avLst/>
          </a:prstGeom>
          <a:ln w="1905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560000" y="5400000"/>
            <a:ext cx="4248000" cy="864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Разбор</a:t>
            </a:r>
          </a:p>
          <a:p>
            <a:pPr algn="ctr"/>
            <a:r>
              <a:rPr sz="1150" b="0">
                <a:solidFill>
                  <a:srgbClr val="1C1D22"/>
                </a:solidFill>
                <a:latin typeface="Montserrat"/>
              </a:rPr>
              <a:t>норматив, решения</a:t>
            </a:r>
          </a:p>
        </p:txBody>
      </p:sp>
      <p:cxnSp>
        <p:nvCxnSpPr>
          <p:cNvPr id="13" name="Connector 12"/>
          <p:cNvCxnSpPr>
            <a:stCxn id="10" idx="2"/>
            <a:endCxn id="12" idx="0"/>
          </p:cNvCxnSpPr>
          <p:nvPr/>
        </p:nvCxnSpPr>
        <p:spPr>
          <a:xfrm flipH="1">
            <a:off x="9684000" y="5202000"/>
            <a:ext cx="0" cy="198000"/>
          </a:xfrm>
          <a:prstGeom prst="line">
            <a:avLst/>
          </a:prstGeom>
          <a:ln w="1905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28440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СООТВЕТСТВИЕ ТЗ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0000" y="1152000"/>
          <a:ext cx="11448000" cy="52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000"/>
                <a:gridCol w="4680000"/>
                <a:gridCol w="5616000"/>
              </a:tblGrid>
              <a:tr h="47781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ontserrat"/>
                        </a:rPr>
                        <a:t>Раздел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ontserrat"/>
                        </a:rPr>
                        <a:t>Требование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ontserrat"/>
                        </a:rPr>
                        <a:t>Реализация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1D22"/>
                          </a:solidFill>
                          <a:latin typeface="Montserrat"/>
                        </a:rPr>
                        <a:t>§3, §8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1D22"/>
                          </a:solidFill>
                          <a:latin typeface="Montserrat"/>
                        </a:rPr>
                        <a:t>Планирование ТО, черновики заявок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1D22"/>
                          </a:solidFill>
                          <a:latin typeface="Montserrat"/>
                        </a:rPr>
                        <a:t>План и графики ТО и ППР, заявки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1D22"/>
                          </a:solidFill>
                          <a:latin typeface="Montserrat"/>
                        </a:rPr>
                        <a:t>§4, §6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1D22"/>
                          </a:solidFill>
                          <a:latin typeface="Montserrat"/>
                        </a:rPr>
                        <a:t>Отказы, пожар, подтопление, НСД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1D22"/>
                          </a:solidFill>
                          <a:latin typeface="Montserrat"/>
                        </a:rPr>
                        <a:t>3 модели на 24 ч, индикаторы, маршрут нарушителя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1D22"/>
                          </a:solidFill>
                          <a:latin typeface="Montserrat"/>
                        </a:rPr>
                        <a:t>§5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1D22"/>
                          </a:solidFill>
                          <a:latin typeface="Montserrat"/>
                        </a:rPr>
                        <a:t>Не заменяет диспетчера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1D22"/>
                          </a:solidFill>
                          <a:latin typeface="Montserrat"/>
                        </a:rPr>
                        <a:t>Решение — за человеком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1D22"/>
                          </a:solidFill>
                          <a:latin typeface="Montserrat"/>
                        </a:rPr>
                        <a:t>§7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1D22"/>
                          </a:solidFill>
                          <a:latin typeface="Montserrat"/>
                        </a:rPr>
                        <a:t>CSV, XLSX, JSON, XML, GeoJSON, WKT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1D22"/>
                          </a:solidFill>
                          <a:latin typeface="Montserrat"/>
                        </a:rPr>
                        <a:t>Импорт, REST, GeoJSON/WKT, планы этажей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1D22"/>
                          </a:solidFill>
                          <a:latin typeface="Montserrat"/>
                        </a:rPr>
                        <a:t>§9, §11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1D22"/>
                          </a:solidFill>
                          <a:latin typeface="Montserrat"/>
                        </a:rPr>
                        <a:t>≤ 300 с, 20 пользователей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1D22"/>
                          </a:solidFill>
                          <a:latin typeface="Montserrat"/>
                        </a:rPr>
                        <a:t>≈5 с прогноз, 47 мс ответ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1D22"/>
                          </a:solidFill>
                          <a:latin typeface="Montserrat"/>
                        </a:rPr>
                        <a:t>§10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1D22"/>
                          </a:solidFill>
                          <a:latin typeface="Montserrat"/>
                        </a:rPr>
                        <a:t>Дашборд, карта, журнал, уведомления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1D22"/>
                          </a:solidFill>
                          <a:latin typeface="Montserrat"/>
                        </a:rPr>
                        <a:t>Мониторинг, журнал прогнозов, WebSocket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1D22"/>
                          </a:solidFill>
                          <a:latin typeface="Montserrat"/>
                        </a:rPr>
                        <a:t>§11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1D22"/>
                          </a:solidFill>
                          <a:latin typeface="Montserrat"/>
                        </a:rPr>
                        <a:t>TLS, LDAP/AD, RBAC, журнал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1D22"/>
                          </a:solidFill>
                          <a:latin typeface="Montserrat"/>
                        </a:rPr>
                        <a:t>TLS, AD, 8 ролей и зоны, журнал действий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1D22"/>
                          </a:solidFill>
                          <a:latin typeface="Montserrat"/>
                        </a:rPr>
                        <a:t>§12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1D22"/>
                          </a:solidFill>
                          <a:latin typeface="Montserrat"/>
                        </a:rPr>
                        <a:t>Пути «пожар» и «подтопление»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1D22"/>
                          </a:solidFill>
                          <a:latin typeface="Montserrat"/>
                        </a:rPr>
                        <a:t>Карточка → решение → заявка → обучение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1D22"/>
                          </a:solidFill>
                          <a:latin typeface="Montserrat"/>
                        </a:rPr>
                        <a:t>§13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1D22"/>
                          </a:solidFill>
                          <a:latin typeface="Montserrat"/>
                        </a:rPr>
                        <a:t>Метео, только чтение, контуры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1D22"/>
                          </a:solidFill>
                          <a:latin typeface="Montserrat"/>
                        </a:rPr>
                        <a:t>Open-Meteo, адаптеры на чтение, контуры данных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8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1D22"/>
                          </a:solidFill>
                          <a:latin typeface="Montserrat"/>
                        </a:rPr>
                        <a:t>§14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1D22"/>
                          </a:solidFill>
                          <a:latin typeface="Montserrat"/>
                        </a:rPr>
                        <a:t>Документация, методы, библиотеки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1D22"/>
                          </a:solidFill>
                          <a:latin typeface="Montserrat"/>
                        </a:rPr>
                        <a:t>120 страниц, руководства по ролям, библиотеки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0536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ЭФФЕКТ ДЛЯ ЭКСПЛУАТАЦИИ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88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332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908000"/>
            <a:ext cx="331199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520978"/>
                </a:solidFill>
                <a:latin typeface="Montserrat"/>
              </a:rPr>
              <a:t>Меньше ложных выездов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2448000"/>
            <a:ext cx="3311999" cy="1007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причина видна до выезда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12000" y="1188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2000" y="1332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92000" y="1908000"/>
            <a:ext cx="331199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520978"/>
                </a:solidFill>
                <a:latin typeface="Montserrat"/>
              </a:rPr>
              <a:t>Раньше о рисках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92000" y="2448000"/>
            <a:ext cx="3311999" cy="1007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прогноз на сутки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3999" y="1188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3999" y="1332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3999" y="1908000"/>
            <a:ext cx="331199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520978"/>
                </a:solidFill>
                <a:latin typeface="Montserrat"/>
              </a:rPr>
              <a:t>ТО по состоянию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3999" y="2448000"/>
            <a:ext cx="3311999" cy="1007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ровная загрузка бригад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000" y="3816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0" y="3960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000" y="4536000"/>
            <a:ext cx="331199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520978"/>
                </a:solidFill>
                <a:latin typeface="Montserrat"/>
              </a:rPr>
              <a:t>Прозрачная смена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000" y="5076000"/>
            <a:ext cx="3311999" cy="1007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нормативы и показатели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12000" y="3816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92000" y="3960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92000" y="4536000"/>
            <a:ext cx="331199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520978"/>
                </a:solidFill>
                <a:latin typeface="Montserrat"/>
              </a:rPr>
              <a:t>Быстрое внедрение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92000" y="5076000"/>
            <a:ext cx="3311999" cy="1007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одна команда развёртывания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3999" y="3816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3999" y="3960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3999" y="4536000"/>
            <a:ext cx="331199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520978"/>
                </a:solidFill>
                <a:latin typeface="Montserrat"/>
              </a:rPr>
              <a:t>Масштабирование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3999" y="5076000"/>
            <a:ext cx="3311999" cy="1007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новый район без кода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36000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ЭКОНОМИЧЕСКИЙ ЭФФЕКТ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224000"/>
            <a:ext cx="2376000" cy="439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332000"/>
            <a:ext cx="2160000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5,9 млн 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7999" y="1800000"/>
            <a:ext cx="1080000" cy="3240000"/>
          </a:xfrm>
          <a:prstGeom prst="roundRect">
            <a:avLst>
              <a:gd name="adj" fmla="val 5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000" y="5112000"/>
            <a:ext cx="216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520978"/>
                </a:solidFill>
                <a:latin typeface="Montserrat"/>
              </a:rPr>
              <a:t>Ложные выезды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5364000"/>
            <a:ext cx="21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6B7B"/>
                </a:solidFill>
                <a:latin typeface="Montserrat"/>
              </a:rPr>
              <a:t>−390 выездов в год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1999" y="1224000"/>
            <a:ext cx="2376000" cy="439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0" y="1332000"/>
            <a:ext cx="2160000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1,7 млн 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00000" y="4073204"/>
            <a:ext cx="1080000" cy="966795"/>
          </a:xfrm>
          <a:prstGeom prst="roundRect">
            <a:avLst>
              <a:gd name="adj" fmla="val 5000"/>
            </a:avLst>
          </a:prstGeom>
          <a:solidFill>
            <a:srgbClr val="8A8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0000" y="5112000"/>
            <a:ext cx="216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520978"/>
                </a:solidFill>
                <a:latin typeface="Montserrat"/>
              </a:rPr>
              <a:t>Время смены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0000" y="5364000"/>
            <a:ext cx="21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6B7B"/>
                </a:solidFill>
                <a:latin typeface="Montserrat"/>
              </a:rPr>
              <a:t>−2 183 ч в год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44000" y="1224000"/>
            <a:ext cx="2376000" cy="439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52000" y="1332000"/>
            <a:ext cx="2160000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2,0 млн 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2000" y="3953736"/>
            <a:ext cx="1080000" cy="1086263"/>
          </a:xfrm>
          <a:prstGeom prst="roundRect">
            <a:avLst>
              <a:gd name="adj" fmla="val 5000"/>
            </a:avLst>
          </a:prstGeom>
          <a:solidFill>
            <a:srgbClr val="8A8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52000" y="5112000"/>
            <a:ext cx="216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520978"/>
                </a:solidFill>
                <a:latin typeface="Montserrat"/>
              </a:rPr>
              <a:t>Плановая замена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2000" y="5364000"/>
            <a:ext cx="21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6B7B"/>
                </a:solidFill>
                <a:latin typeface="Montserrat"/>
              </a:rPr>
              <a:t>245 замен вместо аварийных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80000" y="1224000"/>
            <a:ext cx="3528000" cy="4392000"/>
          </a:xfrm>
          <a:prstGeom prst="roundRect">
            <a:avLst>
              <a:gd name="adj" fmla="val 5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4000" y="1440000"/>
            <a:ext cx="324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ontserrat"/>
              </a:rPr>
              <a:t>Итого на один район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4000" y="1944000"/>
            <a:ext cx="3240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0053"/>
                </a:solidFill>
                <a:latin typeface="Montserrat"/>
              </a:rPr>
              <a:t>≈ 9,6 млн 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24000" y="2844000"/>
            <a:ext cx="324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ontserrat"/>
              </a:rPr>
              <a:t>в год, 95 объектов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4000" y="3456000"/>
            <a:ext cx="3240000" cy="201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0053"/>
                </a:solidFill>
                <a:latin typeface="Montserrat"/>
              </a:rPr>
              <a:t>Не вошло в расчёт: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• ущерб от предотвращённых аварий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• ровная загрузка бригад по ТО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• каждый новый район — ×N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000" y="5832000"/>
            <a:ext cx="1144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Montserrat"/>
              </a:rPr>
              <a:t>Объёмы — из журналов заказчика (1,1 млн сигналов и 26 тыс. карточек в год); ставки и доли — допущения: выезд 15 тыс. ₽, 5 % карточек с выездом, система снимает 30 %, час диспетчера 800 ₽. Расчёт — economics.md.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26928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ПЛАНЫ РАЗВИТИЯ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224000"/>
            <a:ext cx="2664000" cy="648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ontserrat"/>
              </a:rPr>
              <a:t>Пилот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0000" y="2088000"/>
            <a:ext cx="2664000" cy="30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3999" y="2232000"/>
            <a:ext cx="2376000" cy="280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AD и help desk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поток СМВУ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реестр оборудования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0000" y="1224000"/>
            <a:ext cx="2664000" cy="648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520978"/>
                </a:solidFill>
                <a:latin typeface="Montserrat"/>
              </a:rPr>
              <a:t>Данные</a:t>
            </a:r>
          </a:p>
        </p:txBody>
      </p:sp>
      <p:cxnSp>
        <p:nvCxnSpPr>
          <p:cNvPr id="7" name="Connector 6"/>
          <p:cNvCxnSpPr>
            <a:stCxn id="3" idx="3"/>
            <a:endCxn id="6" idx="1"/>
          </p:cNvCxnSpPr>
          <p:nvPr/>
        </p:nvCxnSpPr>
        <p:spPr>
          <a:xfrm flipV="1">
            <a:off x="3024000" y="1548000"/>
            <a:ext cx="216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240000" y="2088000"/>
            <a:ext cx="2664000" cy="30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4000" y="2232000"/>
            <a:ext cx="2376000" cy="280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режим охраны для НСД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журналы ремонтов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уровень воды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0000" y="1224000"/>
            <a:ext cx="2664000" cy="648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520978"/>
                </a:solidFill>
                <a:latin typeface="Montserrat"/>
              </a:rPr>
              <a:t>Модели</a:t>
            </a:r>
          </a:p>
        </p:txBody>
      </p:sp>
      <p:cxnSp>
        <p:nvCxnSpPr>
          <p:cNvPr id="11" name="Connector 10"/>
          <p:cNvCxnSpPr>
            <a:stCxn id="6" idx="3"/>
            <a:endCxn id="10" idx="1"/>
          </p:cNvCxnSpPr>
          <p:nvPr/>
        </p:nvCxnSpPr>
        <p:spPr>
          <a:xfrm flipV="1">
            <a:off x="5904000" y="1548000"/>
            <a:ext cx="216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20000" y="2088000"/>
            <a:ext cx="2664000" cy="30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999" y="2232000"/>
            <a:ext cx="2376000" cy="280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прогноз на 7 суток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разбор ошибок прогноза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рекомендации «что если»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0000" y="1224000"/>
            <a:ext cx="2664000" cy="648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520978"/>
                </a:solidFill>
                <a:latin typeface="Montserrat"/>
              </a:rPr>
              <a:t>Продукт</a:t>
            </a:r>
          </a:p>
        </p:txBody>
      </p:sp>
      <p:cxnSp>
        <p:nvCxnSpPr>
          <p:cNvPr id="15" name="Connector 14"/>
          <p:cNvCxnSpPr>
            <a:stCxn id="10" idx="3"/>
            <a:endCxn id="14" idx="1"/>
          </p:cNvCxnSpPr>
          <p:nvPr/>
        </p:nvCxnSpPr>
        <p:spPr>
          <a:xfrm flipV="1">
            <a:off x="8784000" y="1548000"/>
            <a:ext cx="216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000000" y="2088000"/>
            <a:ext cx="2664000" cy="30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2232000"/>
            <a:ext cx="2376000" cy="280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офлайн для бригады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учения на нескольких объектах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D22"/>
                </a:solidFill>
                <a:latin typeface="Montserrat"/>
              </a:rPr>
              <a:t>• другие районы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" y="5400000"/>
            <a:ext cx="11448000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ontserrat"/>
              </a:rPr>
              <a:t>Модульное ядро: развитие без переделки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0"/>
            <a:ext cx="7200000" cy="90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Montserrat"/>
              </a:rPr>
              <a:t>Спасибо!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3240000"/>
            <a:ext cx="7200000" cy="180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ontserrat"/>
              </a:rPr>
              <a:t>[Название команды]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ontserrat"/>
              </a:rPr>
              <a:t>Репозиторий: [ссылка]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ontserrat"/>
              </a:rPr>
              <a:t>Прототип: [ссылка]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ontserrat"/>
              </a:rPr>
              <a:t>Документация и руководства: [ссылка]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(4:3)</PresentationFormat>
  <Paragraphs>0</Paragraphs>
  <Slides>37</Slides>
  <Notes>37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Аноним</cp:lastModifiedBy>
  <cp:revision>96</cp:revision>
  <dcterms:created xsi:type="dcterms:W3CDTF">2023-05-15T07:36:23Z</dcterms:created>
  <dcterms:modified xsi:type="dcterms:W3CDTF">2026-09-16T13:19:25Z</dcterms:modified>
</cp:coreProperties>
</file>