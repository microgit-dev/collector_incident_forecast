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083762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16.09.2026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16.09.2026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16.09.2026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16.09.2026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16.09.2026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16.09.2026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16.09.2026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16.09.2026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16.09.2026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16.09.2026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16.09.2026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16.09.2026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16.09.2026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16.09.2026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16.09.2026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16.09.2026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16.09.2026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16.09.2026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16.09.2026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82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82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829.png"/><Relationship Id="rId3" Type="http://schemas.openxmlformats.org/officeDocument/2006/relationships/image" Target="../media/image83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83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83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833.png"/><Relationship Id="rId3" Type="http://schemas.openxmlformats.org/officeDocument/2006/relationships/image" Target="../media/image83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83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83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837.png"/><Relationship Id="rId3" Type="http://schemas.openxmlformats.org/officeDocument/2006/relationships/image" Target="../media/image83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83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r>
              <a:t>[Название команды]</a:t>
            </a:r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r>
              <a:t>Задача 8 ДЖКХ: сервис прогнозирования инцидентов и управления ремонтными работами инженерных коллекторов Москвы</a:t>
            </a:r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091804845" name="Picture 10918048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86" y="437801"/>
            <a:ext cx="2414069" cy="8665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1609484257" name="Рисунок 1" descr="workspace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13177" b="13177"/>
          <a:stretch>
            <a:fillRect/>
          </a:stretch>
        </p:blipFill>
        <p:spPr>
          <a:xfrm>
            <a:off x="0" y="335267"/>
            <a:ext cx="6456363" cy="2971784"/>
          </a:xfrm>
        </p:spPr>
      </p:pic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47 тревог → 1 карточка с гипотезой причины и чек-листом. Прогноз честно проверен на отложенном 2026 годе, генератор графиков ТО сверен с реальными графиками заказчика, новые датчики подключаются конструктором без программиста.</a:t>
            </a:r>
            <a:endParaRPr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[ФИО капитана, специальность]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[N] человек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 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0">
                <a:solidFill>
                  <a:schemeClr val="tx1"/>
                </a:solidFill>
              </a:rPr>
              <a:t>[как образовалась команда; место работы или учёбы участников]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[город и регион]</a:t>
            </a:r>
            <a:endParaRPr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r>
              <a:rPr>
                <a:solidFill>
                  <a:srgbClr val="520978"/>
                </a:solidFill>
              </a:rPr>
              <a:t>Прогноз инцидентов коллекторов</a:t>
            </a: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Сервис превращает поток сырых сигналов СМВУ в приоритизированные риски: прогнозирует отказы датчиков, газ и подтопление на 24 ч, объясняет причины, предлагает действие, ведёт решение диспетчера до заявки бригаде и учится на результате. Инженер ТО планирует профилактику по регламенту и фактическому состоянию.</a:t>
            </a:r>
            <a:endParaRPr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172799835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  <p:txBody>
          <a:bodyPr/>
          <a:p/>
        </p:txBody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[роль в команде]</a:t>
            </a:r>
            <a:endParaRPr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[ник]</a:t>
            </a:r>
            <a:endParaRPr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[телефон]</a:t>
            </a:r>
            <a:endParaRPr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[место работы/учёбы]</a:t>
            </a:r>
            <a:endParaRPr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r>
              <a:t>О КОМАНДЕ И ЗАДАЧЕ</a:t>
            </a: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[Краткая история команды: как собрались, участвовали ли вместе в хакатонах или проектах]</a:t>
            </a:r>
            <a:endParaRPr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Данные без меток: отказы — служебные коды и «1970-01-01», тревоги в основном ложные, пожаров нет. Вывели слабые метки из журналов, для пожара и НСД — правила с вероятностью по истории, проверка — только на отложенном 2026 годе. Каскады по сотне каналов за секунду — склейка в эпизоды.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Реальные данные города — 14 ГБ журналов СМВУ за 8 лет — и задача, где польза видна сразу: меньше ложных выездов, ТО по состоянию, понятная причина каждой тревоги.</a:t>
            </a:r>
            <a:endParaRPr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Поток СМВУ (Kafka) → нормализация по профилям датчиков → TimescaleDB и Parquet-архив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LightGBM: отказ датчика, метан ≥ 1 %, подтопление на 24 ч; пожар и НСД — правила с вероятностью по архиву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Склейка сигналов в эпизоды (×42), гипотезы причины, операционный приоритет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Django/DRF, React, Celery, Redis, Grafana; 8 ролей RBAC, LDAP/AD, TLS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Конструктор форматов; адаптеры help desk, реестра, видеонаблюдения</a:t>
            </a:r>
            <a:endParaRPr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ОДС и подразделения: меньше ложных выездов, очередь по опасности, проверка по камерам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Эксплуатация: план ТО по регламенту и состоянию, графики ТО и ППР в формах заказчика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Внедрение: одна команда развёртывания, закрытый контур, системы заказчика — режимом в .env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Тиражирование: любые коллекторы и датчики — шаблоном и профилем, без доработки кода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31464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ПРОБЛЕМА И ДАННЫЕ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52000"/>
            <a:ext cx="3671999" cy="25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1278000"/>
            <a:ext cx="3383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Реактивная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710000"/>
            <a:ext cx="3383999" cy="19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Реагирование только после срабатывания датчика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90 250 сигналов за 30 суток на 95 объектах — диспетчер тонет в потоке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Каскады: сотня тревог за одну секунду от одного отказа питания или связи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48000" y="1152000"/>
            <a:ext cx="3671999" cy="25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92000" y="1278000"/>
            <a:ext cx="3383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Ложные тревоги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2000" y="1710000"/>
            <a:ext cx="3383999" cy="19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Большая часть тревог дымовых и охранных извещателей — ложные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Выезды «на всякий случай» и усталость от тревог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Подтверждённых пожаров и проникновений в данных нет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6000" y="1152000"/>
            <a:ext cx="3671999" cy="25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0000" y="1278000"/>
            <a:ext cx="3383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ТО по календарю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000" y="1710000"/>
            <a:ext cx="3383999" cy="19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Обслуживание по фиксированным срокам, без учёта состояния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Графики ТО и ППР ведутся вручную в XLSX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Пиковые месяцы: до 62 работ по графику против 33 в спокойные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3960000"/>
            <a:ext cx="11448000" cy="2376000"/>
          </a:xfrm>
          <a:prstGeom prst="roundRect">
            <a:avLst>
              <a:gd name="adj" fmla="val 5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4104000"/>
            <a:ext cx="11016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Данные заказчика, с которыми работает решение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4536000"/>
            <a:ext cx="2088000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0053"/>
                </a:solidFill>
                <a:latin typeface="Montserrat"/>
              </a:rPr>
              <a:t>14 ГБ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" y="5184000"/>
            <a:ext cx="2088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журналов СМВУ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2019–2026 (без 2021)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8000" y="4536000"/>
            <a:ext cx="2088000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0053"/>
                </a:solidFill>
                <a:latin typeface="Montserrat"/>
              </a:rPr>
              <a:t>11 485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8000" y="5184000"/>
            <a:ext cx="2088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каналов данных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19 типов датчиков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0000" y="4536000"/>
            <a:ext cx="2088000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0053"/>
                </a:solidFill>
                <a:latin typeface="Montserrat"/>
              </a:rPr>
              <a:t>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0000" y="5184000"/>
            <a:ext cx="2088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объектов района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(дерево объектов)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2000" y="4536000"/>
            <a:ext cx="2088000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0053"/>
                </a:solidFill>
                <a:latin typeface="Montserrat"/>
              </a:rPr>
              <a:t>1 008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2000" y="5184000"/>
            <a:ext cx="2088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датчиков метана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в ППР на 2026 год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4000" y="4536000"/>
            <a:ext cx="2088000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0053"/>
                </a:solidFill>
                <a:latin typeface="Montserrat"/>
              </a:rPr>
              <a:t>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4000" y="5184000"/>
            <a:ext cx="2088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объекта в графике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ТО и ТР на 2026 год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0536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РЕШЕНИЕ: ЗАМКНУТЫЙ ЦИКЛ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512000"/>
            <a:ext cx="1475999" cy="7920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Предсказать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2520000"/>
            <a:ext cx="1475999" cy="21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2628000"/>
            <a:ext cx="1296000" cy="19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1D22"/>
                </a:solidFill>
                <a:latin typeface="Montserrat"/>
              </a:rPr>
              <a:t>LightGBM на 24 ч: отказ датчика, метан, подтопление; индикаторы пожара и НСД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5999" y="1512000"/>
            <a:ext cx="1475999" cy="79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Объединить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5999" y="2520000"/>
            <a:ext cx="1475999" cy="21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6000" y="2628000"/>
            <a:ext cx="1296000" cy="19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1D22"/>
                </a:solidFill>
                <a:latin typeface="Montserrat"/>
              </a:rPr>
              <a:t>Сигналы → эпизод: каскад по питанию и связи — одна карточка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71999" y="1512000"/>
            <a:ext cx="1475999" cy="79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Приоритизировать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71999" y="2520000"/>
            <a:ext cx="1475999" cy="21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1999" y="2628000"/>
            <a:ext cx="1296000" cy="19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1D22"/>
                </a:solidFill>
                <a:latin typeface="Montserrat"/>
              </a:rPr>
              <a:t>Вероятность × тяжесть × критичность × срочность × уверенность данных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8000" y="1512000"/>
            <a:ext cx="1475999" cy="79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Объяснить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28000" y="2520000"/>
            <a:ext cx="1475999" cy="21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8000" y="2628000"/>
            <a:ext cx="1296000" cy="19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1D22"/>
                </a:solidFill>
                <a:latin typeface="Montserrat"/>
              </a:rPr>
              <a:t>Факторы SHAP, гипотезы причины, история канала, похожие случаи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83999" y="1512000"/>
            <a:ext cx="1475999" cy="79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Предложить действие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3999" y="2520000"/>
            <a:ext cx="1475999" cy="21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3999" y="2628000"/>
            <a:ext cx="1296000" cy="19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1D22"/>
                </a:solidFill>
                <a:latin typeface="Montserrat"/>
              </a:rPr>
              <a:t>Чек-лист, камеры у места тревоги, черновик заявки, ТО по состоянию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0000" y="1512000"/>
            <a:ext cx="1475999" cy="79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Получить результат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0000" y="2520000"/>
            <a:ext cx="1475999" cy="21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0000" y="2628000"/>
            <a:ext cx="1296000" cy="19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1D22"/>
                </a:solidFill>
                <a:latin typeface="Montserrat"/>
              </a:rPr>
              <a:t>Решение диспетчера, отчёт и состояние оборудования от бригады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96000" y="1512000"/>
            <a:ext cx="1475999" cy="7920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Улучшить модель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96000" y="2520000"/>
            <a:ext cx="1475999" cy="21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86000" y="2628000"/>
            <a:ext cx="1296000" cy="19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1D22"/>
                </a:solidFill>
                <a:latin typeface="Montserrat"/>
              </a:rPr>
              <a:t>Метки из решений, проверка аналитиком, переобучение раз в неделю</a:t>
            </a:r>
          </a:p>
        </p:txBody>
      </p:sp>
      <p:cxnSp>
        <p:nvCxnSpPr>
          <p:cNvPr id="24" name="Connector 23"/>
          <p:cNvCxnSpPr>
            <a:stCxn id="3" idx="3"/>
            <a:endCxn id="6" idx="1"/>
          </p:cNvCxnSpPr>
          <p:nvPr/>
        </p:nvCxnSpPr>
        <p:spPr>
          <a:xfrm flipV="1">
            <a:off x="1835999" y="1908000"/>
            <a:ext cx="180000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6" idx="3"/>
            <a:endCxn id="9" idx="1"/>
          </p:cNvCxnSpPr>
          <p:nvPr/>
        </p:nvCxnSpPr>
        <p:spPr>
          <a:xfrm flipV="1">
            <a:off x="3491998" y="1908000"/>
            <a:ext cx="180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9" idx="3"/>
            <a:endCxn id="12" idx="1"/>
          </p:cNvCxnSpPr>
          <p:nvPr/>
        </p:nvCxnSpPr>
        <p:spPr>
          <a:xfrm flipV="1">
            <a:off x="5147998" y="1908000"/>
            <a:ext cx="180002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2" idx="3"/>
            <a:endCxn id="15" idx="1"/>
          </p:cNvCxnSpPr>
          <p:nvPr/>
        </p:nvCxnSpPr>
        <p:spPr>
          <a:xfrm flipV="1">
            <a:off x="6803999" y="1908000"/>
            <a:ext cx="180000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5" idx="3"/>
            <a:endCxn id="18" idx="1"/>
          </p:cNvCxnSpPr>
          <p:nvPr/>
        </p:nvCxnSpPr>
        <p:spPr>
          <a:xfrm flipV="1">
            <a:off x="8459998" y="1908000"/>
            <a:ext cx="180002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8" idx="3"/>
            <a:endCxn id="21" idx="1"/>
          </p:cNvCxnSpPr>
          <p:nvPr/>
        </p:nvCxnSpPr>
        <p:spPr>
          <a:xfrm flipV="1">
            <a:off x="10115999" y="1908000"/>
            <a:ext cx="180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60000" y="4968000"/>
            <a:ext cx="11448000" cy="1368000"/>
          </a:xfrm>
          <a:prstGeom prst="roundRect">
            <a:avLst>
              <a:gd name="adj" fmla="val 6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00" y="5076000"/>
            <a:ext cx="11016000" cy="12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0053"/>
                </a:solidFill>
                <a:latin typeface="Montserrat"/>
              </a:rPr>
              <a:t>Главная демонстрация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47 тревог на объекте → 1 карточка, 3 гипотезы причины, 1 действие, 1 черновик заявки. Система не принимает решений за диспетчера (ТЗ §5): она показывает риск, его причины и предлагает действие, а решение человека возвращается в систему как обратная связь.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16344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ФУНКЦИИ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52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3999" y="1314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2000" y="1242000"/>
            <a:ext cx="230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Мониторинг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999" y="1638000"/>
            <a:ext cx="2448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Карта зоны на OSM: объекты в цвете обстановки, риска, данных, заявок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0" y="1152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84000" y="1314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1999" y="1242000"/>
            <a:ext cx="230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Эпизоды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4000" y="1638000"/>
            <a:ext cx="2448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Склейка сигналов ×42, гипотезы причины, чек-лист, приоритет 0–100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0000" y="1152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63999" y="1314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2000" y="1242000"/>
            <a:ext cx="230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Прогноз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999" y="1638000"/>
            <a:ext cx="2448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Отказ датчика, метан, подтопление на 24 ч; журнал с исходами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0" y="1152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0" y="1314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2000" y="1242000"/>
            <a:ext cx="230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Пожар и НСД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638000"/>
            <a:ext cx="2448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Индекс правил + вероятность по истории 10 175 и 73 811 случаев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2916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3999" y="3078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000" y="3006000"/>
            <a:ext cx="230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Проверка по камерам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999" y="3402000"/>
            <a:ext cx="2448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Ближайшие камеры, кадр на момент тревоги, запись в хронологию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0000" y="2916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84000" y="3078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1999" y="3006000"/>
            <a:ext cx="230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Заявки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4000" y="3402000"/>
            <a:ext cx="2448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Черновик → утверждение → help desk → бригада → отчёт и состояние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0000" y="2916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63999" y="3078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2000" y="3006000"/>
            <a:ext cx="230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Инженер ТО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999" y="3402000"/>
            <a:ext cx="2448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План по регламенту и состоянию, реестр, осмотры, выгрузка плана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0000" y="2916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0" y="3078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42000" y="3006000"/>
            <a:ext cx="230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Графики ТО и ППР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402000"/>
            <a:ext cx="2448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В формах заказчика; сверка с его графиками: периодичность 91 %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0000" y="4680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03999" y="4842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2000" y="4770000"/>
            <a:ext cx="230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Конструктор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3999" y="5166000"/>
            <a:ext cx="2448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Новые форматы датчиков шаблоном: JSON, CSV, строка; песочница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0000" y="4680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384000" y="4842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81999" y="4770000"/>
            <a:ext cx="230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Обучение моделей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4000" y="5166000"/>
            <a:ext cx="2448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Метки из решений, проверка аналитиком, чемпион / претендент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0000" y="4680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63999" y="4842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2000" y="4770000"/>
            <a:ext cx="230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Аналитика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999" y="5166000"/>
            <a:ext cx="2448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Эффективность диспетчеров, «кто первый», качество прогнозов, PDF/XLSX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00000" y="4680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144000" y="4842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42000" y="4770000"/>
            <a:ext cx="230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Учения и обучение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5166000"/>
            <a:ext cx="2448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Учебный контур с симулятором, учения с разбором, задания по ролям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2048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8 РОЛЕЙ — 8 РАБОЧИХ МЕСТ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52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1195200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Диспетчер ОДС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432800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весь район: карточки, решения, заявки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800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3999" y="1843200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Диспетчер подразделения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2080800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то же в своей зоне, камеры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2448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999" y="2491200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Руководитель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999" y="2728800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эскалации, перехват, утверждение, учения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3096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3999" y="3139200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Аналитик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999" y="3376800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метки, модели, данные, конструктор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3744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3787200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Инженер ТО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999" y="4024800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план ТО, реестр, графики ТО и ППР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4392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999" y="4435199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Ремонтная бригада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4672799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свои заявки с телефона, состояние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000" y="5040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999" y="5083200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Наблюдатель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999" y="5320800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просмотр обстановки зоны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000" y="5688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3999" y="5731200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Администратор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999" y="5968800"/>
            <a:ext cx="396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роли, интеграции, мониторинг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2000" y="1134000"/>
            <a:ext cx="6876000" cy="4338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pic>
        <p:nvPicPr>
          <p:cNvPr id="27" name="Picture 26" descr="engineer_1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00" y="1188000"/>
            <a:ext cx="6768000" cy="4230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896000" y="5580000"/>
            <a:ext cx="684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Зона ответственности и командная вертикаль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Каждый видит только свою зону; карточку забирает тот, кто первым откликнулся; без реакции в норматив (5 мин для критических) карточка поднимается на уровень выше. Руководства пользователя — отдельно для каждой роли.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6584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BPMN: ОТ СИГНАЛА ДО РЕШЕНИЯ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044000"/>
            <a:ext cx="11448000" cy="549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0000" y="1044000"/>
            <a:ext cx="1152000" cy="1098000"/>
          </a:xfrm>
          <a:prstGeom prst="rect">
            <a:avLst/>
          </a:prstGeom>
          <a:solidFill>
            <a:srgbClr val="F3F0FA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СМВУ и система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2141999"/>
            <a:ext cx="1152000" cy="1098000"/>
          </a:xfrm>
          <a:prstGeom prst="rect">
            <a:avLst/>
          </a:prstGeom>
          <a:solidFill>
            <a:srgbClr val="FFFFFF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Диспетчер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2141999"/>
            <a:ext cx="11447999" cy="0"/>
          </a:xfrm>
          <a:prstGeom prst="line">
            <a:avLst/>
          </a:prstGeom>
          <a:ln w="63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0000" y="3240000"/>
            <a:ext cx="1152000" cy="1098000"/>
          </a:xfrm>
          <a:prstGeom prst="rect">
            <a:avLst/>
          </a:prstGeom>
          <a:solidFill>
            <a:srgbClr val="F3F0FA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Руководитель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240000"/>
            <a:ext cx="11447999" cy="0"/>
          </a:xfrm>
          <a:prstGeom prst="line">
            <a:avLst/>
          </a:prstGeom>
          <a:ln w="63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0000" y="4338000"/>
            <a:ext cx="1152000" cy="1098000"/>
          </a:xfrm>
          <a:prstGeom prst="rect">
            <a:avLst/>
          </a:prstGeom>
          <a:solidFill>
            <a:srgbClr val="FFFFFF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Бригада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4338000"/>
            <a:ext cx="11447999" cy="0"/>
          </a:xfrm>
          <a:prstGeom prst="line">
            <a:avLst/>
          </a:prstGeom>
          <a:ln w="63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0000" y="5436000"/>
            <a:ext cx="1152000" cy="1098000"/>
          </a:xfrm>
          <a:prstGeom prst="rect">
            <a:avLst/>
          </a:prstGeom>
          <a:solidFill>
            <a:srgbClr val="F3F0FA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Аналитик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" y="5436000"/>
            <a:ext cx="11447999" cy="0"/>
          </a:xfrm>
          <a:prstGeom prst="line">
            <a:avLst/>
          </a:prstGeom>
          <a:ln w="63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655999" y="1430999"/>
            <a:ext cx="324000" cy="32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5999" y="1773000"/>
            <a:ext cx="1044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6B7B"/>
                </a:solidFill>
                <a:latin typeface="Montserrat"/>
              </a:rPr>
              <a:t>сигнал датчика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2000" y="1323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Нормализация по профилю, эпизод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71999" y="1323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Карточка: гипотезы, приоритет, чек-лист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2000" y="1323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Уведомление зоне (WebSocket)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12000" y="2421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Принять карточку («кто первый»)</a:t>
            </a:r>
          </a:p>
        </p:txBody>
      </p:sp>
      <p:sp>
        <p:nvSpPr>
          <p:cNvPr id="19" name="Diamond 18"/>
          <p:cNvSpPr/>
          <p:nvPr/>
        </p:nvSpPr>
        <p:spPr>
          <a:xfrm>
            <a:off x="6623999" y="2474999"/>
            <a:ext cx="432000" cy="4320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999" y="2204999"/>
            <a:ext cx="1224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6B7B"/>
                </a:solidFill>
                <a:latin typeface="Montserrat"/>
              </a:rPr>
              <a:t>принято в норматив?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80000" y="3519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Эскалация: перехват или назначение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43999" y="2421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Проверка: история канала, камеры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84000" y="2421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Решение + «что произошло»</a:t>
            </a:r>
          </a:p>
        </p:txBody>
      </p:sp>
      <p:sp>
        <p:nvSpPr>
          <p:cNvPr id="24" name="Diamond 23"/>
          <p:cNvSpPr/>
          <p:nvPr/>
        </p:nvSpPr>
        <p:spPr>
          <a:xfrm>
            <a:off x="10296000" y="2474999"/>
            <a:ext cx="432000" cy="4320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0000" y="2204999"/>
            <a:ext cx="1224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6B7B"/>
                </a:solidFill>
                <a:latin typeface="Montserrat"/>
              </a:rPr>
              <a:t>нужна работа?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52000" y="3519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Утвердить черновик заявки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52000" y="4617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Работа, отчёт, состояние оборудования</a:t>
            </a:r>
          </a:p>
        </p:txBody>
      </p:sp>
      <p:sp>
        <p:nvSpPr>
          <p:cNvPr id="28" name="Oval 27"/>
          <p:cNvSpPr/>
          <p:nvPr/>
        </p:nvSpPr>
        <p:spPr>
          <a:xfrm>
            <a:off x="11268000" y="2529000"/>
            <a:ext cx="324000" cy="324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10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43999" y="5715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Метка обучения: принять / отклонить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84000" y="5715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Переобучение раз в неделю</a:t>
            </a:r>
          </a:p>
        </p:txBody>
      </p:sp>
      <p:cxnSp>
        <p:nvCxnSpPr>
          <p:cNvPr id="31" name="Connector 30"/>
          <p:cNvCxnSpPr>
            <a:stCxn id="13" idx="3"/>
            <a:endCxn id="15" idx="1"/>
          </p:cNvCxnSpPr>
          <p:nvPr/>
        </p:nvCxnSpPr>
        <p:spPr>
          <a:xfrm>
            <a:off x="1979999" y="1592999"/>
            <a:ext cx="252001" cy="1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5" idx="3"/>
            <a:endCxn id="16" idx="1"/>
          </p:cNvCxnSpPr>
          <p:nvPr/>
        </p:nvCxnSpPr>
        <p:spPr>
          <a:xfrm flipV="1">
            <a:off x="3456000" y="1593000"/>
            <a:ext cx="215999" cy="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16" idx="3"/>
            <a:endCxn id="17" idx="1"/>
          </p:cNvCxnSpPr>
          <p:nvPr/>
        </p:nvCxnSpPr>
        <p:spPr>
          <a:xfrm flipV="1">
            <a:off x="4895999" y="1593000"/>
            <a:ext cx="216001" cy="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7" idx="2"/>
            <a:endCxn id="18" idx="0"/>
          </p:cNvCxnSpPr>
          <p:nvPr/>
        </p:nvCxnSpPr>
        <p:spPr>
          <a:xfrm flipH="1">
            <a:off x="5724000" y="1863000"/>
            <a:ext cx="0" cy="558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18" idx="3"/>
            <a:endCxn id="19" idx="1"/>
          </p:cNvCxnSpPr>
          <p:nvPr/>
        </p:nvCxnSpPr>
        <p:spPr>
          <a:xfrm flipV="1">
            <a:off x="6336000" y="2690999"/>
            <a:ext cx="287999" cy="1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19" idx="3"/>
            <a:endCxn id="22" idx="1"/>
          </p:cNvCxnSpPr>
          <p:nvPr/>
        </p:nvCxnSpPr>
        <p:spPr>
          <a:xfrm>
            <a:off x="7055999" y="2690999"/>
            <a:ext cx="288000" cy="1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19" idx="2"/>
            <a:endCxn id="21" idx="0"/>
          </p:cNvCxnSpPr>
          <p:nvPr/>
        </p:nvCxnSpPr>
        <p:spPr>
          <a:xfrm>
            <a:off x="6839999" y="2906999"/>
            <a:ext cx="252001" cy="612001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21" idx="3"/>
            <a:endCxn id="22" idx="2"/>
          </p:cNvCxnSpPr>
          <p:nvPr/>
        </p:nvCxnSpPr>
        <p:spPr>
          <a:xfrm flipV="1">
            <a:off x="7704000" y="2961000"/>
            <a:ext cx="251999" cy="828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22" idx="3"/>
            <a:endCxn id="23" idx="1"/>
          </p:cNvCxnSpPr>
          <p:nvPr/>
        </p:nvCxnSpPr>
        <p:spPr>
          <a:xfrm flipV="1">
            <a:off x="8567999" y="2691000"/>
            <a:ext cx="216001" cy="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23" idx="3"/>
            <a:endCxn id="24" idx="1"/>
          </p:cNvCxnSpPr>
          <p:nvPr/>
        </p:nvCxnSpPr>
        <p:spPr>
          <a:xfrm flipV="1">
            <a:off x="10008000" y="2690999"/>
            <a:ext cx="288000" cy="1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stCxn id="24" idx="2"/>
            <a:endCxn id="26" idx="0"/>
          </p:cNvCxnSpPr>
          <p:nvPr/>
        </p:nvCxnSpPr>
        <p:spPr>
          <a:xfrm>
            <a:off x="10512000" y="2906999"/>
            <a:ext cx="252000" cy="612001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stCxn id="26" idx="2"/>
            <a:endCxn id="27" idx="0"/>
          </p:cNvCxnSpPr>
          <p:nvPr/>
        </p:nvCxnSpPr>
        <p:spPr>
          <a:xfrm flipH="1">
            <a:off x="10764000" y="4059000"/>
            <a:ext cx="0" cy="558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24" idx="3"/>
            <a:endCxn id="28" idx="1"/>
          </p:cNvCxnSpPr>
          <p:nvPr/>
        </p:nvCxnSpPr>
        <p:spPr>
          <a:xfrm>
            <a:off x="10728000" y="2690999"/>
            <a:ext cx="540000" cy="1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23" idx="2"/>
            <a:endCxn id="29" idx="0"/>
          </p:cNvCxnSpPr>
          <p:nvPr/>
        </p:nvCxnSpPr>
        <p:spPr>
          <a:xfrm flipH="1">
            <a:off x="7955999" y="2961000"/>
            <a:ext cx="1440001" cy="2754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29" idx="3"/>
            <a:endCxn id="30" idx="1"/>
          </p:cNvCxnSpPr>
          <p:nvPr/>
        </p:nvCxnSpPr>
        <p:spPr>
          <a:xfrm flipV="1">
            <a:off x="8567999" y="5985000"/>
            <a:ext cx="216001" cy="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60000" y="6552000"/>
            <a:ext cx="1144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Montserrat"/>
              </a:rPr>
              <a:t>Нормативы реакции: 5 / 15 / 60 / 240 мин по уровню; решение и причина из справочника сохраняются в журнале для анализа и дообучения (ТЗ §12)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2995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BPMN: ПРОЦЕСС ТО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080000"/>
            <a:ext cx="11448000" cy="5184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0000" y="1080000"/>
            <a:ext cx="1152000" cy="1296000"/>
          </a:xfrm>
          <a:prstGeom prst="rect">
            <a:avLst/>
          </a:prstGeom>
          <a:solidFill>
            <a:srgbClr val="F3F0FA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Система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2376000"/>
            <a:ext cx="1152000" cy="1296000"/>
          </a:xfrm>
          <a:prstGeom prst="rect">
            <a:avLst/>
          </a:prstGeom>
          <a:solidFill>
            <a:srgbClr val="FFFFFF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Инженер ТО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2376000"/>
            <a:ext cx="11447999" cy="0"/>
          </a:xfrm>
          <a:prstGeom prst="line">
            <a:avLst/>
          </a:prstGeom>
          <a:ln w="63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0000" y="3671999"/>
            <a:ext cx="1152000" cy="1296000"/>
          </a:xfrm>
          <a:prstGeom prst="rect">
            <a:avLst/>
          </a:prstGeom>
          <a:solidFill>
            <a:srgbClr val="F3F0FA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Руководитель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671999"/>
            <a:ext cx="11447999" cy="0"/>
          </a:xfrm>
          <a:prstGeom prst="line">
            <a:avLst/>
          </a:prstGeom>
          <a:ln w="63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0000" y="4968000"/>
            <a:ext cx="1152000" cy="1296000"/>
          </a:xfrm>
          <a:prstGeom prst="rect">
            <a:avLst/>
          </a:prstGeom>
          <a:solidFill>
            <a:srgbClr val="FFFFFF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Бригада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4968000"/>
            <a:ext cx="11447999" cy="0"/>
          </a:xfrm>
          <a:prstGeom prst="line">
            <a:avLst/>
          </a:prstGeom>
          <a:ln w="63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655999" y="1565999"/>
            <a:ext cx="324000" cy="32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5999" y="1908000"/>
            <a:ext cx="1044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6B7B"/>
                </a:solidFill>
                <a:latin typeface="Montserrat"/>
              </a:rPr>
              <a:t>начало года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32000" y="145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Реестр и регламент: ТО в год по видам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1999" y="145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График ТО и ТР, план-график ППР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1999" y="2754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Сверка с графиком заказчика, правки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2000" y="4050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Утвердить график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2000" y="145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Работы месяца + рекомендации по состоянию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2000" y="2754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«В план» на дату → черновик заявки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2000" y="4050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Утвердить заявку, бригада зоны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2000" y="5346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Выполнить, отчёт, состояние</a:t>
            </a:r>
          </a:p>
        </p:txBody>
      </p:sp>
      <p:sp>
        <p:nvSpPr>
          <p:cNvPr id="21" name="Diamond 20"/>
          <p:cNvSpPr/>
          <p:nvPr/>
        </p:nvSpPr>
        <p:spPr>
          <a:xfrm>
            <a:off x="9576000" y="5400000"/>
            <a:ext cx="432000" cy="4320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000" y="5130000"/>
            <a:ext cx="1224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6B7B"/>
                </a:solidFill>
                <a:latin typeface="Montserrat"/>
              </a:rPr>
              <a:t>требует ремонта?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2000" y="145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Рекомендация: ремонт / замена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40000" y="2754000"/>
            <a:ext cx="1152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Дата ТО и состояние в реестр</a:t>
            </a:r>
          </a:p>
        </p:txBody>
      </p:sp>
      <p:sp>
        <p:nvSpPr>
          <p:cNvPr id="25" name="Oval 24"/>
          <p:cNvSpPr/>
          <p:nvPr/>
        </p:nvSpPr>
        <p:spPr>
          <a:xfrm>
            <a:off x="11304000" y="5454000"/>
            <a:ext cx="324000" cy="324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10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cxnSp>
        <p:nvCxnSpPr>
          <p:cNvPr id="26" name="Connector 25"/>
          <p:cNvCxnSpPr>
            <a:stCxn id="11" idx="3"/>
            <a:endCxn id="13" idx="1"/>
          </p:cNvCxnSpPr>
          <p:nvPr/>
        </p:nvCxnSpPr>
        <p:spPr>
          <a:xfrm>
            <a:off x="1979999" y="1727999"/>
            <a:ext cx="252001" cy="1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3" idx="3"/>
            <a:endCxn id="14" idx="1"/>
          </p:cNvCxnSpPr>
          <p:nvPr/>
        </p:nvCxnSpPr>
        <p:spPr>
          <a:xfrm flipV="1">
            <a:off x="3456000" y="1728000"/>
            <a:ext cx="215999" cy="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4" idx="2"/>
            <a:endCxn id="15" idx="0"/>
          </p:cNvCxnSpPr>
          <p:nvPr/>
        </p:nvCxnSpPr>
        <p:spPr>
          <a:xfrm flipH="1">
            <a:off x="4283999" y="1998000"/>
            <a:ext cx="0" cy="756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5" idx="3"/>
            <a:endCxn id="16" idx="1"/>
          </p:cNvCxnSpPr>
          <p:nvPr/>
        </p:nvCxnSpPr>
        <p:spPr>
          <a:xfrm>
            <a:off x="4895999" y="3024000"/>
            <a:ext cx="216001" cy="1296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6" idx="3"/>
            <a:endCxn id="17" idx="2"/>
          </p:cNvCxnSpPr>
          <p:nvPr/>
        </p:nvCxnSpPr>
        <p:spPr>
          <a:xfrm flipV="1">
            <a:off x="6336000" y="1998000"/>
            <a:ext cx="828000" cy="2322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17" idx="2"/>
            <a:endCxn id="18" idx="0"/>
          </p:cNvCxnSpPr>
          <p:nvPr/>
        </p:nvCxnSpPr>
        <p:spPr>
          <a:xfrm flipH="1">
            <a:off x="7164000" y="1998000"/>
            <a:ext cx="0" cy="756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8" idx="3"/>
            <a:endCxn id="19" idx="1"/>
          </p:cNvCxnSpPr>
          <p:nvPr/>
        </p:nvCxnSpPr>
        <p:spPr>
          <a:xfrm>
            <a:off x="7776000" y="3024000"/>
            <a:ext cx="216000" cy="1296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19" idx="2"/>
            <a:endCxn id="20" idx="0"/>
          </p:cNvCxnSpPr>
          <p:nvPr/>
        </p:nvCxnSpPr>
        <p:spPr>
          <a:xfrm flipH="1">
            <a:off x="8604000" y="4590000"/>
            <a:ext cx="0" cy="756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20" idx="3"/>
            <a:endCxn id="21" idx="1"/>
          </p:cNvCxnSpPr>
          <p:nvPr/>
        </p:nvCxnSpPr>
        <p:spPr>
          <a:xfrm flipV="1">
            <a:off x="9216000" y="5616000"/>
            <a:ext cx="360000" cy="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21" idx="0"/>
            <a:endCxn id="23" idx="2"/>
          </p:cNvCxnSpPr>
          <p:nvPr/>
        </p:nvCxnSpPr>
        <p:spPr>
          <a:xfrm flipV="1">
            <a:off x="9792000" y="1998000"/>
            <a:ext cx="252000" cy="3402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21" idx="3"/>
            <a:endCxn id="25" idx="1"/>
          </p:cNvCxnSpPr>
          <p:nvPr/>
        </p:nvCxnSpPr>
        <p:spPr>
          <a:xfrm flipV="1">
            <a:off x="10008000" y="5616000"/>
            <a:ext cx="1296000" cy="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20" idx="0"/>
            <a:endCxn id="24" idx="2"/>
          </p:cNvCxnSpPr>
          <p:nvPr/>
        </p:nvCxnSpPr>
        <p:spPr>
          <a:xfrm flipV="1">
            <a:off x="8604000" y="3294000"/>
            <a:ext cx="2412000" cy="2052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23" idx="1"/>
            <a:endCxn id="18" idx="3"/>
          </p:cNvCxnSpPr>
          <p:nvPr/>
        </p:nvCxnSpPr>
        <p:spPr>
          <a:xfrm flipH="1">
            <a:off x="7776000" y="1728000"/>
            <a:ext cx="1656000" cy="1296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60000" y="6480000"/>
            <a:ext cx="11448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Montserrat"/>
              </a:rPr>
              <a:t>Регламент выведен из реальных графиков заказчика на 2026 год; ППР метановых датчиков: демонтаж → ОМ до 9:00 → вывоз → комиссия по рабочим дням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2239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ML-КОНВЕЙЕР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Журналы СМВУ</a:t>
            </a:r>
          </a:p>
          <a:p>
            <a:pPr algn="ctr"/>
            <a:r>
              <a:rPr sz="1050" b="0">
                <a:solidFill>
                  <a:srgbClr val="1C1D22"/>
                </a:solidFill>
                <a:latin typeface="Montserrat"/>
              </a:rPr>
              <a:t>Kafka, CSV/XLSX, Parquet-архив 2019–2026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4000" y="1188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Нормализация</a:t>
            </a:r>
          </a:p>
          <a:p>
            <a:pPr algn="ctr"/>
            <a:r>
              <a:rPr sz="1050" b="0">
                <a:solidFill>
                  <a:srgbClr val="1C1D22"/>
                </a:solidFill>
                <a:latin typeface="Montserrat"/>
              </a:rPr>
              <a:t>профили: пороги, служебные коды, аспекты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68000" y="1188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Витрины</a:t>
            </a:r>
          </a:p>
          <a:p>
            <a:pPr algn="ctr"/>
            <a:r>
              <a:rPr sz="1050" b="0">
                <a:solidFill>
                  <a:srgbClr val="1C1D22"/>
                </a:solidFill>
                <a:latin typeface="Montserrat"/>
              </a:rPr>
              <a:t>сутки × канал, часы; Data Health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72000" y="1188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Признаки на конец суток</a:t>
            </a:r>
          </a:p>
          <a:p>
            <a:pPr algn="ctr"/>
            <a:r>
              <a:rPr sz="1050" b="0">
                <a:solidFill>
                  <a:srgbClr val="1C1D22"/>
                </a:solidFill>
                <a:latin typeface="Montserrat"/>
              </a:rPr>
              <a:t>окна 1–90 суток, каскады объекта, погода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76000" y="1188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LightGBM</a:t>
            </a:r>
          </a:p>
          <a:p>
            <a:pPr algn="ctr"/>
            <a:r>
              <a:rPr sz="1050" b="0">
                <a:solidFill>
                  <a:srgbClr val="1C1D22"/>
                </a:solidFill>
                <a:latin typeface="Montserrat"/>
              </a:rPr>
              <a:t>обучение 2019–2024 (без 2021)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2916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Переобучение</a:t>
            </a:r>
          </a:p>
          <a:p>
            <a:pPr algn="ctr"/>
            <a:r>
              <a:rPr sz="1050" b="0">
                <a:solidFill>
                  <a:srgbClr val="1C1D22"/>
                </a:solidFill>
                <a:latin typeface="Montserrat"/>
              </a:rPr>
              <a:t>раз в неделю, чемпион / претендент, откат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4000" y="2916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Метки из решений</a:t>
            </a:r>
          </a:p>
          <a:p>
            <a:pPr algn="ctr"/>
            <a:r>
              <a:rPr sz="1050" b="0">
                <a:solidFill>
                  <a:srgbClr val="1C1D22"/>
                </a:solidFill>
                <a:latin typeface="Montserrat"/>
              </a:rPr>
              <a:t>«что произошло» → правила → проверка аналитиком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68000" y="2916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Журнал и исходы</a:t>
            </a:r>
          </a:p>
          <a:p>
            <a:pPr algn="ctr"/>
            <a:r>
              <a:rPr sz="1050" b="0">
                <a:solidFill>
                  <a:srgbClr val="1C1D22"/>
                </a:solidFill>
                <a:latin typeface="Montserrat"/>
              </a:rPr>
              <a:t>бэктест, реализованная точность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2000" y="2916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Уровни риска</a:t>
            </a:r>
          </a:p>
          <a:p>
            <a:pPr algn="ctr"/>
            <a:r>
              <a:rPr sz="1050" b="0">
                <a:solidFill>
                  <a:srgbClr val="1C1D22"/>
                </a:solidFill>
                <a:latin typeface="Montserrat"/>
              </a:rPr>
              <a:t>пороги по точности на 2025 году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76000" y="2916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Тест 2026</a:t>
            </a:r>
          </a:p>
          <a:p>
            <a:pPr algn="ctr"/>
            <a:r>
              <a:rPr sz="1050" b="0">
                <a:solidFill>
                  <a:srgbClr val="1C1D22"/>
                </a:solidFill>
                <a:latin typeface="Montserrat"/>
              </a:rPr>
              <a:t>отложенный год, сравнение с правилом</a:t>
            </a:r>
          </a:p>
        </p:txBody>
      </p:sp>
      <p:cxnSp>
        <p:nvCxnSpPr>
          <p:cNvPr id="13" name="Connector 12"/>
          <p:cNvCxnSpPr>
            <a:stCxn id="3" idx="3"/>
            <a:endCxn id="4" idx="1"/>
          </p:cNvCxnSpPr>
          <p:nvPr/>
        </p:nvCxnSpPr>
        <p:spPr>
          <a:xfrm flipV="1">
            <a:off x="2375999" y="1728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4" idx="3"/>
            <a:endCxn id="5" idx="1"/>
          </p:cNvCxnSpPr>
          <p:nvPr/>
        </p:nvCxnSpPr>
        <p:spPr>
          <a:xfrm flipV="1">
            <a:off x="4679999" y="1728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5" idx="3"/>
            <a:endCxn id="6" idx="1"/>
          </p:cNvCxnSpPr>
          <p:nvPr/>
        </p:nvCxnSpPr>
        <p:spPr>
          <a:xfrm flipV="1">
            <a:off x="6983999" y="1728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6" idx="3"/>
            <a:endCxn id="7" idx="1"/>
          </p:cNvCxnSpPr>
          <p:nvPr/>
        </p:nvCxnSpPr>
        <p:spPr>
          <a:xfrm flipV="1">
            <a:off x="9287999" y="1728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7" idx="2"/>
            <a:endCxn id="12" idx="0"/>
          </p:cNvCxnSpPr>
          <p:nvPr/>
        </p:nvCxnSpPr>
        <p:spPr>
          <a:xfrm flipH="1">
            <a:off x="10583999" y="2268000"/>
            <a:ext cx="0" cy="64800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12" idx="1"/>
            <a:endCxn id="11" idx="3"/>
          </p:cNvCxnSpPr>
          <p:nvPr/>
        </p:nvCxnSpPr>
        <p:spPr>
          <a:xfrm flipH="1" flipV="1">
            <a:off x="9287999" y="3456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1" idx="1"/>
            <a:endCxn id="10" idx="3"/>
          </p:cNvCxnSpPr>
          <p:nvPr/>
        </p:nvCxnSpPr>
        <p:spPr>
          <a:xfrm flipH="1" flipV="1">
            <a:off x="6983999" y="3456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0" idx="1"/>
            <a:endCxn id="9" idx="3"/>
          </p:cNvCxnSpPr>
          <p:nvPr/>
        </p:nvCxnSpPr>
        <p:spPr>
          <a:xfrm flipH="1" flipV="1">
            <a:off x="4679999" y="3456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9" idx="1"/>
            <a:endCxn id="8" idx="3"/>
          </p:cNvCxnSpPr>
          <p:nvPr/>
        </p:nvCxnSpPr>
        <p:spPr>
          <a:xfrm flipH="1" flipV="1">
            <a:off x="2375999" y="3456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8" idx="0"/>
            <a:endCxn id="3" idx="2"/>
          </p:cNvCxnSpPr>
          <p:nvPr/>
        </p:nvCxnSpPr>
        <p:spPr>
          <a:xfrm flipH="1" flipV="1">
            <a:off x="1367999" y="2268000"/>
            <a:ext cx="0" cy="648000"/>
          </a:xfrm>
          <a:prstGeom prst="line">
            <a:avLst/>
          </a:prstGeom>
          <a:ln w="25400">
            <a:solidFill>
              <a:srgbClr val="FF005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0000" y="4320000"/>
            <a:ext cx="5616000" cy="20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3999" y="4446000"/>
            <a:ext cx="5328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Принципы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4878000"/>
            <a:ext cx="5328000" cy="145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Прогнозируется начало события: в выборке каналы «в норме» на конец суток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Одна функция признаков при обучении и в работе — расхождение проверено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Слабые метки из журналов: служебные коды, «1970», неисправности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Метрики только на отложенном годе; честное сравнение с простым правилом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2000" y="4320000"/>
            <a:ext cx="5616000" cy="20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5999" y="4446000"/>
            <a:ext cx="5328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Пожар и НСД — без модели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5999" y="4878000"/>
            <a:ext cx="5328000" cy="145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Подтверждённых событий нет: модель выучила бы ложные срабатывания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Индекс правил: подтверждения из разных датчиков с поправками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Вероятность — калибровка индекса по архиву: те же правила, шаг час, исход «угроза проявилась за 24 ч», монотонность (PAVA)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Пожар: Brier 0,249 против 0,296 для постоянной частоты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507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РЕЗУЛЬТАТЫ: ТЕСТ 2026 ГОДА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0000" y="1188000"/>
          <a:ext cx="11447999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296000"/>
                <a:gridCol w="2015999"/>
                <a:gridCol w="2880000"/>
                <a:gridCol w="2736000"/>
              </a:tblGrid>
              <a:tr h="46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Задача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ROC-AUC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PR-AUC (случайная)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Высокий: точность / полнота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Правило: точность / полнота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Отказ датчика, 24 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0,112 (0,006)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0,21 / 0,09 · 32 в сутки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0,10 / 0,45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Метан ≥ 1 %, 24 ч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0,94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0,188 (0,004)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0,08 / 0,74 · 20 в сутки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0,07 / 0,39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Подтопление, 24 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0,179 (0,040)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0,15 / 0,46 · 21 в сутки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0,13 / 0,54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60000" y="334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3456000"/>
            <a:ext cx="2448000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×33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999" y="4031999"/>
            <a:ext cx="2448000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точнее случайного выбора: прогноз отказа уровня «высокий»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0" y="334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4000" y="3456000"/>
            <a:ext cx="2448000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74 %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4000" y="4031999"/>
            <a:ext cx="2448000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превышений метана ловит модель против 39 % у правила «был уровень ≥ 0,5 %»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0000" y="334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999" y="3456000"/>
            <a:ext cx="2448000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12 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999" y="4031999"/>
            <a:ext cx="2448000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медианное упреждение прогноза отказа датчика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0" y="334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3456000"/>
            <a:ext cx="2448000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×42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031999"/>
            <a:ext cx="2448000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сжатие потока: 90 250 сигналов → 2 138 карточек за 30 суток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5112000"/>
            <a:ext cx="11448000" cy="1296000"/>
          </a:xfrm>
          <a:prstGeom prst="roundRect">
            <a:avLst>
              <a:gd name="adj" fmla="val 6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5220000"/>
            <a:ext cx="11088000" cy="11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0053"/>
                </a:solidFill>
                <a:latin typeface="Montserrat"/>
              </a:rPr>
              <a:t>Честно о целях ТЗ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«Точность &gt; 0,7 и полнота &gt; 0,5 одновременно» недостижимы: события — доли процента каналов в сутки, журналов ремонтов нет, метки слабые. Поэтому уровни риска выбраны по точности: «критический» — для немедленной реакции, «высокий» — для планирования проверки. Бэктест июня 2026: реализованная точность журнала 0,20 / 0,13 / 0,15.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31464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КАРТА МОНИТОРИНГА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000" y="1170000"/>
            <a:ext cx="6948000" cy="438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pic>
        <p:nvPicPr>
          <p:cNvPr id="3" name="Picture 2" descr="monitoring_distr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6840000" cy="4275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60000" y="1152000"/>
            <a:ext cx="4248000" cy="30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03999" y="1278000"/>
            <a:ext cx="396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Главный экран каждой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3999" y="1710000"/>
            <a:ext cx="3960000" cy="239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Своя зона в цвете, смежные — пунктиром, чужие объекты — серым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Бейджи: число карточек и их уровень, заявки в работе и просроченные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Режимы: обстановка, прогноз, датчики, данные, заявки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Объект: датчики по пикетам, карточки, заявки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60000" y="4392000"/>
            <a:ext cx="4248000" cy="201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03999" y="4518000"/>
            <a:ext cx="396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Подложки и этажи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3999" y="4949999"/>
            <a:ext cx="3960000" cy="138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Векторная карта OSM или спутниковый снимок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У объекта — планы этажей, датчики по этажам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В закрытом контуре — свой сервер тайлов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5263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ЗДАНИЕ ПО СНИМКУ И ПЛАНЫ ЭТАЖЕЙ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000" y="1170000"/>
            <a:ext cx="6948000" cy="438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pic>
        <p:nvPicPr>
          <p:cNvPr id="3" name="Picture 2" descr="floor_geo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6840000" cy="427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000" y="5616000"/>
            <a:ext cx="6840000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Привязка контрольного этажа: слева план, справа спутниковый снимок с живым наложением. Пять контрольных точек, невязка 0,0 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06000" y="1170000"/>
            <a:ext cx="4356000" cy="313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pic>
        <p:nvPicPr>
          <p:cNvPr id="6" name="Picture 5" descr="ai_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224000"/>
            <a:ext cx="4248000" cy="3024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60000" y="4428000"/>
            <a:ext cx="4248000" cy="19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03999" y="4554000"/>
            <a:ext cx="396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ИИ + контрольные точки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3999" y="4986000"/>
            <a:ext cx="3960000" cy="135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Контур здания по снимку: Segment Anything, варианты с уверенностью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«По контуру здания»: рамка чертежа ↔ контур, затем точки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Остальные этажи — по плану контрольного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Датчики ставятся на этаж точкой на плане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507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ЭПИЗОД ВМЕСТО СОТНИ ТРЕВОГ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000" y="1170000"/>
            <a:ext cx="6731999" cy="470799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pic>
        <p:nvPicPr>
          <p:cNvPr id="3" name="Picture 2" descr="incident_came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6623999" cy="45999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43999" y="1152000"/>
            <a:ext cx="4464000" cy="52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87999" y="1278000"/>
            <a:ext cx="4176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Что видит диспетчер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7999" y="1710000"/>
            <a:ext cx="4176000" cy="462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Сколько сигналов и каналов склеено, первое и последнее событие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Гипотезы первопричины с весами: питание, связь, модуль датчика, работы, внешний фактор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Операционный приоритет 0–100: очередь по опасности, а не по времени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Чек-лист по типу инцидента и гипотезе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Кто уже смотрел карточку, кто первым откликнулся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Решение с ответом «что произошло» — метка для обучения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Черновик заявки одной кнопкой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34488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ПОЖАР И НСД, КАМЕРЫ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000" y="1170000"/>
            <a:ext cx="6084000" cy="467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pic>
        <p:nvPicPr>
          <p:cNvPr id="3" name="Picture 2" descr="fire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5976000" cy="4565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96000" y="1152000"/>
            <a:ext cx="5112000" cy="2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0" y="1278000"/>
            <a:ext cx="4823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Вероятность по истории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0" y="1710000"/>
            <a:ext cx="4823999" cy="189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Индекс правил посчитан по архиву 2019–2026 теми же правилами и окнами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Пожар: индекс 0,15–0,3 → 7 %, 0,3–0,75 → 42 %, от 0,75 → 63 %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В карточке: вероятность, индекс и число похожих случаев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НСД: повтор тревог 78 % почти при любом индексе — главное проверка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96000" y="3888000"/>
            <a:ext cx="5112000" cy="2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0" y="4014000"/>
            <a:ext cx="4823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Проверка по камерам (ТЗ §12, шаг 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0" y="4446000"/>
            <a:ext cx="4823999" cy="189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Ближайшие к месту тревоги камеры по пикетам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Кадр на момент тревоги из архива VMS и текущий кадр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Просмотр — в хронологии карточки и журнале действий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Адаптер VMS заказчика в .env, на стенде — эмулятор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6584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АВАРИИ И МАРШРУТ НАРУШИТЕЛЯ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000" y="1170000"/>
            <a:ext cx="4356830" cy="529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pic>
        <p:nvPicPr>
          <p:cNvPr id="3" name="Picture 2" descr="intrusion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4248830" cy="5184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42000" y="1170000"/>
            <a:ext cx="4212000" cy="30294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pic>
        <p:nvPicPr>
          <p:cNvPr id="5" name="Picture 4" descr="monitoring_flo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000" y="1224000"/>
            <a:ext cx="4104000" cy="29214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6000" y="4320000"/>
            <a:ext cx="4104000" cy="20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40000" y="4446000"/>
            <a:ext cx="3816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Маршрут по сработкам охраны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0" y="4878000"/>
            <a:ext cx="3816000" cy="145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Люки, двери, датчики движения — по времени, шагами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Где нарушитель сейчас и куда движется (по пикетам)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На карте мониторинга — поверх плана этажа, переключатель этажей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16000" y="1152000"/>
            <a:ext cx="2592000" cy="52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0000" y="1278000"/>
            <a:ext cx="2304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Пять групп аварий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0000" y="1710000"/>
            <a:ext cx="2304000" cy="462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Угроза жизни человека, классификация заказчика: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пожар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наводнение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газ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террор (проникновение)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• аномальная температура — новый тип карточки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Потеря всей связи или питания — инцидент: система «слепнет», объект проверяется обходом.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34488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ИНЖЕНЕР ТО: ГРАФИКИ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000" y="1170000"/>
            <a:ext cx="6948000" cy="4858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pic>
        <p:nvPicPr>
          <p:cNvPr id="3" name="Picture 2" descr="sche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6840000" cy="4750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60000" y="1152000"/>
            <a:ext cx="4248000" cy="26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03999" y="1278000"/>
            <a:ext cx="396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Сверка с реальными графиками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3999" y="1710000"/>
            <a:ext cx="3960000" cy="203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Периодичность ТО совпала в 91 % строк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Число ТО+ТР в году — в 99 %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Пик нагрузки: 47 работ в месяц против 62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ППР: 15 партий против 16, конец 23.12 против 22.12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60000" y="4031999"/>
            <a:ext cx="4248000" cy="237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03999" y="4157999"/>
            <a:ext cx="396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Как это работает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3999" y="4589999"/>
            <a:ext cx="3960000" cy="174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Регламент по видам оборудования из графика заказчика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Генератор выравнивает нагрузку по месяцам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XLSX в форме заказчика, утверждение — руководитель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Работы месяца → заявки → состояние от бригады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36000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КОНСТРУКТОР ДАТЧИКОВ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2015999" cy="1007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Сообщение</a:t>
            </a:r>
          </a:p>
          <a:p>
            <a:pPr algn="ctr"/>
            <a:r>
              <a:rPr sz="950" b="0">
                <a:solidFill>
                  <a:srgbClr val="1C1D22"/>
                </a:solidFill>
                <a:latin typeface="Montserrat"/>
              </a:rPr>
              <a:t>JSON, CSV, строка контроллера, MQTT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4000" y="1188000"/>
            <a:ext cx="2015999" cy="1007999"/>
          </a:xfrm>
          <a:prstGeom prst="roundRect">
            <a:avLst>
              <a:gd name="adj" fmla="val 1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Шаблон формата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ontserrat"/>
              </a:rPr>
              <a:t>где канал, время, значение, тревога</a:t>
            </a:r>
          </a:p>
        </p:txBody>
      </p:sp>
      <p:cxnSp>
        <p:nvCxnSpPr>
          <p:cNvPr id="5" name="Connector 4"/>
          <p:cNvCxnSpPr>
            <a:stCxn id="3" idx="3"/>
            <a:endCxn id="4" idx="1"/>
          </p:cNvCxnSpPr>
          <p:nvPr/>
        </p:nvCxnSpPr>
        <p:spPr>
          <a:xfrm flipV="1">
            <a:off x="2375999" y="1691999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968000" y="1188000"/>
            <a:ext cx="2015999" cy="1007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Единое событие</a:t>
            </a:r>
          </a:p>
          <a:p>
            <a:pPr algn="ctr"/>
            <a:r>
              <a:rPr sz="950" b="0">
                <a:solidFill>
                  <a:srgbClr val="1C1D22"/>
                </a:solidFill>
                <a:latin typeface="Montserrat"/>
              </a:rPr>
              <a:t>RawEvent — одно для всех источников</a:t>
            </a:r>
          </a:p>
        </p:txBody>
      </p:sp>
      <p:cxnSp>
        <p:nvCxnSpPr>
          <p:cNvPr id="7" name="Connector 6"/>
          <p:cNvCxnSpPr>
            <a:stCxn id="4" idx="3"/>
            <a:endCxn id="6" idx="1"/>
          </p:cNvCxnSpPr>
          <p:nvPr/>
        </p:nvCxnSpPr>
        <p:spPr>
          <a:xfrm flipV="1">
            <a:off x="4679999" y="1691999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272000" y="1188000"/>
            <a:ext cx="2015999" cy="1007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Профиль датчика</a:t>
            </a:r>
          </a:p>
          <a:p>
            <a:pPr algn="ctr"/>
            <a:r>
              <a:rPr sz="950" b="0">
                <a:solidFill>
                  <a:srgbClr val="1C1D22"/>
                </a:solidFill>
                <a:latin typeface="Montserrat"/>
              </a:rPr>
              <a:t>пороги, служебные коды, правила</a:t>
            </a:r>
          </a:p>
        </p:txBody>
      </p:sp>
      <p:cxnSp>
        <p:nvCxnSpPr>
          <p:cNvPr id="9" name="Connector 8"/>
          <p:cNvCxnSpPr>
            <a:stCxn id="6" idx="3"/>
            <a:endCxn id="8" idx="1"/>
          </p:cNvCxnSpPr>
          <p:nvPr/>
        </p:nvCxnSpPr>
        <p:spPr>
          <a:xfrm flipV="1">
            <a:off x="6983999" y="1691999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576000" y="1188000"/>
            <a:ext cx="2015999" cy="1007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Конвейер</a:t>
            </a:r>
          </a:p>
          <a:p>
            <a:pPr algn="ctr"/>
            <a:r>
              <a:rPr sz="950" b="0">
                <a:solidFill>
                  <a:srgbClr val="1C1D22"/>
                </a:solidFill>
                <a:latin typeface="Montserrat"/>
              </a:rPr>
              <a:t>нормализация, прогноз, карточки</a:t>
            </a:r>
          </a:p>
        </p:txBody>
      </p:sp>
      <p:cxnSp>
        <p:nvCxnSpPr>
          <p:cNvPr id="11" name="Connector 10"/>
          <p:cNvCxnSpPr>
            <a:stCxn id="8" idx="3"/>
            <a:endCxn id="10" idx="1"/>
          </p:cNvCxnSpPr>
          <p:nvPr/>
        </p:nvCxnSpPr>
        <p:spPr>
          <a:xfrm flipV="1">
            <a:off x="9287999" y="1691999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8000" y="2501999"/>
            <a:ext cx="5364000" cy="4634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pic>
        <p:nvPicPr>
          <p:cNvPr id="12" name="Picture 11" descr="constru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556000"/>
            <a:ext cx="5256000" cy="45260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48000" y="2520000"/>
          <a:ext cx="576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00"/>
                <a:gridCol w="2160000"/>
                <a:gridCol w="1224000"/>
              </a:tblGrid>
              <a:tr h="4114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Что подключить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Как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Код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Датчик нового формата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шаблон + профиль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0053"/>
                          </a:solidFill>
                          <a:latin typeface="Montserrat"/>
                        </a:rPr>
                        <a:t>не нужен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Новый тип датчика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профиль и правила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0053"/>
                          </a:solidFill>
                          <a:latin typeface="Montserrat"/>
                        </a:rPr>
                        <a:t>не нужен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Вид оборудования и регламент ТО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запись регламента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0053"/>
                          </a:solidFill>
                          <a:latin typeface="Montserrat"/>
                        </a:rPr>
                        <a:t>не нужен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Система заказчика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режим и адрес в .env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0053"/>
                          </a:solidFill>
                          <a:latin typeface="Montserrat"/>
                        </a:rPr>
                        <a:t>не нужен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Новая задача прогноза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описание в specs.py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немного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3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Новый транспорт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адаптер с тем же RawEvent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немного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48000" y="5616000"/>
            <a:ext cx="5760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Montserrat"/>
              </a:rPr>
              <a:t>Приём: HTTP от шлюза с ключом источника или обёртка в Kafka; песочница показывает разбор и нормализацию до подключения. Проверено: строка контроллера → Kafka → показание за секунды.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2048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АРХИТЕКТУРА И ИНТЕГРАЦИИ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2664000" cy="27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1296000"/>
            <a:ext cx="2376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20978"/>
                </a:solidFill>
                <a:latin typeface="Montserrat"/>
              </a:rPr>
              <a:t>Источники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800000"/>
            <a:ext cx="2376000" cy="2015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СМВУ → Kafka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Файлы CSV/XLSX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Шаблоны конструктора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Open-Meteo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0000" y="1188000"/>
            <a:ext cx="2664000" cy="27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4000" y="1296000"/>
            <a:ext cx="2376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20978"/>
                </a:solidFill>
                <a:latin typeface="Montserrat"/>
              </a:rPr>
              <a:t>Ядро: модульный монолит Django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4000" y="1800000"/>
            <a:ext cx="2376000" cy="2015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ingestion → normalization → telemetry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forecasting → incidents → workorders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accounts, topology (RBAC + зоны), audit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integrations: адаптеры с режимами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0000" y="1188000"/>
            <a:ext cx="2664000" cy="27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999" y="1296000"/>
            <a:ext cx="2376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20978"/>
                </a:solidFill>
                <a:latin typeface="Montserrat"/>
              </a:rPr>
              <a:t>Хранение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999" y="1800000"/>
            <a:ext cx="2376000" cy="2015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PostgreSQL 16 + TimescaleDB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Parquet-архив 2019–2026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Redis, Celery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витрины сутки / часы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000" y="1188000"/>
            <a:ext cx="2664000" cy="27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296000"/>
            <a:ext cx="2376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20978"/>
                </a:solidFill>
                <a:latin typeface="Montserrat"/>
              </a:rPr>
              <a:t>Клиенты и системы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800000"/>
            <a:ext cx="2376000" cy="2015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React SPA + WebSocket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REST API JSON/XML, OpenAPI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help desk, реестр, VMS, AD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• Grafana, Prometheus</a:t>
            </a:r>
          </a:p>
        </p:txBody>
      </p:sp>
      <p:cxnSp>
        <p:nvCxnSpPr>
          <p:cNvPr id="15" name="Connector 14"/>
          <p:cNvCxnSpPr>
            <a:stCxn id="3" idx="3"/>
            <a:endCxn id="6" idx="1"/>
          </p:cNvCxnSpPr>
          <p:nvPr/>
        </p:nvCxnSpPr>
        <p:spPr>
          <a:xfrm flipV="1">
            <a:off x="3024000" y="2556000"/>
            <a:ext cx="216000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6" idx="3"/>
            <a:endCxn id="9" idx="1"/>
          </p:cNvCxnSpPr>
          <p:nvPr/>
        </p:nvCxnSpPr>
        <p:spPr>
          <a:xfrm flipV="1">
            <a:off x="5904000" y="2556000"/>
            <a:ext cx="216000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9" idx="3"/>
            <a:endCxn id="12" idx="1"/>
          </p:cNvCxnSpPr>
          <p:nvPr/>
        </p:nvCxnSpPr>
        <p:spPr>
          <a:xfrm flipV="1">
            <a:off x="8784000" y="2556000"/>
            <a:ext cx="216000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0000" y="4176000"/>
            <a:ext cx="5616000" cy="22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999" y="4302000"/>
            <a:ext cx="5328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Системы заказчика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4733999"/>
            <a:ext cx="5328000" cy="160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Help desk: mock / rest / off, токен, пути, карта статусов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Реестр оборудования: API раз в сутки или файл CSV/XLSX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Видеонаблюдение: кадр на момент тревоги, ссылка на поток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AD по LDAPS: группа = роль, departmentNumber = зона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Страница «Интеграции»: режим, обмен, ошибка, проверка связи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2000" y="4176000"/>
            <a:ext cx="5616000" cy="22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5999" y="4302000"/>
            <a:ext cx="5328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Контуры и развёртывание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5999" y="4733999"/>
            <a:ext cx="5328000" cy="160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Оперативный контур, архив, витрины (ТЗ §13)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Учебный контур — подсистема на том же адресе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docker compose одной командой; закрытый контур — комплект образов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Только чтение из систем заказчика, кроме передачи заявки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3560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НАДЁЖНОСТЬ И БЕЗОПАСНОСТЬ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1296000"/>
            <a:ext cx="2448000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47 мс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872000"/>
            <a:ext cx="2448000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медиана ответа при 20 одновременных пользователях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0000" y="118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4000" y="1296000"/>
            <a:ext cx="2448000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≈5 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4000" y="1872000"/>
            <a:ext cx="2448000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прогноз по всем объектам за цикл (ТЗ ≤ 300 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0000" y="118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999" y="1296000"/>
            <a:ext cx="2448000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242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999" y="1872000"/>
            <a:ext cx="2448000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автотеста платформы и симулятора, линтеры, аудит зависимостей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000" y="118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296000"/>
            <a:ext cx="2448000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≤ 4 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872000"/>
            <a:ext cx="2448000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восстановление из ежедневной копии проверено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951999"/>
            <a:ext cx="5616000" cy="34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3077999"/>
            <a:ext cx="5328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Безопасность (ТЗ §11)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999" y="3509999"/>
            <a:ext cx="5328000" cy="282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TLS 1.2+, HSTS, CSP, наружу только Caddy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RBAC: 8 ролей и зона ответственности на каждом запросе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LDAP/AD, блокировка подбора пароля, отзыв токенов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Журнал всех действий и просмотров карточек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Grafana: вход через систему, роль БД только на чтение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Отчёт о проверке и чек-лист ввода в эксплуатацию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2000" y="2951999"/>
            <a:ext cx="5616000" cy="34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5999" y="3077999"/>
            <a:ext cx="5328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Эксплуатация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5999" y="3509999"/>
            <a:ext cx="5328000" cy="282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Prometheus и Grafana: сервисы, очереди, задержка потока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Ежедневный pg_dump с ротацией 7 / 4 / 3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Инструкция по развёртыванию у заказчика, проверка check.sh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Документация 118 страниц и 8 руководств по ролям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149-ФЗ и 152-ФЗ: только чтение, минимизация данных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5263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МОБИЛЬНОЕ ПРИЛОЖЕНИЕ В БРАУЗЕРЕ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000" y="1170000"/>
            <a:ext cx="4953498" cy="522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pic>
        <p:nvPicPr>
          <p:cNvPr id="3" name="Picture 2" descr="mobile_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4845498" cy="511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54000" y="1170000"/>
            <a:ext cx="2470180" cy="522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pic>
        <p:nvPicPr>
          <p:cNvPr id="5" name="Picture 4" descr="brigade_4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000" y="1224000"/>
            <a:ext cx="2362180" cy="511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08000" y="1152000"/>
            <a:ext cx="3600000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52000" y="1278000"/>
            <a:ext cx="3311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Без магазина приложений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2000" y="1710000"/>
            <a:ext cx="3311999" cy="232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Открывается по ссылке в браузере телефона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«На главный экран» — значок и полноэкранный режим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Тот же вход, роли и зоны, что на ПК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Обновляется вместе с сервером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8000" y="4320000"/>
            <a:ext cx="3600000" cy="20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2000" y="4446000"/>
            <a:ext cx="3311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На объекте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2000" y="4878000"/>
            <a:ext cx="3311999" cy="145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Бригада: заявки на карте, «в работу», «выполнена», отчёт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Руководитель: утверждение с планшета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От 360 px, проверено на 25 страницах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0536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УЧЕБНЫЙ КОНТУР И УЧЕНИЯ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000" y="1170000"/>
            <a:ext cx="6948000" cy="4858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pic>
        <p:nvPicPr>
          <p:cNvPr id="3" name="Picture 2" descr="exerc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6840000" cy="4750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60000" y="1152000"/>
            <a:ext cx="4248000" cy="52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03999" y="1278000"/>
            <a:ext cx="396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Тренировка смены без риска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3999" y="1710000"/>
            <a:ext cx="3960000" cy="462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Полигон из трёх объектов и симулятор датчиков: 11 сценариев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В т.ч. маршрут нарушителя, аномальная температура, ППР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Учения: сценарий, темп, осложнение, «молчащий» участник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Разбор: отклик в норматив, решения, заявки, хронология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Учебные задания по ролям с подсказками и счётом ошибок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• Вики: регламенты и памятки по ролям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28440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СООТВЕТСТВИЕ ТЗ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0000" y="1152000"/>
          <a:ext cx="11448000" cy="52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"/>
                <a:gridCol w="3960000"/>
                <a:gridCol w="6336000"/>
              </a:tblGrid>
              <a:tr h="47781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Раздел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Требование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Реализация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</a:tr>
              <a:tr h="47781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§3, §8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Планирование ТО, черновики заявок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Инженер ТО, план и графики ТО и ППР, рекомендации, заявки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81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§4, §6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Отказы, пожар, подтопление, НСД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3 модели на 24 ч, индикаторы, маршрут нарушителя, аномальная температура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</a:tr>
              <a:tr h="47781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§5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Не заменяет диспетчера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Решение и причина — за человеком, система предлагает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81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§7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CSV, XLSX, JSON, XML, GeoJSON, WKT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Импорт, REST JSON/XML, GeoJSON/WKT, планы этажей по контрольным точкам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</a:tr>
              <a:tr h="47781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§9, §11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≤ 300 с, 20 пользователей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≈5 с цикл прогноза, 47 мс при 20 пользователях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81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§10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Дашборд, карта, журнал, уведомления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Мониторинг, оперативная обстановка, журнал прогнозов, WebSocket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</a:tr>
              <a:tr h="47781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§11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TLS, LDAP/AD, RBAC, журнал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Caddy TLS, AD, 8 ролей и зоны, журнал действий и просмотров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81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§12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Пути «пожар» и «подтопление»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Карточка → проверка по камерам → решение → метка для обучения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</a:tr>
              <a:tr h="47781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§13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Метео, только чтение, контуры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Open-Meteo, адаптеры на чтение, оперативный контур, архив, витрины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8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§14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Документация, методы, библиотеки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118 страниц, руководства по ролям, перечень библиотек, открытый код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0536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ЭФФЕКТ ДЛЯ ЭКСПЛУАТАЦИИ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3671999" cy="24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332000"/>
            <a:ext cx="3311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835999"/>
            <a:ext cx="3311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20978"/>
                </a:solidFill>
                <a:latin typeface="Montserrat"/>
              </a:rPr>
              <a:t>Меньше ложных выездов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231999"/>
            <a:ext cx="3311999" cy="13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Карточка эпизода вместо сотни тревог (×42), гипотеза «потеря связи / питание», проверка по камерам до выезда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2000" y="1188000"/>
            <a:ext cx="3671999" cy="24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2000" y="1332000"/>
            <a:ext cx="3311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2000" y="1835999"/>
            <a:ext cx="3311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20978"/>
                </a:solidFill>
                <a:latin typeface="Montserrat"/>
              </a:rPr>
              <a:t>Раньше о рисках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2000" y="2231999"/>
            <a:ext cx="3311999" cy="13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Прогноз на 24 ч: метан ловится в 74 % случаев против 39 % у правила; упреждение отказа — 12 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3999" y="1188000"/>
            <a:ext cx="3671999" cy="24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3999" y="1332000"/>
            <a:ext cx="3311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3999" y="1835999"/>
            <a:ext cx="3311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20978"/>
                </a:solidFill>
                <a:latin typeface="Montserrat"/>
              </a:rPr>
              <a:t>ТО по состоянию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3999" y="2231999"/>
            <a:ext cx="3311999" cy="13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Рекомендации по прогнозам и осмотрам, ровная загрузка бригад: пик 47 работ против 62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3816000"/>
            <a:ext cx="3671999" cy="24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3960000"/>
            <a:ext cx="3311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4464000"/>
            <a:ext cx="3311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20978"/>
                </a:solidFill>
                <a:latin typeface="Montserrat"/>
              </a:rPr>
              <a:t>Прозрачная смена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4860000"/>
            <a:ext cx="3311999" cy="13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Нормативы реакции, эскалация, «кто первый», показатели сотрудников и отчёты PDF/XLSX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12000" y="3816000"/>
            <a:ext cx="3671999" cy="24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2000" y="3960000"/>
            <a:ext cx="3311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2000" y="4464000"/>
            <a:ext cx="3311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20978"/>
                </a:solidFill>
                <a:latin typeface="Montserrat"/>
              </a:rPr>
              <a:t>Быстрое внедрение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2000" y="4860000"/>
            <a:ext cx="3311999" cy="13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Одна команда развёртывания, закрытый контур, системы заказчика — режимом в .env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3999" y="3816000"/>
            <a:ext cx="3671999" cy="24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3999" y="3960000"/>
            <a:ext cx="3311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3999" y="4464000"/>
            <a:ext cx="3311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20978"/>
                </a:solidFill>
                <a:latin typeface="Montserrat"/>
              </a:rPr>
              <a:t>Масштабирование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999" y="4860000"/>
            <a:ext cx="3311999" cy="13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Любые коллекторы и датчики — шаблоном и профилем; обучение смены на полигоне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26928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ПЛАНЫ РАЗВИТИЯ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224000"/>
            <a:ext cx="2664000" cy="648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Пилот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2088000"/>
            <a:ext cx="2664000" cy="30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2232000"/>
            <a:ext cx="2376000" cy="280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AD и help desk заказчика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поток СМВУ через шлюз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реестр из учётной системы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0000" y="1224000"/>
            <a:ext cx="2664000" cy="648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Данные</a:t>
            </a:r>
          </a:p>
        </p:txBody>
      </p:sp>
      <p:cxnSp>
        <p:nvCxnSpPr>
          <p:cNvPr id="7" name="Connector 6"/>
          <p:cNvCxnSpPr>
            <a:stCxn id="3" idx="3"/>
            <a:endCxn id="6" idx="1"/>
          </p:cNvCxnSpPr>
          <p:nvPr/>
        </p:nvCxnSpPr>
        <p:spPr>
          <a:xfrm flipV="1">
            <a:off x="3024000" y="1548000"/>
            <a:ext cx="216000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0000" y="2088000"/>
            <a:ext cx="2664000" cy="30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4000" y="2232000"/>
            <a:ext cx="2376000" cy="280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режим охраны от шлюза для НСД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журналы ремонтов → метки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датчики уровня воды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0000" y="1224000"/>
            <a:ext cx="2664000" cy="648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Модели</a:t>
            </a:r>
          </a:p>
        </p:txBody>
      </p:sp>
      <p:cxnSp>
        <p:nvCxnSpPr>
          <p:cNvPr id="11" name="Connector 10"/>
          <p:cNvCxnSpPr>
            <a:stCxn id="6" idx="3"/>
            <a:endCxn id="10" idx="1"/>
          </p:cNvCxnSpPr>
          <p:nvPr/>
        </p:nvCxnSpPr>
        <p:spPr>
          <a:xfrm flipV="1">
            <a:off x="5904000" y="1548000"/>
            <a:ext cx="216000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20000" y="2088000"/>
            <a:ext cx="2664000" cy="30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999" y="2232000"/>
            <a:ext cx="2376000" cy="280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прогноз на 7 суток для всех задач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разбор ложных прогнозов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контрфактические рекомендации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0000" y="1224000"/>
            <a:ext cx="2664000" cy="648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wrap="square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Продукт</a:t>
            </a:r>
          </a:p>
        </p:txBody>
      </p:sp>
      <p:cxnSp>
        <p:nvCxnSpPr>
          <p:cNvPr id="15" name="Connector 14"/>
          <p:cNvCxnSpPr>
            <a:stCxn id="10" idx="3"/>
            <a:endCxn id="14" idx="1"/>
          </p:cNvCxnSpPr>
          <p:nvPr/>
        </p:nvCxnSpPr>
        <p:spPr>
          <a:xfrm flipV="1">
            <a:off x="8784000" y="1548000"/>
            <a:ext cx="216000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00000" y="2088000"/>
            <a:ext cx="2664000" cy="30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232000"/>
            <a:ext cx="2376000" cy="280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офлайн-режим бригады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учения по нескольким объектам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тиражирование на другие районы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5400000"/>
            <a:ext cx="11448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Каркас готов к развитию без переделки ядра: роли и зоны, журнал действий, отдельные контуры данных, общий конвейер моделей и конструктор источников.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0"/>
            <a:ext cx="7200000" cy="90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ontserrat"/>
              </a:rPr>
              <a:t>Спасибо!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3240000"/>
            <a:ext cx="7200000" cy="180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ontserrat"/>
              </a:rPr>
              <a:t>[Название команды]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ontserrat"/>
              </a:rPr>
              <a:t>Репозиторий: [ссылка]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ontserrat"/>
              </a:rPr>
              <a:t>Прототип: [ссылка]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ontserrat"/>
              </a:rPr>
              <a:t>Документация и руководства: [ссылка]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2026-09-16T13:19:25Z</dcterms:modified>
</cp:coreProperties>
</file>