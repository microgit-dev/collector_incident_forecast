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2A33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D2A33"/>
                </a:solidFill>
                <a:latin typeface="Calibri"/>
              </a:rPr>
              <a:t>Прогноз «высокий»: во сколько раз точнее случайного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 сколько раз точнее случайного</c:v>
                </c:pt>
              </c:strCache>
            </c:strRef>
          </c:tx>
          <c:spPr>
            <a:solidFill>
              <a:srgbClr val="E8772E"/>
            </a:solidFill>
            <a:effectLst/>
          </c:spPr>
          <c:invertIfNegative val="0"/>
          <c:dLbls>
            <c:numFmt formatCode="General&quot;×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D2A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Подтопление</c:v>
                  </c:pt>
                  <c:pt idx="1">
                    <c:v>Загазованность</c:v>
                  </c:pt>
                  <c:pt idx="2">
                    <c:v>Отказ датчика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3.8</c:v>
                </c:pt>
                <c:pt idx="1">
                  <c:v>20</c:v>
                </c:pt>
                <c:pt idx="2">
                  <c:v>33</c:v>
                </c:pt>
              </c:numCache>
            </c:numRef>
          </c:val>
        </c:ser>
        <c:dLbls>
          <c:numFmt formatCode="General&quot;×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D2A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предиктивной аналитики для диспетчеров Москоллектора. Три цифры: поток сигналов сжимается в 42 раза, прогноз отказа датчика в 33 раза точнее случайного, в демо-сценарии отказ предсказан за 21 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поток около 3000 сигналов в сутки, редкие события отказа, отсутствие подтверждённых пожаров и НСД, нет журналов ремонтов.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идея — замкнутый цикл: сигнал, эпизод, риск, решение человека, обучение модели на этом решении.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экран после демо-сценариев: 472 сигнала за 10 минут стали 6 карточками. Очередь отсортирована по операционному приоритету.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Сигналы склеиваются по объекту и контуру риска, пока пауза не больше 30 минут. За 30 суток 90 тысяч сигналов стали 2 тысячами карточек.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модели на едином конвейере признаков и два индикатора по правилам. Для каждого — метрики на отложенном 2026 годе.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Карточка прогноза: критический риск 72 % по каналу насосной станции. Отказ случился через 21 час — это третий демо-сценарий.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 честные: цель ТЗ одновременно по точности и полноте на этих данных недостижима, уровни риска выбраны по точности и прозрачно показаны.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Вертикаль: бригада, диспетчерская объекта, ОДС, руководство. Эскалация по таймауту реакции, закрепление карточки, журнал просмотров.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Схема: 16 трасс, около 60 участков на трассу, цвет — риск, отметки — сбои, молчание и карточки.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разметки настраивает аналитик. Каждая метка видна, её можно отклонить. Переобучение раз в неделю по схеме чемпион-претендент, контроль деградации.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проходит путь от рекомендации до закрытия; в стенде система учёта заявок заказчика заменена эмулятором с полным жизненным циклом.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Истории работы диспетчеров в выгрузке нет, поэтому метрики показаны на эмуляции смен, помеченной и исключаемой одним переключателем.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Модульный монолит: модули с явными границами, любой можно вынести в сервис. Новый источник — адаптер, новый тип датчика — профиль нормализации в админке.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цифры замерены на стенде: 4 ядра, 8 ГБ памяти. Нагрузочный скрипт и процедура восстановления описаны в документации.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Демонстрация: команда demo_scenario публикует эпизод в Kafka с текущим временем; перед этим каналы приводятся в состояние на начало эпизода.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следуют из данных, а не из архитектуры: при появлении журналов ремонтов и подтверждённых событий модели переобучаются на том же конвейере.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024128"/>
            <a:ext cx="512064" cy="5120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2024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инцидентов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инженерных коллекторов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7947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C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Отказы датчиков, пожар, загазованность, подтопление и несанкционированный доступ — до того, как они случились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«8. ДЖКХ» · АО «Москоллектор»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188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×42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1965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сжимается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карточки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33×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точнее случайного 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отказа датчика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389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ч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166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упреждение в демо-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отказа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сигналов в сутки, а отказы — без предупреждения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показали 14 ГБ журналов СМВУ за 2019–2026 годы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2539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в сутки — переходы каналов в тревогу и сбой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39312" y="2103120"/>
            <a:ext cx="685800" cy="6858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22539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9312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11 485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3639312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каналов на 95 объектах: дым, газ, вода, доступ, насосы, питание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81344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55664" y="2103120"/>
            <a:ext cx="685800" cy="6858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225399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55664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0,6 %</a:t>
            </a:r>
            <a:endParaRPr lang="en-US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6455664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каналов в сутки начинают отказывать — событие редкое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997696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272016" y="2103120"/>
            <a:ext cx="685800" cy="6858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892" y="225399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72016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17"/>
          <p:cNvSpPr txBox="1"/>
          <p:nvPr/>
        </p:nvSpPr>
        <p:spPr>
          <a:xfrm>
            <a:off x="9272016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подтверждённых пожаров и проникновений: тревоги в основном ложные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Журналов ремонтов, решений диспетчеров и реестра оборудования в выгрузке нет — метки отказа слабые, и система должна учиться на решениях самих диспетчеров.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сигнала к решению — и обратно в модель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предлагает, человек решает, его решение учит систему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43000" y="1920240"/>
            <a:ext cx="914400" cy="9144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12140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94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548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СМВУ через Kafka, единая нормализация любых датчиков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1920240"/>
            <a:ext cx="914400" cy="9144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21408"/>
            <a:ext cx="512064" cy="51206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80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2834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сигналов объекта склеиваются в одну карточку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715000" y="1920240"/>
            <a:ext cx="914400" cy="9144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2121408"/>
            <a:ext cx="512064" cy="51206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766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17" name="Text 12"/>
          <p:cNvSpPr txBox="1"/>
          <p:nvPr/>
        </p:nvSpPr>
        <p:spPr>
          <a:xfrm>
            <a:off x="5120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и приоритет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Гипотезы причины, приоритет 0–100, прогноз на 24 ч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001000" y="1920240"/>
            <a:ext cx="914400" cy="9144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121408"/>
            <a:ext cx="512064" cy="51206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052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22" name="Text 16"/>
          <p:cNvSpPr txBox="1"/>
          <p:nvPr/>
        </p:nvSpPr>
        <p:spPr>
          <a:xfrm>
            <a:off x="7406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произошло, причина, заявка бригаде; эскалация по таймауту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10287000" y="1920240"/>
            <a:ext cx="914400" cy="91440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8168" y="2121408"/>
            <a:ext cx="512064" cy="51206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→ метка → переобучение под контролем аналитика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51206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не заменяет диспетчера и не управляет оборудованием (ТЗ §5): он показывает риск, его причины и следующее действие.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экран: 472 сигнала → 6 карточек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Поток, эпизоды и очередь «требуют действия» — на одном экране, по приоритету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549640" y="1691640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224" y="179222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16733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Сырые сигналы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0" y="20391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переходы в тревогу и сбой за 10 мин, 1 ч или сутки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8549640" y="2862072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29626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144000" y="2843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Эпизоды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144000" y="320954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склейка по объекту и контуру риска; сжатие потока видно сразу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549640" y="4032504"/>
            <a:ext cx="457200" cy="4572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224" y="4133088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44000" y="40142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Требуют действия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0" y="437997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взятые карточки, просрочка реакции, эскалации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549640" y="5202936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0224" y="530352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44000" y="51846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Активные риски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144000" y="5550408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задач прогноза: каналы критического, высокого и среднего уровня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тревог сжимается в 42 раза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суток данных заказчика, та же склейка, что в работе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90 250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потока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3 008 в сутки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745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D5D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2 138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карточек-эпизодов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71 в сутки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73736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15222B"/>
          </a:solidFill>
          <a:ln w="12700">
            <a:solidFill>
              <a:srgbClr val="152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1920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×42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решений на смену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Потеря связи на «Кси», 24.06.2026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206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 сигналов по 127 каналам → 1 карточка «потеря связи»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«Каппа ПС», 17.06.2024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892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2 078 сигналов → 2 карточки; 7 из 8 каналов из топа прогноза отказали в тот же день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Гипотезы причины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55778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питание, связь, модуль, отдельный датчик, работы на объекте, ложное срабатывание — с весами и доказательствами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рисков: три модели и два индикатора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 24 часа (отказ датчика — также 7 суток); тест — отложенный 2026 год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217261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датчика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33 признака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0,21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0,09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упреждение 12 ч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98064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26664" y="201168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598" y="217261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Загазованность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026664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метан ≥ 1 %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026664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ловит 74 %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превышений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(правило — 39 %)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47488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276088" y="201168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022" y="217261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Подтопление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76088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погода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5276088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0,15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0,45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насосы АНС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296912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525512" y="2011680"/>
            <a:ext cx="731520" cy="73152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446" y="2172614"/>
            <a:ext cx="409651" cy="4096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Пожар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по правилам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525512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дым, тепло,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температуры,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извещатели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546336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9774936" y="2011680"/>
            <a:ext cx="731520" cy="73152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5870" y="2172614"/>
            <a:ext cx="409651" cy="40965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НСД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774936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по правилам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774936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и движение,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охраны, ночь;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наряд снижает риск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пожара и НСД подтверждённых событий в данных нет: модель научилась бы предсказывать ложные срабатывания. Поэтому — объяснимый индекс по правилам и формулировка «риск», а не «факт».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прогноз объясним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риск высокий, насколько ему верить и что делать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forecast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Факторы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756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 каждого признака (SHAP): «65 суток с неисправностями из 90»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Насколько доверять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6440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уровня на тесте, итог журнала, сравнение с правилом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данных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531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Health канала: полнота, свежесть, стабильность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57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418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и черновик заявки из рекомендации по ТО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реальных данных, а не на выдуманных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2019–2024, пороги — 2025, отложенный тест — 2026; бэктест июня 2026 года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73736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12280" y="18470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Бэктест июня: реализованная точность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0,20 · 0,13 · 0,15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23544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· газ · подтопление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898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по факту: предупреждено событий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18 % · 93 % · 43 %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104/569 · 52/56 · 36/84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39502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в обучении и в работе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42519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расхождений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по всем задачам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12280" y="50017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ТЗ P &gt; 0,7 и R &gt; 0,5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812280" y="5303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недостижима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редки, метки слабые — уровни выбраны по точности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Командная вертикаль и эскалация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не потеряется: если её никто не взял — она поднимается выше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470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района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утверждает заявки, видит эскалации и аналитику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012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944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ОДС района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3101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дежурные смены; весь район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393192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FCE9DC"/>
          </a:solidFill>
          <a:ln w="12700">
            <a:solidFill>
              <a:srgbClr val="FCE9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4041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Диспетчерская объекта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4407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первой получает карточки своего объекта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83080" y="502920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057400" y="5138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5504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исполняет заявки, отчёт — обратно в карточку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06640" y="1783080"/>
            <a:ext cx="731520" cy="73152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7574" y="1944014"/>
            <a:ext cx="409651" cy="409651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1783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мин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реакцию по критической карточке, 15 мин — по высокой; дальше эскалация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406640" y="342900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7574" y="3589934"/>
            <a:ext cx="409651" cy="40965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321040" y="3429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ролей · зоны</a:t>
            </a:r>
            <a:endParaRPr lang="en-US" sz="2600" dirty="0"/>
          </a:p>
        </p:txBody>
      </p:sp>
      <p:sp>
        <p:nvSpPr>
          <p:cNvPr id="23" name="Text 19"/>
          <p:cNvSpPr txBox="1"/>
          <p:nvPr/>
        </p:nvSpPr>
        <p:spPr>
          <a:xfrm>
            <a:off x="8321040" y="3977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только своё поддерево объектов; вход через LDAP/AD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406640" y="5029200"/>
            <a:ext cx="731520" cy="73152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574" y="5190134"/>
            <a:ext cx="409651" cy="409651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2104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Закрепление</a:t>
            </a:r>
            <a:endParaRPr lang="en-US" sz="26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5577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взявший карточку работает с ней один; видно, кто её уже смотрел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коллекторов по пикетам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 у заказчика нет — трассы строятся по пикетам каналов (GeoJSON / WKT)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sch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5496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участка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756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максимальный риск каналов участка по любой задаче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2461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не в норме и молчащие каналы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325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Треугольники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4165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карточки; пунктир — прогнозные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02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Щелчок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58698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подробности участка: каналы, Data Health, риск по задачам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диспетчеров учат модель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произошло» становится меткой; аналитик видит каждую и может её отменить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le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1764792"/>
            <a:ext cx="201168" cy="201168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Неисправность датчика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0756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подтверждает отказ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35224"/>
            <a:ext cx="201168" cy="201168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2862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Потеря связи, обесточивание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246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«неисправен» — не отказ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4105656"/>
            <a:ext cx="201168" cy="201168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40325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на объекте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165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исключить из обучения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276088"/>
            <a:ext cx="201168" cy="201168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202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предотвращён по прогнозу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5869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считается ошибкой модели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версия заменяет модель, только если лучше на той же валидации.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прогноза к работам: рекомендации и заявки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 → черновик → утверждение → система учёта заявок → бригада → отчёт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47672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47672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46704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6704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Утверждена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45736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45736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44768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44768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43800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42832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42832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341864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341864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6517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системе прогнозирования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26517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системе учёта заявок заказчика (статусы — только чтение)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3611880"/>
            <a:ext cx="640080" cy="64008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3752698"/>
            <a:ext cx="358445" cy="35844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2296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4937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 по ТО: прогнозы, Data Health, просрочки ТО по реестру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4297680" y="338328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0" y="361188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3752698"/>
            <a:ext cx="358445" cy="358445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457200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минута</a:t>
            </a:r>
            <a:endParaRPr lang="en-US" sz="2600" dirty="0"/>
          </a:p>
        </p:txBody>
      </p:sp>
      <p:sp>
        <p:nvSpPr>
          <p:cNvPr id="31" name="Text 27"/>
          <p:cNvSpPr txBox="1"/>
          <p:nvPr/>
        </p:nvSpPr>
        <p:spPr>
          <a:xfrm>
            <a:off x="4572000" y="4937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статусов, бригады и отчёта исполнителя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8046720" y="338328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21040" y="361188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3752698"/>
            <a:ext cx="358445" cy="358445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832104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Хронология</a:t>
            </a:r>
            <a:endParaRPr lang="en-US" sz="2600" dirty="0"/>
          </a:p>
        </p:txBody>
      </p:sp>
      <p:sp>
        <p:nvSpPr>
          <p:cNvPr id="36" name="Text 31"/>
          <p:cNvSpPr txBox="1"/>
          <p:nvPr/>
        </p:nvSpPr>
        <p:spPr>
          <a:xfrm>
            <a:off x="8321040" y="4937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передача, начало работ и итог — в карточке инцидента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для руководства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смен, качество прогнозов, отчёты PDF и XLSX, дашборд Grafana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549640" y="1691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 мин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240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просмотра карточки (медиана)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62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мин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4107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решения (медиана)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325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581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эскалаций по таймауту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029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XLSX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7515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 период и журналы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5897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— по эмуляции смен на реальных эпизодах июня 2026: она помечена и в обучение не попадает.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модульный монолит, одна команда запуска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19 сервисов, без внешних платных зависимостей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СМВУ → Kafka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 журналов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LDAP / 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учёта заявок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72968" y="3794760"/>
            <a:ext cx="182880" cy="0"/>
          </a:xfrm>
          <a:prstGeom prst="line">
            <a:avLst/>
          </a:prstGeom>
          <a:noFill/>
          <a:ln w="25400">
            <a:solidFill>
              <a:srgbClr val="5B6B7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(Django + DRF)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и хранение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Эпизоды, гипотезы, приоритет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LightGBM и индикаторы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Роли, зоны, эскалация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аналитика, аудит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07608" y="3794760"/>
            <a:ext cx="182880" cy="0"/>
          </a:xfrm>
          <a:prstGeom prst="line">
            <a:avLst/>
          </a:prstGeom>
          <a:noFill/>
          <a:ln w="25400">
            <a:solidFill>
              <a:srgbClr val="5B6B7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1792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TimescaleDB: оперативный контур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Parquet: архив журналов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Суточные витрины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задачи и кеш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42248" y="3794760"/>
            <a:ext cx="182880" cy="0"/>
          </a:xfrm>
          <a:prstGeom prst="line">
            <a:avLst/>
          </a:prstGeom>
          <a:noFill/>
          <a:ln w="25400">
            <a:solidFill>
              <a:srgbClr val="5B6B7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5256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+ WebSocket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API: JSON, XML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Админка Django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Grafana, Prometheus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Django 5.2 · Celery · Kafka 3.9 · PostgreSQL 16 + TimescaleDB · LightGBM · Polars · React 19 · TypeScript · Mantine · Caddy (TLS)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Нефункциональные требования — с замерами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1918411"/>
            <a:ext cx="460858" cy="46085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 с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по всем объектам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(ТЗ: ≤ 300 с на объект)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331" y="1918411"/>
            <a:ext cx="460858" cy="4608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мс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медиана ответа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 пользователях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971" y="1918411"/>
            <a:ext cx="460858" cy="46085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с</a:t>
            </a:r>
            <a:endParaRPr lang="en-US" sz="44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БД из копии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(ТЗ: ≤ 4 часов)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822960" cy="82296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3611" y="1918411"/>
            <a:ext cx="460858" cy="46085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· LDAP · RBAC</a:t>
            </a:r>
            <a:endParaRPr lang="en-US" sz="26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 и просмотров,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149-ФЗ и 152-ФЗ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C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автотестов · ruff и oxlint · перечень библиотек с лицензиями · открытый исходный код без обфускации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демо-сценария на настоящих эпизодах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 из архива подаётся в систему как живой поток — всё остальное работает как в эксплуатации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" y="219273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тревог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«Кси», 24.06.2026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переходов в «не определено» → одна карточка «потеря связи» с гипотезой и чек-листом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demo_scenario alarms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201168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051" y="2192731"/>
            <a:ext cx="460858" cy="46085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Пожарный риск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«Кси ПК202–ПК302», 29.06.2026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9319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Дымовые извещатели подтверждают друг друга → критическая карточка, приоритет 100, эскалация через 5 мин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demo_scenario fire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46720" y="178308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21040" y="2011680"/>
            <a:ext cx="822960" cy="82296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192731"/>
            <a:ext cx="460858" cy="46085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датчика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«ДУ объект Альфа», 01–02.06.2026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9319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Критический прогноз 72 % → через 21 час канал отказал → решение → метка → заявка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demo_scenario sensor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об ограничениях — и что дальше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Метка отказа — неисправность в журнале СМВУ: журналов ремонтов нет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Пожар и НСД — индикаторы: подтверждённых событий в данных нет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Погода для подтопления дала прирост в пределах шума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Системы заказчика (help desk, AD, реестр) в стенде эмулированы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 после сдачи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0178" y="22439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132320" y="221284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обучения по ролям на учебном полигоне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310896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178" y="32497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32186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исторических показаний за период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309360" y="411480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425561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32320" y="42245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Учения: настраиваемые сценарии для всей цепочки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309360" y="512064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178" y="5261458"/>
            <a:ext cx="358445" cy="35844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2320" y="52303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и метрики сотрудников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309360" y="6126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уже готов: роли, журнал действий, разбор эпизодов, отдельный контур данных.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914400" cy="91440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115568"/>
            <a:ext cx="512064" cy="5120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проверке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20040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 — открытый, с автотестами и инструкцией по сборке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— разворачивается одной командой docker compose up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Сопроводительная документация — DOCX и PDF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демо-сценария на данных заказчика — по одной команде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прогнозирования инцидентов инженерных коллекторов · АО «Москоллектор»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 инцидентов инженерных коллекторов</dc:title>
  <dc:subject>PptxGenJS Presentation</dc:subject>
  <dc:creator>PptxGenJS</dc:creator>
  <cp:lastModifiedBy>PptxGenJS</cp:lastModifiedBy>
  <cp:revision>1</cp:revision>
  <dcterms:created xsi:type="dcterms:W3CDTF">2026-09-25T11:20:39Z</dcterms:created>
  <dcterms:modified xsi:type="dcterms:W3CDTF">2026-09-25T11:20:39Z</dcterms:modified>
</cp:coreProperties>
</file>